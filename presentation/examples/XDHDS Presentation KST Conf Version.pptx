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Aileron" pitchFamily="2" charset="77"/>
      <p:regular r:id="rId26"/>
    </p:embeddedFont>
    <p:embeddedFont>
      <p:font typeface="Aileron Bold" pitchFamily="2" charset="77"/>
      <p:regular r:id="rId27"/>
      <p:bold r:id="rId28"/>
    </p:embeddedFont>
    <p:embeddedFont>
      <p:font typeface="Aileron Ultra-Bold" pitchFamily="2" charset="77"/>
      <p:regular r:id="rId29"/>
      <p:bold r:id="rId30"/>
    </p:embeddedFont>
    <p:embeddedFont>
      <p:font typeface="Chonburi" pitchFamily="2" charset="-34"/>
      <p:regular r:id="rId31"/>
    </p:embeddedFont>
    <p:embeddedFont>
      <p:font typeface="Noto Serif" panose="02020600060500020200" pitchFamily="18" charset="0"/>
      <p:regular r:id="rId32"/>
      <p:bold r:id="rId33"/>
      <p:italic r:id="rId34"/>
      <p:boldItalic r:id="rId35"/>
    </p:embeddedFont>
    <p:embeddedFont>
      <p:font typeface="Public Sans" pitchFamily="2" charset="77"/>
      <p:regular r:id="rId36"/>
    </p:embeddedFont>
    <p:embeddedFont>
      <p:font typeface="Public Sans Bold" pitchFamily="2" charset="77"/>
      <p:regular r:id="rId37"/>
    </p:embeddedFont>
    <p:embeddedFont>
      <p:font typeface="Raleway Bold" pitchFamily="2" charset="77"/>
      <p:regular r:id="rId38"/>
      <p:bold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 autoAdjust="0"/>
    <p:restoredTop sz="94599" autoAdjust="0"/>
  </p:normalViewPr>
  <p:slideViewPr>
    <p:cSldViewPr>
      <p:cViewPr varScale="1">
        <p:scale>
          <a:sx n="75" d="100"/>
          <a:sy n="75" d="100"/>
        </p:scale>
        <p:origin x="624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5B50F-0C8A-394E-BB2B-A8DBC266490C}" type="datetimeFigureOut">
              <a:rPr lang="en-TH" smtClean="0"/>
              <a:t>3/9/2025 R</a:t>
            </a:fld>
            <a:endParaRPr lang="en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CD363-B8B4-8041-B9B4-66688AF71B75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04552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DCD363-B8B4-8041-B9B4-66688AF71B75}" type="slidenum">
              <a:rPr lang="en-TH" smtClean="0"/>
              <a:t>21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971058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2.png"/><Relationship Id="rId7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11.png"/><Relationship Id="rId7" Type="http://schemas.openxmlformats.org/officeDocument/2006/relationships/image" Target="../media/image13.jpeg"/><Relationship Id="rId12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11" Type="http://schemas.openxmlformats.org/officeDocument/2006/relationships/image" Target="../media/image17.svg"/><Relationship Id="rId5" Type="http://schemas.openxmlformats.org/officeDocument/2006/relationships/image" Target="../media/image2.pn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2.sv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eg"/><Relationship Id="rId4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sv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" Type="http://schemas.openxmlformats.org/officeDocument/2006/relationships/image" Target="../media/image11.png"/><Relationship Id="rId21" Type="http://schemas.openxmlformats.org/officeDocument/2006/relationships/image" Target="../media/image53.svg"/><Relationship Id="rId7" Type="http://schemas.openxmlformats.org/officeDocument/2006/relationships/image" Target="../media/image39.svg"/><Relationship Id="rId12" Type="http://schemas.openxmlformats.org/officeDocument/2006/relationships/image" Target="../media/image44.png"/><Relationship Id="rId17" Type="http://schemas.openxmlformats.org/officeDocument/2006/relationships/image" Target="../media/image49.svg"/><Relationship Id="rId25" Type="http://schemas.openxmlformats.org/officeDocument/2006/relationships/image" Target="../media/image57.svg"/><Relationship Id="rId2" Type="http://schemas.openxmlformats.org/officeDocument/2006/relationships/image" Target="../media/image1.jpeg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24" Type="http://schemas.openxmlformats.org/officeDocument/2006/relationships/image" Target="../media/image56.png"/><Relationship Id="rId5" Type="http://schemas.openxmlformats.org/officeDocument/2006/relationships/image" Target="../media/image31.png"/><Relationship Id="rId15" Type="http://schemas.openxmlformats.org/officeDocument/2006/relationships/image" Target="../media/image47.svg"/><Relationship Id="rId23" Type="http://schemas.openxmlformats.org/officeDocument/2006/relationships/image" Target="../media/image55.svg"/><Relationship Id="rId10" Type="http://schemas.openxmlformats.org/officeDocument/2006/relationships/image" Target="../media/image42.png"/><Relationship Id="rId19" Type="http://schemas.openxmlformats.org/officeDocument/2006/relationships/image" Target="../media/image51.svg"/><Relationship Id="rId4" Type="http://schemas.openxmlformats.org/officeDocument/2006/relationships/image" Target="../media/image12.svg"/><Relationship Id="rId9" Type="http://schemas.openxmlformats.org/officeDocument/2006/relationships/image" Target="../media/image41.svg"/><Relationship Id="rId14" Type="http://schemas.openxmlformats.org/officeDocument/2006/relationships/image" Target="../media/image46.png"/><Relationship Id="rId22" Type="http://schemas.openxmlformats.org/officeDocument/2006/relationships/image" Target="../media/image54.png"/><Relationship Id="rId27" Type="http://schemas.openxmlformats.org/officeDocument/2006/relationships/image" Target="../media/image5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sv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" Type="http://schemas.openxmlformats.org/officeDocument/2006/relationships/image" Target="../media/image11.png"/><Relationship Id="rId21" Type="http://schemas.openxmlformats.org/officeDocument/2006/relationships/image" Target="../media/image53.svg"/><Relationship Id="rId7" Type="http://schemas.openxmlformats.org/officeDocument/2006/relationships/image" Target="../media/image39.svg"/><Relationship Id="rId12" Type="http://schemas.openxmlformats.org/officeDocument/2006/relationships/image" Target="../media/image44.png"/><Relationship Id="rId17" Type="http://schemas.openxmlformats.org/officeDocument/2006/relationships/image" Target="../media/image49.svg"/><Relationship Id="rId25" Type="http://schemas.openxmlformats.org/officeDocument/2006/relationships/image" Target="../media/image57.svg"/><Relationship Id="rId2" Type="http://schemas.openxmlformats.org/officeDocument/2006/relationships/image" Target="../media/image60.png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24" Type="http://schemas.openxmlformats.org/officeDocument/2006/relationships/image" Target="../media/image56.png"/><Relationship Id="rId5" Type="http://schemas.openxmlformats.org/officeDocument/2006/relationships/image" Target="../media/image33.png"/><Relationship Id="rId15" Type="http://schemas.openxmlformats.org/officeDocument/2006/relationships/image" Target="../media/image47.svg"/><Relationship Id="rId23" Type="http://schemas.openxmlformats.org/officeDocument/2006/relationships/image" Target="../media/image55.svg"/><Relationship Id="rId10" Type="http://schemas.openxmlformats.org/officeDocument/2006/relationships/image" Target="../media/image42.png"/><Relationship Id="rId19" Type="http://schemas.openxmlformats.org/officeDocument/2006/relationships/image" Target="../media/image51.svg"/><Relationship Id="rId4" Type="http://schemas.openxmlformats.org/officeDocument/2006/relationships/image" Target="../media/image12.svg"/><Relationship Id="rId9" Type="http://schemas.openxmlformats.org/officeDocument/2006/relationships/image" Target="../media/image41.svg"/><Relationship Id="rId14" Type="http://schemas.openxmlformats.org/officeDocument/2006/relationships/image" Target="../media/image46.png"/><Relationship Id="rId22" Type="http://schemas.openxmlformats.org/officeDocument/2006/relationships/image" Target="../media/image54.png"/><Relationship Id="rId27" Type="http://schemas.openxmlformats.org/officeDocument/2006/relationships/image" Target="../media/image5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2.svg"/><Relationship Id="rId18" Type="http://schemas.openxmlformats.org/officeDocument/2006/relationships/image" Target="../media/image63.png"/><Relationship Id="rId3" Type="http://schemas.openxmlformats.org/officeDocument/2006/relationships/image" Target="../media/image11.png"/><Relationship Id="rId7" Type="http://schemas.openxmlformats.org/officeDocument/2006/relationships/image" Target="../media/image53.svg"/><Relationship Id="rId12" Type="http://schemas.openxmlformats.org/officeDocument/2006/relationships/image" Target="../media/image61.png"/><Relationship Id="rId17" Type="http://schemas.openxmlformats.org/officeDocument/2006/relationships/image" Target="../media/image43.svg"/><Relationship Id="rId2" Type="http://schemas.openxmlformats.org/officeDocument/2006/relationships/image" Target="../media/image1.jpe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45.svg"/><Relationship Id="rId5" Type="http://schemas.openxmlformats.org/officeDocument/2006/relationships/image" Target="../media/image36.png"/><Relationship Id="rId15" Type="http://schemas.openxmlformats.org/officeDocument/2006/relationships/image" Target="../media/image49.svg"/><Relationship Id="rId10" Type="http://schemas.openxmlformats.org/officeDocument/2006/relationships/image" Target="../media/image44.png"/><Relationship Id="rId19" Type="http://schemas.openxmlformats.org/officeDocument/2006/relationships/image" Target="../media/image64.svg"/><Relationship Id="rId4" Type="http://schemas.openxmlformats.org/officeDocument/2006/relationships/image" Target="../media/image12.svg"/><Relationship Id="rId9" Type="http://schemas.openxmlformats.org/officeDocument/2006/relationships/image" Target="../media/image57.svg"/><Relationship Id="rId1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45.svg"/><Relationship Id="rId18" Type="http://schemas.openxmlformats.org/officeDocument/2006/relationships/image" Target="../media/image54.png"/><Relationship Id="rId3" Type="http://schemas.openxmlformats.org/officeDocument/2006/relationships/image" Target="../media/image11.png"/><Relationship Id="rId21" Type="http://schemas.openxmlformats.org/officeDocument/2006/relationships/image" Target="../media/image43.svg"/><Relationship Id="rId7" Type="http://schemas.openxmlformats.org/officeDocument/2006/relationships/image" Target="../media/image53.svg"/><Relationship Id="rId12" Type="http://schemas.openxmlformats.org/officeDocument/2006/relationships/image" Target="../media/image44.png"/><Relationship Id="rId17" Type="http://schemas.openxmlformats.org/officeDocument/2006/relationships/image" Target="../media/image49.svg"/><Relationship Id="rId2" Type="http://schemas.openxmlformats.org/officeDocument/2006/relationships/image" Target="../media/image1.jpeg"/><Relationship Id="rId16" Type="http://schemas.openxmlformats.org/officeDocument/2006/relationships/image" Target="../media/image4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1.svg"/><Relationship Id="rId5" Type="http://schemas.openxmlformats.org/officeDocument/2006/relationships/image" Target="../media/image33.png"/><Relationship Id="rId15" Type="http://schemas.openxmlformats.org/officeDocument/2006/relationships/image" Target="../media/image62.svg"/><Relationship Id="rId23" Type="http://schemas.openxmlformats.org/officeDocument/2006/relationships/image" Target="../media/image64.svg"/><Relationship Id="rId10" Type="http://schemas.openxmlformats.org/officeDocument/2006/relationships/image" Target="../media/image50.png"/><Relationship Id="rId19" Type="http://schemas.openxmlformats.org/officeDocument/2006/relationships/image" Target="../media/image55.svg"/><Relationship Id="rId4" Type="http://schemas.openxmlformats.org/officeDocument/2006/relationships/image" Target="../media/image12.svg"/><Relationship Id="rId9" Type="http://schemas.openxmlformats.org/officeDocument/2006/relationships/image" Target="../media/image57.svg"/><Relationship Id="rId14" Type="http://schemas.openxmlformats.org/officeDocument/2006/relationships/image" Target="../media/image61.png"/><Relationship Id="rId22" Type="http://schemas.openxmlformats.org/officeDocument/2006/relationships/image" Target="../media/image6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eg"/><Relationship Id="rId4" Type="http://schemas.openxmlformats.org/officeDocument/2006/relationships/image" Target="../media/image2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25.png"/><Relationship Id="rId7" Type="http://schemas.openxmlformats.org/officeDocument/2006/relationships/image" Target="../media/image6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2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svg"/><Relationship Id="rId4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80.svg"/><Relationship Id="rId3" Type="http://schemas.openxmlformats.org/officeDocument/2006/relationships/image" Target="../media/image11.png"/><Relationship Id="rId7" Type="http://schemas.openxmlformats.org/officeDocument/2006/relationships/image" Target="../media/image13.jpeg"/><Relationship Id="rId12" Type="http://schemas.openxmlformats.org/officeDocument/2006/relationships/image" Target="../media/image7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11" Type="http://schemas.openxmlformats.org/officeDocument/2006/relationships/image" Target="../media/image15.svg"/><Relationship Id="rId5" Type="http://schemas.openxmlformats.org/officeDocument/2006/relationships/image" Target="../media/image2.png"/><Relationship Id="rId15" Type="http://schemas.openxmlformats.org/officeDocument/2006/relationships/image" Target="../media/image82.svg"/><Relationship Id="rId10" Type="http://schemas.openxmlformats.org/officeDocument/2006/relationships/image" Target="../media/image14.png"/><Relationship Id="rId4" Type="http://schemas.openxmlformats.org/officeDocument/2006/relationships/image" Target="../media/image12.svg"/><Relationship Id="rId9" Type="http://schemas.openxmlformats.org/officeDocument/2006/relationships/image" Target="../media/image19.svg"/><Relationship Id="rId14" Type="http://schemas.openxmlformats.org/officeDocument/2006/relationships/image" Target="../media/image8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eg"/><Relationship Id="rId4" Type="http://schemas.openxmlformats.org/officeDocument/2006/relationships/image" Target="../media/image23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jpeg"/><Relationship Id="rId13" Type="http://schemas.openxmlformats.org/officeDocument/2006/relationships/image" Target="../media/image88.png"/><Relationship Id="rId18" Type="http://schemas.openxmlformats.org/officeDocument/2006/relationships/image" Target="../media/image93.svg"/><Relationship Id="rId3" Type="http://schemas.openxmlformats.org/officeDocument/2006/relationships/image" Target="../media/image1.jpeg"/><Relationship Id="rId7" Type="http://schemas.openxmlformats.org/officeDocument/2006/relationships/image" Target="../media/image84.svg"/><Relationship Id="rId12" Type="http://schemas.openxmlformats.org/officeDocument/2006/relationships/image" Target="../media/image87.svg"/><Relationship Id="rId17" Type="http://schemas.openxmlformats.org/officeDocument/2006/relationships/image" Target="../media/image9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1.svg"/><Relationship Id="rId20" Type="http://schemas.openxmlformats.org/officeDocument/2006/relationships/image" Target="../media/image9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image" Target="../media/image86.png"/><Relationship Id="rId5" Type="http://schemas.openxmlformats.org/officeDocument/2006/relationships/image" Target="../media/image9.svg"/><Relationship Id="rId15" Type="http://schemas.openxmlformats.org/officeDocument/2006/relationships/image" Target="../media/image90.png"/><Relationship Id="rId10" Type="http://schemas.openxmlformats.org/officeDocument/2006/relationships/image" Target="../media/image26.svg"/><Relationship Id="rId19" Type="http://schemas.openxmlformats.org/officeDocument/2006/relationships/image" Target="../media/image94.png"/><Relationship Id="rId4" Type="http://schemas.openxmlformats.org/officeDocument/2006/relationships/image" Target="../media/image8.png"/><Relationship Id="rId9" Type="http://schemas.openxmlformats.org/officeDocument/2006/relationships/image" Target="../media/image25.png"/><Relationship Id="rId14" Type="http://schemas.openxmlformats.org/officeDocument/2006/relationships/image" Target="../media/image8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777" r="-9579" b="-24805"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" name="Freeform 3"/>
          <p:cNvSpPr/>
          <p:nvPr/>
        </p:nvSpPr>
        <p:spPr>
          <a:xfrm rot="5400000">
            <a:off x="9527967" y="859028"/>
            <a:ext cx="8341089" cy="8587993"/>
          </a:xfrm>
          <a:custGeom>
            <a:avLst/>
            <a:gdLst/>
            <a:ahLst/>
            <a:cxnLst/>
            <a:rect l="l" t="t" r="r" b="b"/>
            <a:pathLst>
              <a:path w="8341089" h="8587993">
                <a:moveTo>
                  <a:pt x="0" y="0"/>
                </a:moveTo>
                <a:lnTo>
                  <a:pt x="8341088" y="0"/>
                </a:lnTo>
                <a:lnTo>
                  <a:pt x="8341088" y="8587994"/>
                </a:lnTo>
                <a:lnTo>
                  <a:pt x="0" y="85879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4" name="Group 4"/>
          <p:cNvGrpSpPr/>
          <p:nvPr/>
        </p:nvGrpSpPr>
        <p:grpSpPr>
          <a:xfrm>
            <a:off x="10607694" y="1999375"/>
            <a:ext cx="6346737" cy="634673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5046" r="-25046"/>
              </a:stretch>
            </a:blipFill>
          </p:spPr>
          <p:txBody>
            <a:bodyPr/>
            <a:lstStyle/>
            <a:p>
              <a:endParaRPr lang="en-TH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61849" y="9982387"/>
            <a:ext cx="18449849" cy="304613"/>
            <a:chOff x="0" y="0"/>
            <a:chExt cx="4859220" cy="802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59220" cy="80227"/>
            </a:xfrm>
            <a:custGeom>
              <a:avLst/>
              <a:gdLst/>
              <a:ahLst/>
              <a:cxnLst/>
              <a:rect l="l" t="t" r="r" b="b"/>
              <a:pathLst>
                <a:path w="4859220" h="80227">
                  <a:moveTo>
                    <a:pt x="0" y="0"/>
                  </a:moveTo>
                  <a:lnTo>
                    <a:pt x="4859220" y="0"/>
                  </a:lnTo>
                  <a:lnTo>
                    <a:pt x="4859220" y="80227"/>
                  </a:lnTo>
                  <a:lnTo>
                    <a:pt x="0" y="80227"/>
                  </a:lnTo>
                  <a:close/>
                </a:path>
              </a:pathLst>
            </a:custGeom>
            <a:solidFill>
              <a:srgbClr val="004CC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859220" cy="127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933450"/>
            <a:ext cx="470902" cy="556458"/>
          </a:xfrm>
          <a:custGeom>
            <a:avLst/>
            <a:gdLst/>
            <a:ahLst/>
            <a:cxnLst/>
            <a:rect l="l" t="t" r="r" b="b"/>
            <a:pathLst>
              <a:path w="470902" h="556458">
                <a:moveTo>
                  <a:pt x="0" y="0"/>
                </a:moveTo>
                <a:lnTo>
                  <a:pt x="470902" y="0"/>
                </a:lnTo>
                <a:lnTo>
                  <a:pt x="470902" y="556458"/>
                </a:lnTo>
                <a:lnTo>
                  <a:pt x="0" y="5564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10" name="Group 10"/>
          <p:cNvGrpSpPr/>
          <p:nvPr/>
        </p:nvGrpSpPr>
        <p:grpSpPr>
          <a:xfrm>
            <a:off x="1028700" y="6234177"/>
            <a:ext cx="1545532" cy="469810"/>
            <a:chOff x="0" y="0"/>
            <a:chExt cx="407054" cy="1237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7054" cy="123736"/>
            </a:xfrm>
            <a:custGeom>
              <a:avLst/>
              <a:gdLst/>
              <a:ahLst/>
              <a:cxnLst/>
              <a:rect l="l" t="t" r="r" b="b"/>
              <a:pathLst>
                <a:path w="407054" h="123736">
                  <a:moveTo>
                    <a:pt x="61868" y="0"/>
                  </a:moveTo>
                  <a:lnTo>
                    <a:pt x="345186" y="0"/>
                  </a:lnTo>
                  <a:cubicBezTo>
                    <a:pt x="379354" y="0"/>
                    <a:pt x="407054" y="27699"/>
                    <a:pt x="407054" y="61868"/>
                  </a:cubicBezTo>
                  <a:lnTo>
                    <a:pt x="407054" y="61868"/>
                  </a:lnTo>
                  <a:cubicBezTo>
                    <a:pt x="407054" y="78276"/>
                    <a:pt x="400535" y="94013"/>
                    <a:pt x="388933" y="105615"/>
                  </a:cubicBezTo>
                  <a:cubicBezTo>
                    <a:pt x="377330" y="117218"/>
                    <a:pt x="361594" y="123736"/>
                    <a:pt x="345186" y="123736"/>
                  </a:cubicBezTo>
                  <a:lnTo>
                    <a:pt x="61868" y="123736"/>
                  </a:lnTo>
                  <a:cubicBezTo>
                    <a:pt x="27699" y="123736"/>
                    <a:pt x="0" y="96037"/>
                    <a:pt x="0" y="61868"/>
                  </a:cubicBezTo>
                  <a:lnTo>
                    <a:pt x="0" y="61868"/>
                  </a:lnTo>
                  <a:cubicBezTo>
                    <a:pt x="0" y="27699"/>
                    <a:pt x="27699" y="0"/>
                    <a:pt x="61868" y="0"/>
                  </a:cubicBezTo>
                  <a:close/>
                </a:path>
              </a:pathLst>
            </a:custGeom>
            <a:solidFill>
              <a:srgbClr val="004CC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07054" cy="171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2928884"/>
            <a:ext cx="8266432" cy="1064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10"/>
              </a:lnSpc>
              <a:spcBef>
                <a:spcPct val="0"/>
              </a:spcBef>
            </a:pPr>
            <a:r>
              <a:rPr lang="en-US" sz="7651" b="1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XDHDS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3936127"/>
            <a:ext cx="8266432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 spc="419">
                <a:solidFill>
                  <a:srgbClr val="004CCF"/>
                </a:solidFill>
                <a:latin typeface="Aileron"/>
                <a:ea typeface="Aileron"/>
                <a:cs typeface="Aileron"/>
                <a:sym typeface="Aileron"/>
              </a:rPr>
              <a:t>Cross-Domain Healthcare Data Sharing Using Self-Soverign ID and Blockchain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05062" y="6296679"/>
            <a:ext cx="79280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 spc="215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FROM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08175" y="6296679"/>
            <a:ext cx="58293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15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SIIT, THAMMASAT UNIVERSITY, THAILAND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778985"/>
            <a:ext cx="5368318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 spc="352">
                <a:solidFill>
                  <a:srgbClr val="0E62F2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PRESENTATION: 28 FEB 2025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00150" y="975459"/>
            <a:ext cx="6044792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5A93F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KST - 2025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8457357"/>
            <a:ext cx="6422049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Author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8858677"/>
            <a:ext cx="6356003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Danupat, Krittin, Teerawat, Somchart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942" r="-19706" b="-41355"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3" name="Group 3"/>
          <p:cNvGrpSpPr/>
          <p:nvPr/>
        </p:nvGrpSpPr>
        <p:grpSpPr>
          <a:xfrm>
            <a:off x="11235853" y="8761730"/>
            <a:ext cx="4097355" cy="409735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65921" y="9111630"/>
            <a:ext cx="1008928" cy="100892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A93F6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82235" y="-1876733"/>
            <a:ext cx="10566978" cy="10263177"/>
            <a:chOff x="0" y="0"/>
            <a:chExt cx="14089304" cy="13684236"/>
          </a:xfrm>
        </p:grpSpPr>
        <p:sp>
          <p:nvSpPr>
            <p:cNvPr id="10" name="Freeform 10"/>
            <p:cNvSpPr/>
            <p:nvPr/>
          </p:nvSpPr>
          <p:spPr>
            <a:xfrm rot="5400000" flipH="1">
              <a:off x="202534" y="-202534"/>
              <a:ext cx="13684236" cy="14089304"/>
            </a:xfrm>
            <a:custGeom>
              <a:avLst/>
              <a:gdLst/>
              <a:ahLst/>
              <a:cxnLst/>
              <a:rect l="l" t="t" r="r" b="b"/>
              <a:pathLst>
                <a:path w="13684236" h="14089304">
                  <a:moveTo>
                    <a:pt x="13684236" y="0"/>
                  </a:moveTo>
                  <a:lnTo>
                    <a:pt x="0" y="0"/>
                  </a:lnTo>
                  <a:lnTo>
                    <a:pt x="0" y="14089304"/>
                  </a:lnTo>
                  <a:lnTo>
                    <a:pt x="13684236" y="14089304"/>
                  </a:lnTo>
                  <a:lnTo>
                    <a:pt x="13684236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882552" y="1516912"/>
              <a:ext cx="10595064" cy="10595064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28895" r="-28895"/>
                </a:stretch>
              </a:blipFill>
            </p:spPr>
            <p:txBody>
              <a:bodyPr/>
              <a:lstStyle/>
              <a:p>
                <a:endParaRPr lang="en-TH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2369515" y="13200898"/>
              <a:ext cx="470638" cy="470638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CCF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1047750" y="7632140"/>
            <a:ext cx="7953927" cy="1626160"/>
            <a:chOff x="0" y="0"/>
            <a:chExt cx="2378464" cy="486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78464" cy="486271"/>
            </a:xfrm>
            <a:custGeom>
              <a:avLst/>
              <a:gdLst/>
              <a:ahLst/>
              <a:cxnLst/>
              <a:rect l="l" t="t" r="r" b="b"/>
              <a:pathLst>
                <a:path w="2378464" h="486271">
                  <a:moveTo>
                    <a:pt x="38934" y="0"/>
                  </a:moveTo>
                  <a:lnTo>
                    <a:pt x="2339530" y="0"/>
                  </a:lnTo>
                  <a:cubicBezTo>
                    <a:pt x="2349856" y="0"/>
                    <a:pt x="2359759" y="4102"/>
                    <a:pt x="2367061" y="11403"/>
                  </a:cubicBezTo>
                  <a:cubicBezTo>
                    <a:pt x="2374362" y="18705"/>
                    <a:pt x="2378464" y="28608"/>
                    <a:pt x="2378464" y="38934"/>
                  </a:cubicBezTo>
                  <a:lnTo>
                    <a:pt x="2378464" y="447337"/>
                  </a:lnTo>
                  <a:cubicBezTo>
                    <a:pt x="2378464" y="457663"/>
                    <a:pt x="2374362" y="467566"/>
                    <a:pt x="2367061" y="474867"/>
                  </a:cubicBezTo>
                  <a:cubicBezTo>
                    <a:pt x="2359759" y="482169"/>
                    <a:pt x="2349856" y="486271"/>
                    <a:pt x="2339530" y="486271"/>
                  </a:cubicBezTo>
                  <a:lnTo>
                    <a:pt x="38934" y="486271"/>
                  </a:lnTo>
                  <a:cubicBezTo>
                    <a:pt x="28608" y="486271"/>
                    <a:pt x="18705" y="482169"/>
                    <a:pt x="11403" y="474867"/>
                  </a:cubicBezTo>
                  <a:cubicBezTo>
                    <a:pt x="4102" y="467566"/>
                    <a:pt x="0" y="457663"/>
                    <a:pt x="0" y="447337"/>
                  </a:cubicBezTo>
                  <a:lnTo>
                    <a:pt x="0" y="38934"/>
                  </a:lnTo>
                  <a:cubicBezTo>
                    <a:pt x="0" y="28608"/>
                    <a:pt x="4102" y="18705"/>
                    <a:pt x="11403" y="11403"/>
                  </a:cubicBezTo>
                  <a:cubicBezTo>
                    <a:pt x="18705" y="4102"/>
                    <a:pt x="28608" y="0"/>
                    <a:pt x="38934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378464" cy="533896"/>
            </a:xfrm>
            <a:prstGeom prst="rect">
              <a:avLst/>
            </a:prstGeom>
          </p:spPr>
          <p:txBody>
            <a:bodyPr lIns="39348" tIns="39348" rIns="39348" bIns="39348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394272" y="7974825"/>
            <a:ext cx="234969" cy="234969"/>
          </a:xfrm>
          <a:custGeom>
            <a:avLst/>
            <a:gdLst/>
            <a:ahLst/>
            <a:cxnLst/>
            <a:rect l="l" t="t" r="r" b="b"/>
            <a:pathLst>
              <a:path w="234969" h="234969">
                <a:moveTo>
                  <a:pt x="0" y="0"/>
                </a:moveTo>
                <a:lnTo>
                  <a:pt x="234970" y="0"/>
                </a:lnTo>
                <a:lnTo>
                  <a:pt x="234970" y="234969"/>
                </a:lnTo>
                <a:lnTo>
                  <a:pt x="0" y="2349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0" name="Freeform 20"/>
          <p:cNvSpPr/>
          <p:nvPr/>
        </p:nvSpPr>
        <p:spPr>
          <a:xfrm>
            <a:off x="1394272" y="8310378"/>
            <a:ext cx="234969" cy="234969"/>
          </a:xfrm>
          <a:custGeom>
            <a:avLst/>
            <a:gdLst/>
            <a:ahLst/>
            <a:cxnLst/>
            <a:rect l="l" t="t" r="r" b="b"/>
            <a:pathLst>
              <a:path w="234969" h="234969">
                <a:moveTo>
                  <a:pt x="0" y="0"/>
                </a:moveTo>
                <a:lnTo>
                  <a:pt x="234970" y="0"/>
                </a:lnTo>
                <a:lnTo>
                  <a:pt x="234970" y="234969"/>
                </a:lnTo>
                <a:lnTo>
                  <a:pt x="0" y="2349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1" name="TextBox 21"/>
          <p:cNvSpPr txBox="1"/>
          <p:nvPr/>
        </p:nvSpPr>
        <p:spPr>
          <a:xfrm>
            <a:off x="1707130" y="7909666"/>
            <a:ext cx="3572492" cy="327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71"/>
              </a:lnSpc>
            </a:pPr>
            <a:r>
              <a:rPr lang="en-US" sz="19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Problem Statement &amp; Objective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07130" y="8238750"/>
            <a:ext cx="2450868" cy="327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71"/>
              </a:lnSpc>
            </a:pPr>
            <a:r>
              <a:rPr lang="en-US" sz="19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Our Proposed System</a:t>
            </a:r>
          </a:p>
        </p:txBody>
      </p:sp>
      <p:sp>
        <p:nvSpPr>
          <p:cNvPr id="23" name="Freeform 23"/>
          <p:cNvSpPr/>
          <p:nvPr/>
        </p:nvSpPr>
        <p:spPr>
          <a:xfrm>
            <a:off x="1394272" y="8669198"/>
            <a:ext cx="234969" cy="234969"/>
          </a:xfrm>
          <a:custGeom>
            <a:avLst/>
            <a:gdLst/>
            <a:ahLst/>
            <a:cxnLst/>
            <a:rect l="l" t="t" r="r" b="b"/>
            <a:pathLst>
              <a:path w="234969" h="234969">
                <a:moveTo>
                  <a:pt x="0" y="0"/>
                </a:moveTo>
                <a:lnTo>
                  <a:pt x="234970" y="0"/>
                </a:lnTo>
                <a:lnTo>
                  <a:pt x="234970" y="234969"/>
                </a:lnTo>
                <a:lnTo>
                  <a:pt x="0" y="2349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4" name="TextBox 24"/>
          <p:cNvSpPr txBox="1"/>
          <p:nvPr/>
        </p:nvSpPr>
        <p:spPr>
          <a:xfrm>
            <a:off x="1707130" y="8604038"/>
            <a:ext cx="1845535" cy="327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71"/>
              </a:lnSpc>
            </a:pPr>
            <a:r>
              <a:rPr lang="en-US" sz="19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Methodology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22419" y="8119370"/>
            <a:ext cx="234969" cy="234969"/>
          </a:xfrm>
          <a:custGeom>
            <a:avLst/>
            <a:gdLst/>
            <a:ahLst/>
            <a:cxnLst/>
            <a:rect l="l" t="t" r="r" b="b"/>
            <a:pathLst>
              <a:path w="234969" h="234969">
                <a:moveTo>
                  <a:pt x="0" y="0"/>
                </a:moveTo>
                <a:lnTo>
                  <a:pt x="234969" y="0"/>
                </a:lnTo>
                <a:lnTo>
                  <a:pt x="234969" y="234969"/>
                </a:lnTo>
                <a:lnTo>
                  <a:pt x="0" y="2349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6" name="TextBox 26"/>
          <p:cNvSpPr txBox="1"/>
          <p:nvPr/>
        </p:nvSpPr>
        <p:spPr>
          <a:xfrm>
            <a:off x="6035276" y="8054210"/>
            <a:ext cx="2582537" cy="327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71"/>
              </a:lnSpc>
            </a:pPr>
            <a:r>
              <a:rPr lang="en-US" sz="19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Results and Evaluation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22419" y="8469046"/>
            <a:ext cx="234969" cy="234969"/>
          </a:xfrm>
          <a:custGeom>
            <a:avLst/>
            <a:gdLst/>
            <a:ahLst/>
            <a:cxnLst/>
            <a:rect l="l" t="t" r="r" b="b"/>
            <a:pathLst>
              <a:path w="234969" h="234969">
                <a:moveTo>
                  <a:pt x="0" y="0"/>
                </a:moveTo>
                <a:lnTo>
                  <a:pt x="234969" y="0"/>
                </a:lnTo>
                <a:lnTo>
                  <a:pt x="234969" y="234969"/>
                </a:lnTo>
                <a:lnTo>
                  <a:pt x="0" y="2349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8" name="TextBox 28"/>
          <p:cNvSpPr txBox="1"/>
          <p:nvPr/>
        </p:nvSpPr>
        <p:spPr>
          <a:xfrm>
            <a:off x="6035276" y="8403886"/>
            <a:ext cx="1283912" cy="327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71"/>
              </a:lnSpc>
            </a:pPr>
            <a:r>
              <a:rPr lang="en-US" sz="19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Conclusion</a:t>
            </a:r>
          </a:p>
        </p:txBody>
      </p:sp>
      <p:sp>
        <p:nvSpPr>
          <p:cNvPr id="29" name="Freeform 29"/>
          <p:cNvSpPr/>
          <p:nvPr/>
        </p:nvSpPr>
        <p:spPr>
          <a:xfrm>
            <a:off x="1046883" y="2400418"/>
            <a:ext cx="8634200" cy="3419431"/>
          </a:xfrm>
          <a:custGeom>
            <a:avLst/>
            <a:gdLst/>
            <a:ahLst/>
            <a:cxnLst/>
            <a:rect l="l" t="t" r="r" b="b"/>
            <a:pathLst>
              <a:path w="8634200" h="3419431">
                <a:moveTo>
                  <a:pt x="0" y="0"/>
                </a:moveTo>
                <a:lnTo>
                  <a:pt x="8634200" y="0"/>
                </a:lnTo>
                <a:lnTo>
                  <a:pt x="8634200" y="3419431"/>
                </a:lnTo>
                <a:lnTo>
                  <a:pt x="0" y="3419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745" b="-55963"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0" name="TextBox 30"/>
          <p:cNvSpPr txBox="1"/>
          <p:nvPr/>
        </p:nvSpPr>
        <p:spPr>
          <a:xfrm>
            <a:off x="1028700" y="1114425"/>
            <a:ext cx="8652383" cy="885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83"/>
              </a:lnSpc>
              <a:spcBef>
                <a:spcPct val="0"/>
              </a:spcBef>
            </a:pPr>
            <a:r>
              <a:rPr lang="en-US" sz="6399" b="1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Introduction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5998740"/>
            <a:ext cx="8652383" cy="81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6"/>
              </a:lnSpc>
            </a:pPr>
            <a:r>
              <a:rPr lang="en-US" sz="230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Efficient Electronic Health Records (EHRs) exchange is</a:t>
            </a:r>
            <a:r>
              <a:rPr lang="en-US" sz="2304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230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crucial for </a:t>
            </a:r>
            <a:r>
              <a:rPr lang="en-US" sz="2304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comprehensive patient care and medical research.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700" y="7057630"/>
            <a:ext cx="865238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b="1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This presentation will cover: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7620831" y="9568468"/>
            <a:ext cx="504464" cy="504464"/>
            <a:chOff x="0" y="0"/>
            <a:chExt cx="672618" cy="672618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672618" cy="672618"/>
              <a:chOff x="0" y="0"/>
              <a:chExt cx="174157" cy="174157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4157" cy="174157"/>
              </a:xfrm>
              <a:custGeom>
                <a:avLst/>
                <a:gdLst/>
                <a:ahLst/>
                <a:cxnLst/>
                <a:rect l="l" t="t" r="r" b="b"/>
                <a:pathLst>
                  <a:path w="174157" h="174157">
                    <a:moveTo>
                      <a:pt x="87079" y="0"/>
                    </a:moveTo>
                    <a:lnTo>
                      <a:pt x="87079" y="0"/>
                    </a:lnTo>
                    <a:cubicBezTo>
                      <a:pt x="135171" y="0"/>
                      <a:pt x="174157" y="38986"/>
                      <a:pt x="174157" y="87079"/>
                    </a:cubicBezTo>
                    <a:lnTo>
                      <a:pt x="174157" y="87079"/>
                    </a:lnTo>
                    <a:cubicBezTo>
                      <a:pt x="174157" y="135171"/>
                      <a:pt x="135171" y="174157"/>
                      <a:pt x="87079" y="174157"/>
                    </a:cubicBezTo>
                    <a:lnTo>
                      <a:pt x="87079" y="174157"/>
                    </a:lnTo>
                    <a:cubicBezTo>
                      <a:pt x="38986" y="174157"/>
                      <a:pt x="0" y="135171"/>
                      <a:pt x="0" y="87079"/>
                    </a:cubicBezTo>
                    <a:lnTo>
                      <a:pt x="0" y="87079"/>
                    </a:lnTo>
                    <a:cubicBezTo>
                      <a:pt x="0" y="38986"/>
                      <a:pt x="38986" y="0"/>
                      <a:pt x="87079" y="0"/>
                    </a:cubicBezTo>
                    <a:close/>
                  </a:path>
                </a:pathLst>
              </a:custGeom>
              <a:solidFill>
                <a:srgbClr val="6BBEF4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57150"/>
                <a:ext cx="174157" cy="231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46424" y="72949"/>
              <a:ext cx="579770" cy="47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r>
                <a:rPr lang="en-US" sz="2136" b="1">
                  <a:solidFill>
                    <a:srgbClr val="FCFFFE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719199">
            <a:off x="308394" y="-5344957"/>
            <a:ext cx="17671212" cy="20976915"/>
          </a:xfrm>
          <a:custGeom>
            <a:avLst/>
            <a:gdLst/>
            <a:ahLst/>
            <a:cxnLst/>
            <a:rect l="l" t="t" r="r" b="b"/>
            <a:pathLst>
              <a:path w="17671212" h="20976915">
                <a:moveTo>
                  <a:pt x="9081757" y="0"/>
                </a:moveTo>
                <a:lnTo>
                  <a:pt x="17671212" y="16145346"/>
                </a:lnTo>
                <a:lnTo>
                  <a:pt x="8589455" y="20976914"/>
                </a:lnTo>
                <a:lnTo>
                  <a:pt x="0" y="4831568"/>
                </a:lnTo>
                <a:lnTo>
                  <a:pt x="9081757" y="0"/>
                </a:lnTo>
                <a:close/>
              </a:path>
            </a:pathLst>
          </a:custGeom>
          <a:blipFill>
            <a:blip r:embed="rId2"/>
            <a:stretch>
              <a:fillRect l="-39636" t="-53" r="-46778" b="-10854"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" name="Freeform 3"/>
          <p:cNvSpPr/>
          <p:nvPr/>
        </p:nvSpPr>
        <p:spPr>
          <a:xfrm flipH="1">
            <a:off x="15679753" y="3789986"/>
            <a:ext cx="10950316" cy="10936628"/>
          </a:xfrm>
          <a:custGeom>
            <a:avLst/>
            <a:gdLst/>
            <a:ahLst/>
            <a:cxnLst/>
            <a:rect l="l" t="t" r="r" b="b"/>
            <a:pathLst>
              <a:path w="10950316" h="10936628">
                <a:moveTo>
                  <a:pt x="10950316" y="0"/>
                </a:moveTo>
                <a:lnTo>
                  <a:pt x="0" y="0"/>
                </a:lnTo>
                <a:lnTo>
                  <a:pt x="0" y="10936628"/>
                </a:lnTo>
                <a:lnTo>
                  <a:pt x="10950316" y="10936628"/>
                </a:lnTo>
                <a:lnTo>
                  <a:pt x="1095031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sp>
        <p:nvSpPr>
          <p:cNvPr id="4" name="Freeform 4"/>
          <p:cNvSpPr/>
          <p:nvPr/>
        </p:nvSpPr>
        <p:spPr>
          <a:xfrm>
            <a:off x="12650651" y="-1368364"/>
            <a:ext cx="9217297" cy="9490139"/>
          </a:xfrm>
          <a:custGeom>
            <a:avLst/>
            <a:gdLst/>
            <a:ahLst/>
            <a:cxnLst/>
            <a:rect l="l" t="t" r="r" b="b"/>
            <a:pathLst>
              <a:path w="9217297" h="9490139">
                <a:moveTo>
                  <a:pt x="0" y="0"/>
                </a:moveTo>
                <a:lnTo>
                  <a:pt x="9217298" y="0"/>
                </a:lnTo>
                <a:lnTo>
                  <a:pt x="9217298" y="9490139"/>
                </a:lnTo>
                <a:lnTo>
                  <a:pt x="0" y="94901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grpSp>
        <p:nvGrpSpPr>
          <p:cNvPr id="5" name="Group 5"/>
          <p:cNvGrpSpPr/>
          <p:nvPr/>
        </p:nvGrpSpPr>
        <p:grpSpPr>
          <a:xfrm>
            <a:off x="13805736" y="264877"/>
            <a:ext cx="7040017" cy="704001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14931" r="-34880"/>
              </a:stretch>
            </a:blipFill>
          </p:spPr>
          <p:txBody>
            <a:bodyPr/>
            <a:lstStyle/>
            <a:p>
              <a:endParaRPr lang="en-TH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7999" y="4078261"/>
            <a:ext cx="8084297" cy="4953643"/>
            <a:chOff x="0" y="0"/>
            <a:chExt cx="2990944" cy="18326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90944" cy="1832697"/>
            </a:xfrm>
            <a:custGeom>
              <a:avLst/>
              <a:gdLst/>
              <a:ahLst/>
              <a:cxnLst/>
              <a:rect l="l" t="t" r="r" b="b"/>
              <a:pathLst>
                <a:path w="2990944" h="1832697">
                  <a:moveTo>
                    <a:pt x="38306" y="0"/>
                  </a:moveTo>
                  <a:lnTo>
                    <a:pt x="2952638" y="0"/>
                  </a:lnTo>
                  <a:cubicBezTo>
                    <a:pt x="2973794" y="0"/>
                    <a:pt x="2990944" y="17150"/>
                    <a:pt x="2990944" y="38306"/>
                  </a:cubicBezTo>
                  <a:lnTo>
                    <a:pt x="2990944" y="1794391"/>
                  </a:lnTo>
                  <a:cubicBezTo>
                    <a:pt x="2990944" y="1804551"/>
                    <a:pt x="2986908" y="1814294"/>
                    <a:pt x="2979725" y="1821478"/>
                  </a:cubicBezTo>
                  <a:cubicBezTo>
                    <a:pt x="2972541" y="1828662"/>
                    <a:pt x="2962798" y="1832697"/>
                    <a:pt x="2952638" y="1832697"/>
                  </a:cubicBezTo>
                  <a:lnTo>
                    <a:pt x="38306" y="1832697"/>
                  </a:lnTo>
                  <a:cubicBezTo>
                    <a:pt x="17150" y="1832697"/>
                    <a:pt x="0" y="1815547"/>
                    <a:pt x="0" y="1794391"/>
                  </a:cubicBezTo>
                  <a:lnTo>
                    <a:pt x="0" y="38306"/>
                  </a:lnTo>
                  <a:cubicBezTo>
                    <a:pt x="0" y="28147"/>
                    <a:pt x="4036" y="18403"/>
                    <a:pt x="11220" y="11220"/>
                  </a:cubicBezTo>
                  <a:cubicBezTo>
                    <a:pt x="18403" y="4036"/>
                    <a:pt x="28147" y="0"/>
                    <a:pt x="38306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990944" cy="1880322"/>
            </a:xfrm>
            <a:prstGeom prst="rect">
              <a:avLst/>
            </a:prstGeom>
          </p:spPr>
          <p:txBody>
            <a:bodyPr lIns="35098" tIns="35098" rIns="35098" bIns="35098" rtlCol="0" anchor="ctr"/>
            <a:lstStyle/>
            <a:p>
              <a:pPr algn="ctr">
                <a:lnSpc>
                  <a:spcPts val="3257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08293" y="4078261"/>
            <a:ext cx="3422553" cy="4914117"/>
            <a:chOff x="0" y="0"/>
            <a:chExt cx="1266241" cy="18180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66241" cy="1818074"/>
            </a:xfrm>
            <a:custGeom>
              <a:avLst/>
              <a:gdLst/>
              <a:ahLst/>
              <a:cxnLst/>
              <a:rect l="l" t="t" r="r" b="b"/>
              <a:pathLst>
                <a:path w="1266241" h="1818074">
                  <a:moveTo>
                    <a:pt x="90481" y="0"/>
                  </a:moveTo>
                  <a:lnTo>
                    <a:pt x="1175759" y="0"/>
                  </a:lnTo>
                  <a:cubicBezTo>
                    <a:pt x="1225731" y="0"/>
                    <a:pt x="1266241" y="40510"/>
                    <a:pt x="1266241" y="90481"/>
                  </a:cubicBezTo>
                  <a:lnTo>
                    <a:pt x="1266241" y="1727592"/>
                  </a:lnTo>
                  <a:cubicBezTo>
                    <a:pt x="1266241" y="1751590"/>
                    <a:pt x="1256708" y="1774604"/>
                    <a:pt x="1239739" y="1791572"/>
                  </a:cubicBezTo>
                  <a:cubicBezTo>
                    <a:pt x="1222771" y="1808541"/>
                    <a:pt x="1199756" y="1818074"/>
                    <a:pt x="1175759" y="1818074"/>
                  </a:cubicBezTo>
                  <a:lnTo>
                    <a:pt x="90481" y="1818074"/>
                  </a:lnTo>
                  <a:cubicBezTo>
                    <a:pt x="66484" y="1818074"/>
                    <a:pt x="43470" y="1808541"/>
                    <a:pt x="26501" y="1791572"/>
                  </a:cubicBezTo>
                  <a:cubicBezTo>
                    <a:pt x="9533" y="1774604"/>
                    <a:pt x="0" y="1751590"/>
                    <a:pt x="0" y="1727592"/>
                  </a:cubicBezTo>
                  <a:lnTo>
                    <a:pt x="0" y="90481"/>
                  </a:lnTo>
                  <a:cubicBezTo>
                    <a:pt x="0" y="66484"/>
                    <a:pt x="9533" y="43470"/>
                    <a:pt x="26501" y="26501"/>
                  </a:cubicBezTo>
                  <a:cubicBezTo>
                    <a:pt x="43470" y="9533"/>
                    <a:pt x="66484" y="0"/>
                    <a:pt x="90481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66241" cy="1865699"/>
            </a:xfrm>
            <a:prstGeom prst="rect">
              <a:avLst/>
            </a:prstGeom>
          </p:spPr>
          <p:txBody>
            <a:bodyPr lIns="35098" tIns="35098" rIns="35098" bIns="35098" rtlCol="0" anchor="ctr"/>
            <a:lstStyle/>
            <a:p>
              <a:pPr algn="ctr">
                <a:lnSpc>
                  <a:spcPts val="3257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839078" y="7710847"/>
            <a:ext cx="988699" cy="821856"/>
          </a:xfrm>
          <a:custGeom>
            <a:avLst/>
            <a:gdLst/>
            <a:ahLst/>
            <a:cxnLst/>
            <a:rect l="l" t="t" r="r" b="b"/>
            <a:pathLst>
              <a:path w="988699" h="821856">
                <a:moveTo>
                  <a:pt x="0" y="0"/>
                </a:moveTo>
                <a:lnTo>
                  <a:pt x="988700" y="0"/>
                </a:lnTo>
                <a:lnTo>
                  <a:pt x="988700" y="821856"/>
                </a:lnTo>
                <a:lnTo>
                  <a:pt x="0" y="8218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Box 14"/>
          <p:cNvSpPr txBox="1"/>
          <p:nvPr/>
        </p:nvSpPr>
        <p:spPr>
          <a:xfrm>
            <a:off x="3376698" y="4376684"/>
            <a:ext cx="5330054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b="1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Blockchain Technology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76698" y="4793548"/>
            <a:ext cx="6005598" cy="712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To ensure data integrity and preserving privacy using</a:t>
            </a:r>
            <a:r>
              <a:rPr lang="en-US" sz="2100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Self-Sovereign Identity (SSI)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3285641" y="5737194"/>
            <a:ext cx="5464519" cy="1569527"/>
            <a:chOff x="-77088" y="-57150"/>
            <a:chExt cx="7286025" cy="2092703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57150"/>
              <a:ext cx="4798432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60"/>
                </a:lnSpc>
              </a:pPr>
              <a:r>
                <a:rPr lang="en-US" sz="2400" b="1" dirty="0">
                  <a:solidFill>
                    <a:srgbClr val="004CC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Cryptographic Schemes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-77088" y="1058923"/>
              <a:ext cx="7286025" cy="976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 b="1" dirty="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Ciphertext-Policy Attribute-Based Encryption (CP-ABE)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376698" y="7567218"/>
            <a:ext cx="5464519" cy="1109114"/>
            <a:chOff x="0" y="0"/>
            <a:chExt cx="7286025" cy="1478818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57150"/>
              <a:ext cx="6685142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 b="1">
                  <a:solidFill>
                    <a:srgbClr val="004CC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Proxy Re-Encryption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502188"/>
              <a:ext cx="7286025" cy="976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Enabling secure sharing across healthcare platforms from different regions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118795" y="5443669"/>
            <a:ext cx="2826845" cy="1682025"/>
            <a:chOff x="0" y="-57150"/>
            <a:chExt cx="3769126" cy="2242701"/>
          </a:xfrm>
        </p:grpSpPr>
        <p:sp>
          <p:nvSpPr>
            <p:cNvPr id="23" name="TextBox 23"/>
            <p:cNvSpPr txBox="1"/>
            <p:nvPr/>
          </p:nvSpPr>
          <p:spPr>
            <a:xfrm>
              <a:off x="499827" y="-57150"/>
              <a:ext cx="276828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940"/>
                </a:lnSpc>
              </a:pPr>
              <a:r>
                <a:rPr lang="en-US" sz="2100" b="1" dirty="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Data Separation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89" y="731669"/>
              <a:ext cx="3767937" cy="9766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systems often operate in silos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1704221"/>
              <a:ext cx="3767937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barriers to accessing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06592" y="7262031"/>
            <a:ext cx="2825953" cy="1472498"/>
            <a:chOff x="-1" y="-57150"/>
            <a:chExt cx="3767937" cy="1963330"/>
          </a:xfrm>
        </p:grpSpPr>
        <p:sp>
          <p:nvSpPr>
            <p:cNvPr id="27" name="TextBox 27"/>
            <p:cNvSpPr txBox="1"/>
            <p:nvPr/>
          </p:nvSpPr>
          <p:spPr>
            <a:xfrm>
              <a:off x="877320" y="-57150"/>
              <a:ext cx="2825277" cy="4543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2940"/>
                </a:lnSpc>
              </a:pPr>
              <a:r>
                <a:rPr lang="en-US" sz="2100" b="1" dirty="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Trust Issues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-1" y="929549"/>
              <a:ext cx="3767937" cy="976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dirty="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Lack of trust between healthcare institutions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297999" y="2081821"/>
            <a:ext cx="9016189" cy="167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Our objective is to develop </a:t>
            </a:r>
            <a:r>
              <a:rPr lang="en-US" sz="24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XDHDS, a secure and scalable system for cross-electronic health record (EHR) sharing</a:t>
            </a:r>
            <a:r>
              <a:rPr lang="en-US" sz="2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, incorporating anonymous authentication and dynamic access control.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97999" y="1085850"/>
            <a:ext cx="8084297" cy="72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8"/>
              </a:lnSpc>
              <a:spcBef>
                <a:spcPct val="0"/>
              </a:spcBef>
            </a:pPr>
            <a:r>
              <a:rPr lang="en-US" sz="5196" b="1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Project Objective</a:t>
            </a:r>
          </a:p>
        </p:txBody>
      </p:sp>
      <p:sp>
        <p:nvSpPr>
          <p:cNvPr id="31" name="Freeform 31"/>
          <p:cNvSpPr/>
          <p:nvPr/>
        </p:nvSpPr>
        <p:spPr>
          <a:xfrm>
            <a:off x="1901099" y="4499414"/>
            <a:ext cx="864657" cy="908969"/>
          </a:xfrm>
          <a:custGeom>
            <a:avLst/>
            <a:gdLst/>
            <a:ahLst/>
            <a:cxnLst/>
            <a:rect l="l" t="t" r="r" b="b"/>
            <a:pathLst>
              <a:path w="864657" h="908969">
                <a:moveTo>
                  <a:pt x="0" y="0"/>
                </a:moveTo>
                <a:lnTo>
                  <a:pt x="864658" y="0"/>
                </a:lnTo>
                <a:lnTo>
                  <a:pt x="864658" y="908969"/>
                </a:lnTo>
                <a:lnTo>
                  <a:pt x="0" y="908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2" name="Freeform 32"/>
          <p:cNvSpPr/>
          <p:nvPr/>
        </p:nvSpPr>
        <p:spPr>
          <a:xfrm>
            <a:off x="1924392" y="6111435"/>
            <a:ext cx="818072" cy="908969"/>
          </a:xfrm>
          <a:custGeom>
            <a:avLst/>
            <a:gdLst/>
            <a:ahLst/>
            <a:cxnLst/>
            <a:rect l="l" t="t" r="r" b="b"/>
            <a:pathLst>
              <a:path w="818072" h="908969">
                <a:moveTo>
                  <a:pt x="0" y="0"/>
                </a:moveTo>
                <a:lnTo>
                  <a:pt x="818072" y="0"/>
                </a:lnTo>
                <a:lnTo>
                  <a:pt x="818072" y="908969"/>
                </a:lnTo>
                <a:lnTo>
                  <a:pt x="0" y="9089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33" name="Group 33"/>
          <p:cNvGrpSpPr/>
          <p:nvPr/>
        </p:nvGrpSpPr>
        <p:grpSpPr>
          <a:xfrm>
            <a:off x="10806576" y="3542066"/>
            <a:ext cx="1518078" cy="1408569"/>
            <a:chOff x="0" y="0"/>
            <a:chExt cx="2024104" cy="1878092"/>
          </a:xfrm>
        </p:grpSpPr>
        <p:sp>
          <p:nvSpPr>
            <p:cNvPr id="34" name="TextBox 34"/>
            <p:cNvSpPr txBox="1"/>
            <p:nvPr/>
          </p:nvSpPr>
          <p:spPr>
            <a:xfrm>
              <a:off x="0" y="1347775"/>
              <a:ext cx="2024104" cy="5303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359"/>
                </a:lnSpc>
              </a:pPr>
              <a:r>
                <a:rPr lang="en-US" sz="2399" b="1" dirty="0">
                  <a:solidFill>
                    <a:srgbClr val="004CC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Problem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105710" y="0"/>
              <a:ext cx="1423229" cy="1227535"/>
            </a:xfrm>
            <a:custGeom>
              <a:avLst/>
              <a:gdLst/>
              <a:ahLst/>
              <a:cxnLst/>
              <a:rect l="l" t="t" r="r" b="b"/>
              <a:pathLst>
                <a:path w="1423229" h="1227535">
                  <a:moveTo>
                    <a:pt x="0" y="0"/>
                  </a:moveTo>
                  <a:lnTo>
                    <a:pt x="1423229" y="0"/>
                  </a:lnTo>
                  <a:lnTo>
                    <a:pt x="1423229" y="1227535"/>
                  </a:lnTo>
                  <a:lnTo>
                    <a:pt x="0" y="1227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7620831" y="9568468"/>
            <a:ext cx="504464" cy="504464"/>
            <a:chOff x="0" y="0"/>
            <a:chExt cx="672618" cy="672618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672618" cy="672618"/>
              <a:chOff x="0" y="0"/>
              <a:chExt cx="174157" cy="174157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74157" cy="174157"/>
              </a:xfrm>
              <a:custGeom>
                <a:avLst/>
                <a:gdLst/>
                <a:ahLst/>
                <a:cxnLst/>
                <a:rect l="l" t="t" r="r" b="b"/>
                <a:pathLst>
                  <a:path w="174157" h="174157">
                    <a:moveTo>
                      <a:pt x="87079" y="0"/>
                    </a:moveTo>
                    <a:lnTo>
                      <a:pt x="87079" y="0"/>
                    </a:lnTo>
                    <a:cubicBezTo>
                      <a:pt x="135171" y="0"/>
                      <a:pt x="174157" y="38986"/>
                      <a:pt x="174157" y="87079"/>
                    </a:cubicBezTo>
                    <a:lnTo>
                      <a:pt x="174157" y="87079"/>
                    </a:lnTo>
                    <a:cubicBezTo>
                      <a:pt x="174157" y="135171"/>
                      <a:pt x="135171" y="174157"/>
                      <a:pt x="87079" y="174157"/>
                    </a:cubicBezTo>
                    <a:lnTo>
                      <a:pt x="87079" y="174157"/>
                    </a:lnTo>
                    <a:cubicBezTo>
                      <a:pt x="38986" y="174157"/>
                      <a:pt x="0" y="135171"/>
                      <a:pt x="0" y="87079"/>
                    </a:cubicBezTo>
                    <a:lnTo>
                      <a:pt x="0" y="87079"/>
                    </a:lnTo>
                    <a:cubicBezTo>
                      <a:pt x="0" y="38986"/>
                      <a:pt x="38986" y="0"/>
                      <a:pt x="87079" y="0"/>
                    </a:cubicBezTo>
                    <a:close/>
                  </a:path>
                </a:pathLst>
              </a:custGeom>
              <a:solidFill>
                <a:srgbClr val="6BBEF4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57150"/>
                <a:ext cx="174157" cy="231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46424" y="72949"/>
              <a:ext cx="579770" cy="47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r>
                <a:rPr lang="en-US" sz="2136" b="1">
                  <a:solidFill>
                    <a:srgbClr val="FCFFFE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12777" r="-9579" b="-24805"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3" name="Group 3"/>
          <p:cNvGrpSpPr/>
          <p:nvPr/>
        </p:nvGrpSpPr>
        <p:grpSpPr>
          <a:xfrm>
            <a:off x="-161849" y="7006156"/>
            <a:ext cx="18449849" cy="3280844"/>
            <a:chOff x="0" y="0"/>
            <a:chExt cx="4859220" cy="8640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59220" cy="864091"/>
            </a:xfrm>
            <a:custGeom>
              <a:avLst/>
              <a:gdLst/>
              <a:ahLst/>
              <a:cxnLst/>
              <a:rect l="l" t="t" r="r" b="b"/>
              <a:pathLst>
                <a:path w="4859220" h="864091">
                  <a:moveTo>
                    <a:pt x="0" y="0"/>
                  </a:moveTo>
                  <a:lnTo>
                    <a:pt x="4859220" y="0"/>
                  </a:lnTo>
                  <a:lnTo>
                    <a:pt x="4859220" y="864091"/>
                  </a:lnTo>
                  <a:lnTo>
                    <a:pt x="0" y="864091"/>
                  </a:lnTo>
                  <a:close/>
                </a:path>
              </a:pathLst>
            </a:custGeom>
            <a:solidFill>
              <a:srgbClr val="004CC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59220" cy="911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77650" y="3393395"/>
            <a:ext cx="7889911" cy="5864905"/>
            <a:chOff x="0" y="0"/>
            <a:chExt cx="3007683" cy="22357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07683" cy="2235738"/>
            </a:xfrm>
            <a:custGeom>
              <a:avLst/>
              <a:gdLst/>
              <a:ahLst/>
              <a:cxnLst/>
              <a:rect l="l" t="t" r="r" b="b"/>
              <a:pathLst>
                <a:path w="3007683" h="2235738">
                  <a:moveTo>
                    <a:pt x="39250" y="0"/>
                  </a:moveTo>
                  <a:lnTo>
                    <a:pt x="2968433" y="0"/>
                  </a:lnTo>
                  <a:cubicBezTo>
                    <a:pt x="2990110" y="0"/>
                    <a:pt x="3007683" y="17573"/>
                    <a:pt x="3007683" y="39250"/>
                  </a:cubicBezTo>
                  <a:lnTo>
                    <a:pt x="3007683" y="2196488"/>
                  </a:lnTo>
                  <a:cubicBezTo>
                    <a:pt x="3007683" y="2206898"/>
                    <a:pt x="3003548" y="2216881"/>
                    <a:pt x="2996187" y="2224242"/>
                  </a:cubicBezTo>
                  <a:cubicBezTo>
                    <a:pt x="2988826" y="2231603"/>
                    <a:pt x="2978843" y="2235738"/>
                    <a:pt x="2968433" y="2235738"/>
                  </a:cubicBezTo>
                  <a:lnTo>
                    <a:pt x="39250" y="2235738"/>
                  </a:lnTo>
                  <a:cubicBezTo>
                    <a:pt x="17573" y="2235738"/>
                    <a:pt x="0" y="2218165"/>
                    <a:pt x="0" y="2196488"/>
                  </a:cubicBezTo>
                  <a:lnTo>
                    <a:pt x="0" y="39250"/>
                  </a:lnTo>
                  <a:cubicBezTo>
                    <a:pt x="0" y="28840"/>
                    <a:pt x="4135" y="18857"/>
                    <a:pt x="11496" y="11496"/>
                  </a:cubicBezTo>
                  <a:cubicBezTo>
                    <a:pt x="18857" y="4135"/>
                    <a:pt x="28840" y="0"/>
                    <a:pt x="39250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007683" cy="2283363"/>
            </a:xfrm>
            <a:prstGeom prst="rect">
              <a:avLst/>
            </a:prstGeom>
          </p:spPr>
          <p:txBody>
            <a:bodyPr lIns="35098" tIns="35098" rIns="35098" bIns="35098" rtlCol="0" anchor="ctr"/>
            <a:lstStyle/>
            <a:p>
              <a:pPr algn="ctr">
                <a:lnSpc>
                  <a:spcPts val="325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58590" y="3393395"/>
            <a:ext cx="7889911" cy="5864905"/>
            <a:chOff x="0" y="0"/>
            <a:chExt cx="3007683" cy="22357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07683" cy="2235738"/>
            </a:xfrm>
            <a:custGeom>
              <a:avLst/>
              <a:gdLst/>
              <a:ahLst/>
              <a:cxnLst/>
              <a:rect l="l" t="t" r="r" b="b"/>
              <a:pathLst>
                <a:path w="3007683" h="2235738">
                  <a:moveTo>
                    <a:pt x="39250" y="0"/>
                  </a:moveTo>
                  <a:lnTo>
                    <a:pt x="2968433" y="0"/>
                  </a:lnTo>
                  <a:cubicBezTo>
                    <a:pt x="2990110" y="0"/>
                    <a:pt x="3007683" y="17573"/>
                    <a:pt x="3007683" y="39250"/>
                  </a:cubicBezTo>
                  <a:lnTo>
                    <a:pt x="3007683" y="2196488"/>
                  </a:lnTo>
                  <a:cubicBezTo>
                    <a:pt x="3007683" y="2206898"/>
                    <a:pt x="3003548" y="2216881"/>
                    <a:pt x="2996187" y="2224242"/>
                  </a:cubicBezTo>
                  <a:cubicBezTo>
                    <a:pt x="2988826" y="2231603"/>
                    <a:pt x="2978843" y="2235738"/>
                    <a:pt x="2968433" y="2235738"/>
                  </a:cubicBezTo>
                  <a:lnTo>
                    <a:pt x="39250" y="2235738"/>
                  </a:lnTo>
                  <a:cubicBezTo>
                    <a:pt x="17573" y="2235738"/>
                    <a:pt x="0" y="2218165"/>
                    <a:pt x="0" y="2196488"/>
                  </a:cubicBezTo>
                  <a:lnTo>
                    <a:pt x="0" y="39250"/>
                  </a:lnTo>
                  <a:cubicBezTo>
                    <a:pt x="0" y="28840"/>
                    <a:pt x="4135" y="18857"/>
                    <a:pt x="11496" y="11496"/>
                  </a:cubicBezTo>
                  <a:cubicBezTo>
                    <a:pt x="18857" y="4135"/>
                    <a:pt x="28840" y="0"/>
                    <a:pt x="39250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007683" cy="2283363"/>
            </a:xfrm>
            <a:prstGeom prst="rect">
              <a:avLst/>
            </a:prstGeom>
          </p:spPr>
          <p:txBody>
            <a:bodyPr lIns="35098" tIns="35098" rIns="35098" bIns="35098" rtlCol="0" anchor="ctr"/>
            <a:lstStyle/>
            <a:p>
              <a:pPr algn="ctr">
                <a:lnSpc>
                  <a:spcPts val="325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77650" y="3776166"/>
            <a:ext cx="7889911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1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Current Approach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58590" y="3776166"/>
            <a:ext cx="7889911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1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Key Limitation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7650" y="4978283"/>
            <a:ext cx="7889911" cy="3646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B1320"/>
                </a:solidFill>
                <a:latin typeface="Public Sans"/>
                <a:ea typeface="Public Sans"/>
                <a:cs typeface="Public Sans"/>
                <a:sym typeface="Public Sans"/>
              </a:rPr>
              <a:t>Using </a:t>
            </a:r>
            <a:r>
              <a:rPr lang="en-US" sz="2799" b="1">
                <a:solidFill>
                  <a:srgbClr val="0B132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Blockchain </a:t>
            </a:r>
            <a:r>
              <a:rPr lang="en-US" sz="2799">
                <a:solidFill>
                  <a:srgbClr val="0B1320"/>
                </a:solidFill>
                <a:latin typeface="Public Sans"/>
                <a:ea typeface="Public Sans"/>
                <a:cs typeface="Public Sans"/>
                <a:sym typeface="Public Sans"/>
              </a:rPr>
              <a:t> for authentication and authorization in data sharing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b="1">
                <a:solidFill>
                  <a:srgbClr val="0B132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SSI, RBAC, ABAC </a:t>
            </a:r>
            <a:r>
              <a:rPr lang="en-US" sz="2799">
                <a:solidFill>
                  <a:srgbClr val="0B1320"/>
                </a:solidFill>
                <a:latin typeface="Public Sans"/>
                <a:ea typeface="Public Sans"/>
                <a:cs typeface="Public Sans"/>
                <a:sym typeface="Public Sans"/>
              </a:rPr>
              <a:t>are commonly applied for secure access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B1320"/>
                </a:solidFill>
                <a:latin typeface="Public Sans"/>
                <a:ea typeface="Public Sans"/>
                <a:cs typeface="Public Sans"/>
                <a:sym typeface="Public Sans"/>
              </a:rPr>
              <a:t>Using </a:t>
            </a:r>
            <a:r>
              <a:rPr lang="en-US" sz="2799" b="1">
                <a:solidFill>
                  <a:srgbClr val="0B132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Broadcast encryption </a:t>
            </a:r>
            <a:r>
              <a:rPr lang="en-US" sz="2799">
                <a:solidFill>
                  <a:srgbClr val="0B1320"/>
                </a:solidFill>
                <a:latin typeface="Public Sans"/>
                <a:ea typeface="Public Sans"/>
                <a:cs typeface="Public Sans"/>
                <a:sym typeface="Public Sans"/>
              </a:rPr>
              <a:t>and </a:t>
            </a:r>
            <a:r>
              <a:rPr lang="en-US" sz="2799" b="1">
                <a:solidFill>
                  <a:srgbClr val="0B132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PRE </a:t>
            </a:r>
            <a:r>
              <a:rPr lang="en-US" sz="2799">
                <a:solidFill>
                  <a:srgbClr val="0B1320"/>
                </a:solidFill>
                <a:latin typeface="Public Sans"/>
                <a:ea typeface="Public Sans"/>
                <a:cs typeface="Public Sans"/>
                <a:sym typeface="Public Sans"/>
              </a:rPr>
              <a:t>in blockchain-based cross-domain data sharing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58590" y="5240221"/>
            <a:ext cx="7889911" cy="31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Scalability issue: </a:t>
            </a:r>
            <a:r>
              <a:rPr lang="en-US" sz="27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transformation and indexing </a:t>
            </a: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for data retrieval in large-scale sharing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Privacy concerns: Some solutions fail to fully support </a:t>
            </a:r>
            <a:r>
              <a:rPr lang="en-US" sz="27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privacy-preserving data sharing</a:t>
            </a: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</p:txBody>
      </p:sp>
      <p:sp>
        <p:nvSpPr>
          <p:cNvPr id="16" name="Freeform 16"/>
          <p:cNvSpPr/>
          <p:nvPr/>
        </p:nvSpPr>
        <p:spPr>
          <a:xfrm rot="2871075">
            <a:off x="15350015" y="-2421040"/>
            <a:ext cx="5078392" cy="5072044"/>
          </a:xfrm>
          <a:custGeom>
            <a:avLst/>
            <a:gdLst/>
            <a:ahLst/>
            <a:cxnLst/>
            <a:rect l="l" t="t" r="r" b="b"/>
            <a:pathLst>
              <a:path w="5078392" h="5072044">
                <a:moveTo>
                  <a:pt x="0" y="0"/>
                </a:moveTo>
                <a:lnTo>
                  <a:pt x="5078392" y="0"/>
                </a:lnTo>
                <a:lnTo>
                  <a:pt x="5078392" y="5072044"/>
                </a:lnTo>
                <a:lnTo>
                  <a:pt x="0" y="50720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Box 17"/>
          <p:cNvSpPr txBox="1"/>
          <p:nvPr/>
        </p:nvSpPr>
        <p:spPr>
          <a:xfrm>
            <a:off x="1088449" y="1123950"/>
            <a:ext cx="8434070" cy="72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8"/>
              </a:lnSpc>
              <a:spcBef>
                <a:spcPct val="0"/>
              </a:spcBef>
            </a:pPr>
            <a:r>
              <a:rPr lang="en-US" sz="5196" b="1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Related work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7620831" y="9568468"/>
            <a:ext cx="504464" cy="504464"/>
            <a:chOff x="0" y="0"/>
            <a:chExt cx="672618" cy="672618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672618" cy="672618"/>
              <a:chOff x="0" y="0"/>
              <a:chExt cx="174157" cy="17415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74157" cy="174157"/>
              </a:xfrm>
              <a:custGeom>
                <a:avLst/>
                <a:gdLst/>
                <a:ahLst/>
                <a:cxnLst/>
                <a:rect l="l" t="t" r="r" b="b"/>
                <a:pathLst>
                  <a:path w="174157" h="174157">
                    <a:moveTo>
                      <a:pt x="87079" y="0"/>
                    </a:moveTo>
                    <a:lnTo>
                      <a:pt x="87079" y="0"/>
                    </a:lnTo>
                    <a:cubicBezTo>
                      <a:pt x="135171" y="0"/>
                      <a:pt x="174157" y="38986"/>
                      <a:pt x="174157" y="87079"/>
                    </a:cubicBezTo>
                    <a:lnTo>
                      <a:pt x="174157" y="87079"/>
                    </a:lnTo>
                    <a:cubicBezTo>
                      <a:pt x="174157" y="135171"/>
                      <a:pt x="135171" y="174157"/>
                      <a:pt x="87079" y="174157"/>
                    </a:cubicBezTo>
                    <a:lnTo>
                      <a:pt x="87079" y="174157"/>
                    </a:lnTo>
                    <a:cubicBezTo>
                      <a:pt x="38986" y="174157"/>
                      <a:pt x="0" y="135171"/>
                      <a:pt x="0" y="87079"/>
                    </a:cubicBezTo>
                    <a:lnTo>
                      <a:pt x="0" y="87079"/>
                    </a:lnTo>
                    <a:cubicBezTo>
                      <a:pt x="0" y="38986"/>
                      <a:pt x="38986" y="0"/>
                      <a:pt x="87079" y="0"/>
                    </a:cubicBezTo>
                    <a:close/>
                  </a:path>
                </a:pathLst>
              </a:custGeom>
              <a:solidFill>
                <a:srgbClr val="6BBEF4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57150"/>
                <a:ext cx="174157" cy="231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46424" y="72949"/>
              <a:ext cx="579770" cy="47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r>
                <a:rPr lang="en-US" sz="2136" b="1">
                  <a:solidFill>
                    <a:srgbClr val="FCFFFE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4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97999" y="2081821"/>
            <a:ext cx="10044891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Currently approach using the blockchain technology for secure data sharing but they has some limitations.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57789" r="-93931"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3" name="Group 3"/>
          <p:cNvGrpSpPr/>
          <p:nvPr/>
        </p:nvGrpSpPr>
        <p:grpSpPr>
          <a:xfrm>
            <a:off x="13952460" y="-1530736"/>
            <a:ext cx="12955554" cy="13146873"/>
            <a:chOff x="0" y="0"/>
            <a:chExt cx="800972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0972" cy="812800"/>
            </a:xfrm>
            <a:custGeom>
              <a:avLst/>
              <a:gdLst/>
              <a:ahLst/>
              <a:cxnLst/>
              <a:rect l="l" t="t" r="r" b="b"/>
              <a:pathLst>
                <a:path w="800972" h="812800">
                  <a:moveTo>
                    <a:pt x="400486" y="0"/>
                  </a:moveTo>
                  <a:cubicBezTo>
                    <a:pt x="179304" y="0"/>
                    <a:pt x="0" y="181951"/>
                    <a:pt x="0" y="406400"/>
                  </a:cubicBezTo>
                  <a:cubicBezTo>
                    <a:pt x="0" y="630849"/>
                    <a:pt x="179304" y="812800"/>
                    <a:pt x="400486" y="812800"/>
                  </a:cubicBezTo>
                  <a:cubicBezTo>
                    <a:pt x="621668" y="812800"/>
                    <a:pt x="800972" y="630849"/>
                    <a:pt x="800972" y="406400"/>
                  </a:cubicBezTo>
                  <a:cubicBezTo>
                    <a:pt x="800972" y="181951"/>
                    <a:pt x="621668" y="0"/>
                    <a:pt x="400486" y="0"/>
                  </a:cubicBezTo>
                  <a:close/>
                </a:path>
              </a:pathLst>
            </a:custGeom>
            <a:solidFill>
              <a:srgbClr val="0E6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091" y="28575"/>
              <a:ext cx="65079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38225" y="2904152"/>
            <a:ext cx="8333538" cy="260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176"/>
              </a:lnSpc>
              <a:spcBef>
                <a:spcPct val="0"/>
              </a:spcBef>
            </a:pPr>
            <a:r>
              <a:rPr lang="en-US" sz="9600" b="1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Our Proposed System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38225" y="7343136"/>
            <a:ext cx="4483108" cy="173063"/>
            <a:chOff x="0" y="0"/>
            <a:chExt cx="1180736" cy="455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80736" cy="45580"/>
            </a:xfrm>
            <a:custGeom>
              <a:avLst/>
              <a:gdLst/>
              <a:ahLst/>
              <a:cxnLst/>
              <a:rect l="l" t="t" r="r" b="b"/>
              <a:pathLst>
                <a:path w="1180736" h="45580">
                  <a:moveTo>
                    <a:pt x="22790" y="0"/>
                  </a:moveTo>
                  <a:lnTo>
                    <a:pt x="1157946" y="0"/>
                  </a:lnTo>
                  <a:cubicBezTo>
                    <a:pt x="1170533" y="0"/>
                    <a:pt x="1180736" y="10203"/>
                    <a:pt x="1180736" y="22790"/>
                  </a:cubicBezTo>
                  <a:lnTo>
                    <a:pt x="1180736" y="22790"/>
                  </a:lnTo>
                  <a:cubicBezTo>
                    <a:pt x="1180736" y="28834"/>
                    <a:pt x="1178335" y="34631"/>
                    <a:pt x="1174061" y="38905"/>
                  </a:cubicBezTo>
                  <a:cubicBezTo>
                    <a:pt x="1169787" y="43179"/>
                    <a:pt x="1163990" y="45580"/>
                    <a:pt x="1157946" y="45580"/>
                  </a:cubicBezTo>
                  <a:lnTo>
                    <a:pt x="22790" y="45580"/>
                  </a:lnTo>
                  <a:cubicBezTo>
                    <a:pt x="16746" y="45580"/>
                    <a:pt x="10949" y="43179"/>
                    <a:pt x="6675" y="38905"/>
                  </a:cubicBezTo>
                  <a:cubicBezTo>
                    <a:pt x="2401" y="34631"/>
                    <a:pt x="0" y="28834"/>
                    <a:pt x="0" y="22790"/>
                  </a:cubicBezTo>
                  <a:lnTo>
                    <a:pt x="0" y="22790"/>
                  </a:lnTo>
                  <a:cubicBezTo>
                    <a:pt x="0" y="16746"/>
                    <a:pt x="2401" y="10949"/>
                    <a:pt x="6675" y="6675"/>
                  </a:cubicBezTo>
                  <a:cubicBezTo>
                    <a:pt x="10949" y="2401"/>
                    <a:pt x="16746" y="0"/>
                    <a:pt x="22790" y="0"/>
                  </a:cubicBezTo>
                  <a:close/>
                </a:path>
              </a:pathLst>
            </a:custGeom>
            <a:solidFill>
              <a:srgbClr val="0E6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180736" cy="93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6456195"/>
            <a:ext cx="7504506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Blockchain-based access control model </a:t>
            </a:r>
          </a:p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For secure, scalable, and efficient EHR sharing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8225" y="5990115"/>
            <a:ext cx="7504506" cy="44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86"/>
              </a:lnSpc>
            </a:pPr>
            <a:r>
              <a:rPr lang="en-US" sz="2561" b="1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XDHDS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320595" y="2201119"/>
            <a:ext cx="7034266" cy="6673760"/>
            <a:chOff x="0" y="0"/>
            <a:chExt cx="9379022" cy="88983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379022" cy="8898347"/>
            </a:xfrm>
            <a:custGeom>
              <a:avLst/>
              <a:gdLst/>
              <a:ahLst/>
              <a:cxnLst/>
              <a:rect l="l" t="t" r="r" b="b"/>
              <a:pathLst>
                <a:path w="9379022" h="8898347">
                  <a:moveTo>
                    <a:pt x="0" y="0"/>
                  </a:moveTo>
                  <a:lnTo>
                    <a:pt x="9379022" y="0"/>
                  </a:lnTo>
                  <a:lnTo>
                    <a:pt x="9379022" y="8898347"/>
                  </a:lnTo>
                  <a:lnTo>
                    <a:pt x="0" y="8898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41428" y="740205"/>
              <a:ext cx="7459421" cy="7459421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43122" r="-40231" b="-22159"/>
                </a:stretch>
              </a:blipFill>
            </p:spPr>
            <p:txBody>
              <a:bodyPr/>
              <a:lstStyle/>
              <a:p>
                <a:endParaRPr lang="en-TH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19239" r="-19959" b="-31376"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" name="TextBox 3"/>
          <p:cNvSpPr txBox="1"/>
          <p:nvPr/>
        </p:nvSpPr>
        <p:spPr>
          <a:xfrm>
            <a:off x="5890844" y="8679579"/>
            <a:ext cx="6506313" cy="72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7"/>
              </a:lnSpc>
              <a:spcBef>
                <a:spcPct val="0"/>
              </a:spcBef>
            </a:pPr>
            <a:r>
              <a:rPr lang="en-US" sz="5280" b="1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XDHDS System</a:t>
            </a:r>
          </a:p>
        </p:txBody>
      </p:sp>
      <p:sp>
        <p:nvSpPr>
          <p:cNvPr id="4" name="Freeform 4"/>
          <p:cNvSpPr/>
          <p:nvPr/>
        </p:nvSpPr>
        <p:spPr>
          <a:xfrm rot="-851169">
            <a:off x="15999022" y="8206656"/>
            <a:ext cx="5861034" cy="5912771"/>
          </a:xfrm>
          <a:custGeom>
            <a:avLst/>
            <a:gdLst/>
            <a:ahLst/>
            <a:cxnLst/>
            <a:rect l="l" t="t" r="r" b="b"/>
            <a:pathLst>
              <a:path w="5861034" h="5912771">
                <a:moveTo>
                  <a:pt x="0" y="0"/>
                </a:moveTo>
                <a:lnTo>
                  <a:pt x="5861034" y="0"/>
                </a:lnTo>
                <a:lnTo>
                  <a:pt x="5861034" y="5912771"/>
                </a:lnTo>
                <a:lnTo>
                  <a:pt x="0" y="591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grpSp>
        <p:nvGrpSpPr>
          <p:cNvPr id="5" name="Group 5"/>
          <p:cNvGrpSpPr/>
          <p:nvPr/>
        </p:nvGrpSpPr>
        <p:grpSpPr>
          <a:xfrm>
            <a:off x="446854" y="2004546"/>
            <a:ext cx="17394291" cy="6436908"/>
            <a:chOff x="0" y="0"/>
            <a:chExt cx="23192388" cy="8582544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9464514" cy="7384235"/>
              <a:chOff x="0" y="0"/>
              <a:chExt cx="860725" cy="67153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60725" cy="671539"/>
              </a:xfrm>
              <a:custGeom>
                <a:avLst/>
                <a:gdLst/>
                <a:ahLst/>
                <a:cxnLst/>
                <a:rect l="l" t="t" r="r" b="b"/>
                <a:pathLst>
                  <a:path w="860725" h="671539">
                    <a:moveTo>
                      <a:pt x="93505" y="0"/>
                    </a:moveTo>
                    <a:lnTo>
                      <a:pt x="767220" y="0"/>
                    </a:lnTo>
                    <a:cubicBezTo>
                      <a:pt x="792019" y="0"/>
                      <a:pt x="815802" y="9851"/>
                      <a:pt x="833338" y="27387"/>
                    </a:cubicBezTo>
                    <a:cubicBezTo>
                      <a:pt x="850873" y="44923"/>
                      <a:pt x="860725" y="68706"/>
                      <a:pt x="860725" y="93505"/>
                    </a:cubicBezTo>
                    <a:lnTo>
                      <a:pt x="860725" y="578034"/>
                    </a:lnTo>
                    <a:cubicBezTo>
                      <a:pt x="860725" y="602833"/>
                      <a:pt x="850873" y="626617"/>
                      <a:pt x="833338" y="644152"/>
                    </a:cubicBezTo>
                    <a:cubicBezTo>
                      <a:pt x="815802" y="661688"/>
                      <a:pt x="792019" y="671539"/>
                      <a:pt x="767220" y="671539"/>
                    </a:cubicBezTo>
                    <a:lnTo>
                      <a:pt x="93505" y="671539"/>
                    </a:lnTo>
                    <a:cubicBezTo>
                      <a:pt x="68706" y="671539"/>
                      <a:pt x="44923" y="661688"/>
                      <a:pt x="27387" y="644152"/>
                    </a:cubicBezTo>
                    <a:cubicBezTo>
                      <a:pt x="9851" y="626617"/>
                      <a:pt x="0" y="602833"/>
                      <a:pt x="0" y="578034"/>
                    </a:cubicBezTo>
                    <a:lnTo>
                      <a:pt x="0" y="93505"/>
                    </a:lnTo>
                    <a:cubicBezTo>
                      <a:pt x="0" y="68706"/>
                      <a:pt x="9851" y="44923"/>
                      <a:pt x="27387" y="27387"/>
                    </a:cubicBezTo>
                    <a:cubicBezTo>
                      <a:pt x="44923" y="9851"/>
                      <a:pt x="68706" y="0"/>
                      <a:pt x="93505" y="0"/>
                    </a:cubicBezTo>
                    <a:close/>
                  </a:path>
                </a:pathLst>
              </a:custGeom>
              <a:solidFill>
                <a:srgbClr val="CCCBC8">
                  <a:alpha val="27843"/>
                </a:srgbClr>
              </a:solidFill>
              <a:ln w="47625" cap="rnd">
                <a:solidFill>
                  <a:srgbClr val="666666">
                    <a:alpha val="27843"/>
                  </a:srgbClr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860725" cy="7001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305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AutoShape 9"/>
            <p:cNvSpPr/>
            <p:nvPr/>
          </p:nvSpPr>
          <p:spPr>
            <a:xfrm>
              <a:off x="3258470" y="4303958"/>
              <a:ext cx="2953224" cy="0"/>
            </a:xfrm>
            <a:prstGeom prst="line">
              <a:avLst/>
            </a:prstGeom>
            <a:ln w="37545" cap="flat">
              <a:solidFill>
                <a:srgbClr val="922E19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0" name="AutoShape 10"/>
            <p:cNvSpPr/>
            <p:nvPr/>
          </p:nvSpPr>
          <p:spPr>
            <a:xfrm flipV="1">
              <a:off x="2677222" y="1575017"/>
              <a:ext cx="1380478" cy="1878940"/>
            </a:xfrm>
            <a:prstGeom prst="line">
              <a:avLst/>
            </a:prstGeom>
            <a:ln w="37545" cap="flat">
              <a:solidFill>
                <a:srgbClr val="922E19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4075168" y="2185063"/>
              <a:ext cx="1314179" cy="1381528"/>
            </a:xfrm>
            <a:custGeom>
              <a:avLst/>
              <a:gdLst/>
              <a:ahLst/>
              <a:cxnLst/>
              <a:rect l="l" t="t" r="r" b="b"/>
              <a:pathLst>
                <a:path w="1314179" h="1381528">
                  <a:moveTo>
                    <a:pt x="0" y="0"/>
                  </a:moveTo>
                  <a:lnTo>
                    <a:pt x="1314178" y="0"/>
                  </a:lnTo>
                  <a:lnTo>
                    <a:pt x="1314178" y="1381528"/>
                  </a:lnTo>
                  <a:lnTo>
                    <a:pt x="0" y="1381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12" name="AutoShape 12"/>
            <p:cNvSpPr/>
            <p:nvPr/>
          </p:nvSpPr>
          <p:spPr>
            <a:xfrm flipH="1" flipV="1">
              <a:off x="5487917" y="1600012"/>
              <a:ext cx="1343497" cy="1828949"/>
            </a:xfrm>
            <a:prstGeom prst="line">
              <a:avLst/>
            </a:prstGeom>
            <a:ln w="37545" cap="flat">
              <a:solidFill>
                <a:srgbClr val="922E19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H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7960685" y="3638030"/>
              <a:ext cx="1102797" cy="1102797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A7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5309" tIns="35309" rIns="35309" bIns="35309" rtlCol="0" anchor="ctr"/>
              <a:lstStyle/>
              <a:p>
                <a:pPr algn="r">
                  <a:lnSpc>
                    <a:spcPts val="1305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8200983" y="3900106"/>
              <a:ext cx="622200" cy="578646"/>
            </a:xfrm>
            <a:custGeom>
              <a:avLst/>
              <a:gdLst/>
              <a:ahLst/>
              <a:cxnLst/>
              <a:rect l="l" t="t" r="r" b="b"/>
              <a:pathLst>
                <a:path w="622200" h="578646">
                  <a:moveTo>
                    <a:pt x="0" y="0"/>
                  </a:moveTo>
                  <a:lnTo>
                    <a:pt x="622201" y="0"/>
                  </a:lnTo>
                  <a:lnTo>
                    <a:pt x="622201" y="578646"/>
                  </a:lnTo>
                  <a:lnTo>
                    <a:pt x="0" y="5786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7471381" y="4189429"/>
              <a:ext cx="489304" cy="0"/>
            </a:xfrm>
            <a:prstGeom prst="line">
              <a:avLst/>
            </a:prstGeom>
            <a:ln w="28159" cap="flat">
              <a:solidFill>
                <a:srgbClr val="3195DB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680183" y="5394468"/>
              <a:ext cx="1072865" cy="1347397"/>
            </a:xfrm>
            <a:custGeom>
              <a:avLst/>
              <a:gdLst/>
              <a:ahLst/>
              <a:cxnLst/>
              <a:rect l="l" t="t" r="r" b="b"/>
              <a:pathLst>
                <a:path w="1072865" h="1347397">
                  <a:moveTo>
                    <a:pt x="0" y="0"/>
                  </a:moveTo>
                  <a:lnTo>
                    <a:pt x="1072864" y="0"/>
                  </a:lnTo>
                  <a:lnTo>
                    <a:pt x="1072864" y="1347397"/>
                  </a:lnTo>
                  <a:lnTo>
                    <a:pt x="0" y="1347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3727874" y="0"/>
              <a:ext cx="9464514" cy="7384235"/>
              <a:chOff x="0" y="0"/>
              <a:chExt cx="860725" cy="67153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60725" cy="671539"/>
              </a:xfrm>
              <a:custGeom>
                <a:avLst/>
                <a:gdLst/>
                <a:ahLst/>
                <a:cxnLst/>
                <a:rect l="l" t="t" r="r" b="b"/>
                <a:pathLst>
                  <a:path w="860725" h="671539">
                    <a:moveTo>
                      <a:pt x="93505" y="0"/>
                    </a:moveTo>
                    <a:lnTo>
                      <a:pt x="767220" y="0"/>
                    </a:lnTo>
                    <a:cubicBezTo>
                      <a:pt x="792019" y="0"/>
                      <a:pt x="815802" y="9851"/>
                      <a:pt x="833338" y="27387"/>
                    </a:cubicBezTo>
                    <a:cubicBezTo>
                      <a:pt x="850873" y="44923"/>
                      <a:pt x="860725" y="68706"/>
                      <a:pt x="860725" y="93505"/>
                    </a:cubicBezTo>
                    <a:lnTo>
                      <a:pt x="860725" y="578034"/>
                    </a:lnTo>
                    <a:cubicBezTo>
                      <a:pt x="860725" y="602833"/>
                      <a:pt x="850873" y="626617"/>
                      <a:pt x="833338" y="644152"/>
                    </a:cubicBezTo>
                    <a:cubicBezTo>
                      <a:pt x="815802" y="661688"/>
                      <a:pt x="792019" y="671539"/>
                      <a:pt x="767220" y="671539"/>
                    </a:cubicBezTo>
                    <a:lnTo>
                      <a:pt x="93505" y="671539"/>
                    </a:lnTo>
                    <a:cubicBezTo>
                      <a:pt x="68706" y="671539"/>
                      <a:pt x="44923" y="661688"/>
                      <a:pt x="27387" y="644152"/>
                    </a:cubicBezTo>
                    <a:cubicBezTo>
                      <a:pt x="9851" y="626617"/>
                      <a:pt x="0" y="602833"/>
                      <a:pt x="0" y="578034"/>
                    </a:cubicBezTo>
                    <a:lnTo>
                      <a:pt x="0" y="93505"/>
                    </a:lnTo>
                    <a:cubicBezTo>
                      <a:pt x="0" y="68706"/>
                      <a:pt x="9851" y="44923"/>
                      <a:pt x="27387" y="27387"/>
                    </a:cubicBezTo>
                    <a:cubicBezTo>
                      <a:pt x="44923" y="9851"/>
                      <a:pt x="68706" y="0"/>
                      <a:pt x="93505" y="0"/>
                    </a:cubicBezTo>
                    <a:close/>
                  </a:path>
                </a:pathLst>
              </a:custGeom>
              <a:solidFill>
                <a:srgbClr val="CCCBC8">
                  <a:alpha val="27843"/>
                </a:srgbClr>
              </a:solidFill>
              <a:ln w="47625" cap="rnd">
                <a:solidFill>
                  <a:srgbClr val="666666">
                    <a:alpha val="27843"/>
                  </a:srgbClr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28575"/>
                <a:ext cx="860725" cy="7001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305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2" name="AutoShape 22"/>
            <p:cNvSpPr/>
            <p:nvPr/>
          </p:nvSpPr>
          <p:spPr>
            <a:xfrm>
              <a:off x="16986344" y="4303958"/>
              <a:ext cx="2953224" cy="0"/>
            </a:xfrm>
            <a:prstGeom prst="line">
              <a:avLst/>
            </a:prstGeom>
            <a:ln w="37545" cap="flat">
              <a:solidFill>
                <a:srgbClr val="922E19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23" name="AutoShape 23"/>
            <p:cNvSpPr/>
            <p:nvPr/>
          </p:nvSpPr>
          <p:spPr>
            <a:xfrm flipV="1">
              <a:off x="16405096" y="1575017"/>
              <a:ext cx="1380478" cy="1878940"/>
            </a:xfrm>
            <a:prstGeom prst="line">
              <a:avLst/>
            </a:prstGeom>
            <a:ln w="37545" cap="flat">
              <a:solidFill>
                <a:srgbClr val="922E19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17803042" y="2185063"/>
              <a:ext cx="1314179" cy="1381528"/>
            </a:xfrm>
            <a:custGeom>
              <a:avLst/>
              <a:gdLst/>
              <a:ahLst/>
              <a:cxnLst/>
              <a:rect l="l" t="t" r="r" b="b"/>
              <a:pathLst>
                <a:path w="1314179" h="1381528">
                  <a:moveTo>
                    <a:pt x="0" y="0"/>
                  </a:moveTo>
                  <a:lnTo>
                    <a:pt x="1314178" y="0"/>
                  </a:lnTo>
                  <a:lnTo>
                    <a:pt x="1314178" y="1381528"/>
                  </a:lnTo>
                  <a:lnTo>
                    <a:pt x="0" y="1381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25" name="AutoShape 25"/>
            <p:cNvSpPr/>
            <p:nvPr/>
          </p:nvSpPr>
          <p:spPr>
            <a:xfrm flipH="1" flipV="1">
              <a:off x="19215791" y="1600012"/>
              <a:ext cx="1343497" cy="1828949"/>
            </a:xfrm>
            <a:prstGeom prst="line">
              <a:avLst/>
            </a:prstGeom>
            <a:ln w="37545" cap="flat">
              <a:solidFill>
                <a:srgbClr val="922E19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H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14460621" y="3822104"/>
              <a:ext cx="734650" cy="734650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A7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5309" tIns="35309" rIns="35309" bIns="35309" rtlCol="0" anchor="ctr"/>
              <a:lstStyle/>
              <a:p>
                <a:pPr algn="ctr">
                  <a:lnSpc>
                    <a:spcPts val="1305"/>
                  </a:lnSpc>
                </a:pPr>
                <a:endParaRPr/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14620701" y="3996690"/>
              <a:ext cx="414491" cy="385477"/>
            </a:xfrm>
            <a:custGeom>
              <a:avLst/>
              <a:gdLst/>
              <a:ahLst/>
              <a:cxnLst/>
              <a:rect l="l" t="t" r="r" b="b"/>
              <a:pathLst>
                <a:path w="414491" h="385477">
                  <a:moveTo>
                    <a:pt x="0" y="0"/>
                  </a:moveTo>
                  <a:lnTo>
                    <a:pt x="414491" y="0"/>
                  </a:lnTo>
                  <a:lnTo>
                    <a:pt x="414491" y="385477"/>
                  </a:lnTo>
                  <a:lnTo>
                    <a:pt x="0" y="385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15195271" y="4202477"/>
              <a:ext cx="489304" cy="0"/>
            </a:xfrm>
            <a:prstGeom prst="line">
              <a:avLst/>
            </a:prstGeom>
            <a:ln w="28159" cap="flat">
              <a:solidFill>
                <a:srgbClr val="3195DB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H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21688559" y="3822104"/>
              <a:ext cx="734650" cy="734650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A7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5309" tIns="35309" rIns="35309" bIns="35309" rtlCol="0" anchor="ctr"/>
              <a:lstStyle/>
              <a:p>
                <a:pPr algn="r">
                  <a:lnSpc>
                    <a:spcPts val="1305"/>
                  </a:lnSpc>
                </a:pPr>
                <a:endParaRPr/>
              </a:p>
            </p:txBody>
          </p:sp>
        </p:grpSp>
        <p:sp>
          <p:nvSpPr>
            <p:cNvPr id="34" name="Freeform 34"/>
            <p:cNvSpPr/>
            <p:nvPr/>
          </p:nvSpPr>
          <p:spPr>
            <a:xfrm>
              <a:off x="21848638" y="3996690"/>
              <a:ext cx="414491" cy="385477"/>
            </a:xfrm>
            <a:custGeom>
              <a:avLst/>
              <a:gdLst/>
              <a:ahLst/>
              <a:cxnLst/>
              <a:rect l="l" t="t" r="r" b="b"/>
              <a:pathLst>
                <a:path w="414491" h="385477">
                  <a:moveTo>
                    <a:pt x="0" y="0"/>
                  </a:moveTo>
                  <a:lnTo>
                    <a:pt x="414492" y="0"/>
                  </a:lnTo>
                  <a:lnTo>
                    <a:pt x="414492" y="385477"/>
                  </a:lnTo>
                  <a:lnTo>
                    <a:pt x="0" y="385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21199255" y="4189429"/>
              <a:ext cx="489304" cy="0"/>
            </a:xfrm>
            <a:prstGeom prst="line">
              <a:avLst/>
            </a:prstGeom>
            <a:ln w="28159" cap="flat">
              <a:solidFill>
                <a:srgbClr val="3195DB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19939569" y="3536717"/>
              <a:ext cx="1434731" cy="1174686"/>
            </a:xfrm>
            <a:custGeom>
              <a:avLst/>
              <a:gdLst/>
              <a:ahLst/>
              <a:cxnLst/>
              <a:rect l="l" t="t" r="r" b="b"/>
              <a:pathLst>
                <a:path w="1434731" h="1174686">
                  <a:moveTo>
                    <a:pt x="0" y="0"/>
                  </a:moveTo>
                  <a:lnTo>
                    <a:pt x="1434730" y="0"/>
                  </a:lnTo>
                  <a:lnTo>
                    <a:pt x="1434730" y="1174686"/>
                  </a:lnTo>
                  <a:lnTo>
                    <a:pt x="0" y="1174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6413246" y="5397499"/>
              <a:ext cx="1113287" cy="1347397"/>
            </a:xfrm>
            <a:custGeom>
              <a:avLst/>
              <a:gdLst/>
              <a:ahLst/>
              <a:cxnLst/>
              <a:rect l="l" t="t" r="r" b="b"/>
              <a:pathLst>
                <a:path w="1113287" h="1347397">
                  <a:moveTo>
                    <a:pt x="0" y="0"/>
                  </a:moveTo>
                  <a:lnTo>
                    <a:pt x="1113287" y="0"/>
                  </a:lnTo>
                  <a:lnTo>
                    <a:pt x="1113287" y="1347397"/>
                  </a:lnTo>
                  <a:lnTo>
                    <a:pt x="0" y="1347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38" name="AutoShape 38"/>
            <p:cNvSpPr/>
            <p:nvPr/>
          </p:nvSpPr>
          <p:spPr>
            <a:xfrm flipV="1">
              <a:off x="3753047" y="4733215"/>
              <a:ext cx="2347393" cy="824484"/>
            </a:xfrm>
            <a:prstGeom prst="line">
              <a:avLst/>
            </a:prstGeom>
            <a:ln w="37545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39" name="AutoShape 39"/>
            <p:cNvSpPr/>
            <p:nvPr/>
          </p:nvSpPr>
          <p:spPr>
            <a:xfrm flipV="1">
              <a:off x="3823701" y="4972626"/>
              <a:ext cx="2347393" cy="824484"/>
            </a:xfrm>
            <a:prstGeom prst="line">
              <a:avLst/>
            </a:prstGeom>
            <a:ln w="37545" cap="flat">
              <a:solidFill>
                <a:srgbClr val="000000"/>
              </a:solidFill>
              <a:prstDash val="solid"/>
              <a:headEnd type="triangle" w="lg" len="med"/>
              <a:tailEnd type="none" w="sm" len="sm"/>
            </a:ln>
          </p:spPr>
          <p:txBody>
            <a:bodyPr/>
            <a:lstStyle/>
            <a:p>
              <a:endParaRPr lang="en-TH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0729544" y="3670348"/>
              <a:ext cx="1733301" cy="1064257"/>
              <a:chOff x="0" y="0"/>
              <a:chExt cx="616731" cy="378677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16731" cy="378677"/>
              </a:xfrm>
              <a:custGeom>
                <a:avLst/>
                <a:gdLst/>
                <a:ahLst/>
                <a:cxnLst/>
                <a:rect l="l" t="t" r="r" b="b"/>
                <a:pathLst>
                  <a:path w="616731" h="378677">
                    <a:moveTo>
                      <a:pt x="132045" y="0"/>
                    </a:moveTo>
                    <a:lnTo>
                      <a:pt x="484686" y="0"/>
                    </a:lnTo>
                    <a:cubicBezTo>
                      <a:pt x="557613" y="0"/>
                      <a:pt x="616731" y="59119"/>
                      <a:pt x="616731" y="132045"/>
                    </a:cubicBezTo>
                    <a:lnTo>
                      <a:pt x="616731" y="246632"/>
                    </a:lnTo>
                    <a:cubicBezTo>
                      <a:pt x="616731" y="281652"/>
                      <a:pt x="602820" y="315238"/>
                      <a:pt x="578056" y="340002"/>
                    </a:cubicBezTo>
                    <a:cubicBezTo>
                      <a:pt x="553293" y="364765"/>
                      <a:pt x="519707" y="378677"/>
                      <a:pt x="484686" y="378677"/>
                    </a:cubicBezTo>
                    <a:lnTo>
                      <a:pt x="132045" y="378677"/>
                    </a:lnTo>
                    <a:cubicBezTo>
                      <a:pt x="59119" y="378677"/>
                      <a:pt x="0" y="319558"/>
                      <a:pt x="0" y="246632"/>
                    </a:cubicBezTo>
                    <a:lnTo>
                      <a:pt x="0" y="132045"/>
                    </a:lnTo>
                    <a:cubicBezTo>
                      <a:pt x="0" y="59119"/>
                      <a:pt x="59119" y="0"/>
                      <a:pt x="13204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8C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616731" cy="4167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31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10803315" y="3882871"/>
              <a:ext cx="1585757" cy="6582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97"/>
                </a:lnSpc>
              </a:pPr>
              <a:r>
                <a:rPr lang="en-US" sz="1773" b="1">
                  <a:solidFill>
                    <a:srgbClr val="008C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Proxy Gateway</a:t>
              </a:r>
            </a:p>
          </p:txBody>
        </p:sp>
        <p:sp>
          <p:nvSpPr>
            <p:cNvPr id="44" name="AutoShape 44"/>
            <p:cNvSpPr/>
            <p:nvPr/>
          </p:nvSpPr>
          <p:spPr>
            <a:xfrm>
              <a:off x="3877616" y="6515019"/>
              <a:ext cx="12375819" cy="0"/>
            </a:xfrm>
            <a:prstGeom prst="line">
              <a:avLst/>
            </a:prstGeom>
            <a:ln w="37545" cap="flat">
              <a:solidFill>
                <a:srgbClr val="000000"/>
              </a:solidFill>
              <a:prstDash val="solid"/>
              <a:headEnd type="triangle" w="lg" len="med"/>
              <a:tailEnd type="none" w="sm" len="sm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45" name="AutoShape 45"/>
            <p:cNvSpPr/>
            <p:nvPr/>
          </p:nvSpPr>
          <p:spPr>
            <a:xfrm>
              <a:off x="3877616" y="6278534"/>
              <a:ext cx="12391363" cy="0"/>
            </a:xfrm>
            <a:prstGeom prst="line">
              <a:avLst/>
            </a:prstGeom>
            <a:ln w="37545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46" name="AutoShape 46"/>
            <p:cNvSpPr/>
            <p:nvPr/>
          </p:nvSpPr>
          <p:spPr>
            <a:xfrm flipV="1">
              <a:off x="3423533" y="3536717"/>
              <a:ext cx="749457" cy="1758112"/>
            </a:xfrm>
            <a:prstGeom prst="line">
              <a:avLst/>
            </a:prstGeom>
            <a:ln w="37545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47" name="AutoShape 47"/>
            <p:cNvSpPr/>
            <p:nvPr/>
          </p:nvSpPr>
          <p:spPr>
            <a:xfrm flipV="1">
              <a:off x="17410160" y="4733215"/>
              <a:ext cx="2347393" cy="824484"/>
            </a:xfrm>
            <a:prstGeom prst="line">
              <a:avLst/>
            </a:prstGeom>
            <a:ln w="37545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48" name="AutoShape 48"/>
            <p:cNvSpPr/>
            <p:nvPr/>
          </p:nvSpPr>
          <p:spPr>
            <a:xfrm flipV="1">
              <a:off x="17480814" y="4972626"/>
              <a:ext cx="2347393" cy="824484"/>
            </a:xfrm>
            <a:prstGeom prst="line">
              <a:avLst/>
            </a:prstGeom>
            <a:ln w="37545" cap="flat">
              <a:solidFill>
                <a:srgbClr val="000000"/>
              </a:solidFill>
              <a:prstDash val="solid"/>
              <a:headEnd type="triangle" w="lg" len="med"/>
              <a:tailEnd type="none" w="sm" len="sm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49" name="AutoShape 49"/>
            <p:cNvSpPr/>
            <p:nvPr/>
          </p:nvSpPr>
          <p:spPr>
            <a:xfrm flipV="1">
              <a:off x="20879369" y="2331149"/>
              <a:ext cx="141571" cy="1097812"/>
            </a:xfrm>
            <a:prstGeom prst="line">
              <a:avLst/>
            </a:prstGeom>
            <a:ln w="37545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50" name="AutoShape 50"/>
            <p:cNvSpPr/>
            <p:nvPr/>
          </p:nvSpPr>
          <p:spPr>
            <a:xfrm flipV="1">
              <a:off x="19069949" y="1509935"/>
              <a:ext cx="1809420" cy="1047950"/>
            </a:xfrm>
            <a:prstGeom prst="line">
              <a:avLst/>
            </a:prstGeom>
            <a:ln w="28159" cap="flat">
              <a:solidFill>
                <a:srgbClr val="FF590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0193242" y="1940127"/>
              <a:ext cx="1655397" cy="391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83"/>
                </a:lnSpc>
              </a:pPr>
              <a:r>
                <a:rPr lang="en-US" sz="1773" b="1">
                  <a:solidFill>
                    <a:srgbClr val="FF5908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HI Table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20469542" y="868875"/>
              <a:ext cx="1102797" cy="1102797"/>
              <a:chOff x="0" y="0"/>
              <a:chExt cx="812800" cy="8128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590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3003" tIns="53003" rIns="53003" bIns="53003" rtlCol="0" anchor="ctr"/>
              <a:lstStyle/>
              <a:p>
                <a:pPr algn="ctr">
                  <a:lnSpc>
                    <a:spcPts val="1305"/>
                  </a:lnSpc>
                </a:pPr>
                <a:endParaRPr/>
              </a:p>
            </p:txBody>
          </p:sp>
        </p:grpSp>
        <p:sp>
          <p:nvSpPr>
            <p:cNvPr id="55" name="Freeform 55"/>
            <p:cNvSpPr/>
            <p:nvPr/>
          </p:nvSpPr>
          <p:spPr>
            <a:xfrm>
              <a:off x="20699833" y="1148938"/>
              <a:ext cx="642214" cy="542671"/>
            </a:xfrm>
            <a:custGeom>
              <a:avLst/>
              <a:gdLst/>
              <a:ahLst/>
              <a:cxnLst/>
              <a:rect l="l" t="t" r="r" b="b"/>
              <a:pathLst>
                <a:path w="642214" h="542671">
                  <a:moveTo>
                    <a:pt x="0" y="0"/>
                  </a:moveTo>
                  <a:lnTo>
                    <a:pt x="642214" y="0"/>
                  </a:lnTo>
                  <a:lnTo>
                    <a:pt x="642214" y="542671"/>
                  </a:lnTo>
                  <a:lnTo>
                    <a:pt x="0" y="542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56" name="Freeform 56"/>
            <p:cNvSpPr/>
            <p:nvPr/>
          </p:nvSpPr>
          <p:spPr>
            <a:xfrm>
              <a:off x="15551613" y="3536717"/>
              <a:ext cx="1434731" cy="1174686"/>
            </a:xfrm>
            <a:custGeom>
              <a:avLst/>
              <a:gdLst/>
              <a:ahLst/>
              <a:cxnLst/>
              <a:rect l="l" t="t" r="r" b="b"/>
              <a:pathLst>
                <a:path w="1434731" h="1174686">
                  <a:moveTo>
                    <a:pt x="0" y="0"/>
                  </a:moveTo>
                  <a:lnTo>
                    <a:pt x="1434731" y="0"/>
                  </a:lnTo>
                  <a:lnTo>
                    <a:pt x="1434731" y="1174686"/>
                  </a:lnTo>
                  <a:lnTo>
                    <a:pt x="0" y="1174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732747" y="3822104"/>
              <a:ext cx="734650" cy="734650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A7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5309" tIns="35309" rIns="35309" bIns="35309" rtlCol="0" anchor="ctr"/>
              <a:lstStyle/>
              <a:p>
                <a:pPr algn="ctr">
                  <a:lnSpc>
                    <a:spcPts val="1305"/>
                  </a:lnSpc>
                </a:pPr>
                <a:endParaRPr/>
              </a:p>
            </p:txBody>
          </p:sp>
        </p:grpSp>
        <p:sp>
          <p:nvSpPr>
            <p:cNvPr id="60" name="Freeform 60"/>
            <p:cNvSpPr/>
            <p:nvPr/>
          </p:nvSpPr>
          <p:spPr>
            <a:xfrm>
              <a:off x="892827" y="3996690"/>
              <a:ext cx="414491" cy="385477"/>
            </a:xfrm>
            <a:custGeom>
              <a:avLst/>
              <a:gdLst/>
              <a:ahLst/>
              <a:cxnLst/>
              <a:rect l="l" t="t" r="r" b="b"/>
              <a:pathLst>
                <a:path w="414491" h="385477">
                  <a:moveTo>
                    <a:pt x="0" y="0"/>
                  </a:moveTo>
                  <a:lnTo>
                    <a:pt x="414491" y="0"/>
                  </a:lnTo>
                  <a:lnTo>
                    <a:pt x="414491" y="385477"/>
                  </a:lnTo>
                  <a:lnTo>
                    <a:pt x="0" y="385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61" name="AutoShape 61"/>
            <p:cNvSpPr/>
            <p:nvPr/>
          </p:nvSpPr>
          <p:spPr>
            <a:xfrm>
              <a:off x="1467397" y="4202477"/>
              <a:ext cx="489304" cy="0"/>
            </a:xfrm>
            <a:prstGeom prst="line">
              <a:avLst/>
            </a:prstGeom>
            <a:ln w="28159" cap="flat">
              <a:solidFill>
                <a:srgbClr val="3195DB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939029" y="4680176"/>
              <a:ext cx="1204151" cy="391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83"/>
                </a:lnSpc>
              </a:pPr>
              <a:r>
                <a:rPr lang="en-US" sz="1773" b="1">
                  <a:solidFill>
                    <a:srgbClr val="36897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Hospital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1823739" y="3536717"/>
              <a:ext cx="1434731" cy="1174686"/>
            </a:xfrm>
            <a:custGeom>
              <a:avLst/>
              <a:gdLst/>
              <a:ahLst/>
              <a:cxnLst/>
              <a:rect l="l" t="t" r="r" b="b"/>
              <a:pathLst>
                <a:path w="1434731" h="1174686">
                  <a:moveTo>
                    <a:pt x="0" y="0"/>
                  </a:moveTo>
                  <a:lnTo>
                    <a:pt x="1434731" y="0"/>
                  </a:lnTo>
                  <a:lnTo>
                    <a:pt x="1434731" y="1174686"/>
                  </a:lnTo>
                  <a:lnTo>
                    <a:pt x="0" y="1174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64" name="Freeform 64"/>
            <p:cNvSpPr/>
            <p:nvPr/>
          </p:nvSpPr>
          <p:spPr>
            <a:xfrm>
              <a:off x="6211695" y="3536717"/>
              <a:ext cx="1434731" cy="1174686"/>
            </a:xfrm>
            <a:custGeom>
              <a:avLst/>
              <a:gdLst/>
              <a:ahLst/>
              <a:cxnLst/>
              <a:rect l="l" t="t" r="r" b="b"/>
              <a:pathLst>
                <a:path w="1434731" h="1174686">
                  <a:moveTo>
                    <a:pt x="0" y="0"/>
                  </a:moveTo>
                  <a:lnTo>
                    <a:pt x="1434730" y="0"/>
                  </a:lnTo>
                  <a:lnTo>
                    <a:pt x="1434730" y="1174686"/>
                  </a:lnTo>
                  <a:lnTo>
                    <a:pt x="0" y="1174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3005991" y="613763"/>
              <a:ext cx="734650" cy="734650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A7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5309" tIns="35309" rIns="35309" bIns="35309" rtlCol="0" anchor="ctr"/>
              <a:lstStyle/>
              <a:p>
                <a:pPr algn="ctr">
                  <a:lnSpc>
                    <a:spcPts val="1305"/>
                  </a:lnSpc>
                </a:pPr>
                <a:endParaRPr/>
              </a:p>
            </p:txBody>
          </p:sp>
        </p:grpSp>
        <p:sp>
          <p:nvSpPr>
            <p:cNvPr id="68" name="Freeform 68"/>
            <p:cNvSpPr/>
            <p:nvPr/>
          </p:nvSpPr>
          <p:spPr>
            <a:xfrm>
              <a:off x="3166070" y="788349"/>
              <a:ext cx="414491" cy="385477"/>
            </a:xfrm>
            <a:custGeom>
              <a:avLst/>
              <a:gdLst/>
              <a:ahLst/>
              <a:cxnLst/>
              <a:rect l="l" t="t" r="r" b="b"/>
              <a:pathLst>
                <a:path w="414491" h="385477">
                  <a:moveTo>
                    <a:pt x="0" y="0"/>
                  </a:moveTo>
                  <a:lnTo>
                    <a:pt x="414491" y="0"/>
                  </a:lnTo>
                  <a:lnTo>
                    <a:pt x="414491" y="385477"/>
                  </a:lnTo>
                  <a:lnTo>
                    <a:pt x="0" y="385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69" name="AutoShape 69"/>
            <p:cNvSpPr/>
            <p:nvPr/>
          </p:nvSpPr>
          <p:spPr>
            <a:xfrm>
              <a:off x="3740641" y="994136"/>
              <a:ext cx="489304" cy="0"/>
            </a:xfrm>
            <a:prstGeom prst="line">
              <a:avLst/>
            </a:prstGeom>
            <a:ln w="28159" cap="flat">
              <a:solidFill>
                <a:srgbClr val="3195DB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212273" y="1471835"/>
              <a:ext cx="1204151" cy="391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83"/>
                </a:lnSpc>
              </a:pPr>
              <a:r>
                <a:rPr lang="en-US" sz="1773" b="1">
                  <a:solidFill>
                    <a:srgbClr val="36897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Hospital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4096983" y="328376"/>
              <a:ext cx="1434731" cy="1174686"/>
            </a:xfrm>
            <a:custGeom>
              <a:avLst/>
              <a:gdLst/>
              <a:ahLst/>
              <a:cxnLst/>
              <a:rect l="l" t="t" r="r" b="b"/>
              <a:pathLst>
                <a:path w="1434731" h="1174686">
                  <a:moveTo>
                    <a:pt x="0" y="0"/>
                  </a:moveTo>
                  <a:lnTo>
                    <a:pt x="1434731" y="0"/>
                  </a:lnTo>
                  <a:lnTo>
                    <a:pt x="1434731" y="1174686"/>
                  </a:lnTo>
                  <a:lnTo>
                    <a:pt x="0" y="1174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grpSp>
          <p:nvGrpSpPr>
            <p:cNvPr id="72" name="Group 72"/>
            <p:cNvGrpSpPr/>
            <p:nvPr/>
          </p:nvGrpSpPr>
          <p:grpSpPr>
            <a:xfrm>
              <a:off x="16690068" y="613763"/>
              <a:ext cx="734650" cy="734650"/>
              <a:chOff x="0" y="0"/>
              <a:chExt cx="812800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A7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5309" tIns="35309" rIns="35309" bIns="35309" rtlCol="0" anchor="ctr"/>
              <a:lstStyle/>
              <a:p>
                <a:pPr algn="ctr">
                  <a:lnSpc>
                    <a:spcPts val="1305"/>
                  </a:lnSpc>
                </a:pPr>
                <a:endParaRPr/>
              </a:p>
            </p:txBody>
          </p:sp>
        </p:grpSp>
        <p:sp>
          <p:nvSpPr>
            <p:cNvPr id="75" name="Freeform 75"/>
            <p:cNvSpPr/>
            <p:nvPr/>
          </p:nvSpPr>
          <p:spPr>
            <a:xfrm>
              <a:off x="16850147" y="788349"/>
              <a:ext cx="414491" cy="385477"/>
            </a:xfrm>
            <a:custGeom>
              <a:avLst/>
              <a:gdLst/>
              <a:ahLst/>
              <a:cxnLst/>
              <a:rect l="l" t="t" r="r" b="b"/>
              <a:pathLst>
                <a:path w="414491" h="385477">
                  <a:moveTo>
                    <a:pt x="0" y="0"/>
                  </a:moveTo>
                  <a:lnTo>
                    <a:pt x="414492" y="0"/>
                  </a:lnTo>
                  <a:lnTo>
                    <a:pt x="414492" y="385477"/>
                  </a:lnTo>
                  <a:lnTo>
                    <a:pt x="0" y="385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76" name="AutoShape 76"/>
            <p:cNvSpPr/>
            <p:nvPr/>
          </p:nvSpPr>
          <p:spPr>
            <a:xfrm>
              <a:off x="17424718" y="994136"/>
              <a:ext cx="489304" cy="0"/>
            </a:xfrm>
            <a:prstGeom prst="line">
              <a:avLst/>
            </a:prstGeom>
            <a:ln w="28159" cap="flat">
              <a:solidFill>
                <a:srgbClr val="3195DB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7896350" y="1471835"/>
              <a:ext cx="1204151" cy="391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83"/>
                </a:lnSpc>
              </a:pPr>
              <a:r>
                <a:rPr lang="en-US" sz="1773" b="1">
                  <a:solidFill>
                    <a:srgbClr val="36897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Hospital</a:t>
              </a:r>
            </a:p>
          </p:txBody>
        </p:sp>
        <p:sp>
          <p:nvSpPr>
            <p:cNvPr id="78" name="Freeform 78"/>
            <p:cNvSpPr/>
            <p:nvPr/>
          </p:nvSpPr>
          <p:spPr>
            <a:xfrm>
              <a:off x="17781060" y="328376"/>
              <a:ext cx="1434731" cy="1174686"/>
            </a:xfrm>
            <a:custGeom>
              <a:avLst/>
              <a:gdLst/>
              <a:ahLst/>
              <a:cxnLst/>
              <a:rect l="l" t="t" r="r" b="b"/>
              <a:pathLst>
                <a:path w="1434731" h="1174686">
                  <a:moveTo>
                    <a:pt x="0" y="0"/>
                  </a:moveTo>
                  <a:lnTo>
                    <a:pt x="1434731" y="0"/>
                  </a:lnTo>
                  <a:lnTo>
                    <a:pt x="1434731" y="1174686"/>
                  </a:lnTo>
                  <a:lnTo>
                    <a:pt x="0" y="1174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79" name="AutoShape 79"/>
            <p:cNvSpPr/>
            <p:nvPr/>
          </p:nvSpPr>
          <p:spPr>
            <a:xfrm>
              <a:off x="12469065" y="4197646"/>
              <a:ext cx="3784370" cy="1587506"/>
            </a:xfrm>
            <a:prstGeom prst="line">
              <a:avLst/>
            </a:prstGeom>
            <a:ln w="37545" cap="flat">
              <a:solidFill>
                <a:srgbClr val="000000"/>
              </a:solidFill>
              <a:prstDash val="solid"/>
              <a:headEnd type="triangle" w="lg" len="med"/>
              <a:tailEnd type="none" w="sm" len="sm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80" name="AutoShape 80"/>
            <p:cNvSpPr/>
            <p:nvPr/>
          </p:nvSpPr>
          <p:spPr>
            <a:xfrm>
              <a:off x="12477347" y="4452339"/>
              <a:ext cx="3784370" cy="1587506"/>
            </a:xfrm>
            <a:prstGeom prst="line">
              <a:avLst/>
            </a:prstGeom>
            <a:ln w="37545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81" name="AutoShape 81"/>
            <p:cNvSpPr/>
            <p:nvPr/>
          </p:nvSpPr>
          <p:spPr>
            <a:xfrm>
              <a:off x="9063482" y="4189429"/>
              <a:ext cx="1666062" cy="13048"/>
            </a:xfrm>
            <a:prstGeom prst="line">
              <a:avLst/>
            </a:prstGeom>
            <a:ln w="37545" cap="flat">
              <a:solidFill>
                <a:srgbClr val="000000"/>
              </a:solidFill>
              <a:prstDash val="solid"/>
              <a:headEnd type="triangle" w="lg" len="med"/>
              <a:tailEnd type="triangle" w="lg" len="med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82" name="AutoShape 82"/>
            <p:cNvSpPr/>
            <p:nvPr/>
          </p:nvSpPr>
          <p:spPr>
            <a:xfrm flipV="1">
              <a:off x="11596194" y="2775531"/>
              <a:ext cx="0" cy="894817"/>
            </a:xfrm>
            <a:prstGeom prst="line">
              <a:avLst/>
            </a:prstGeom>
            <a:ln w="93862" cap="flat">
              <a:solidFill>
                <a:srgbClr val="008C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83" name="Freeform 83"/>
            <p:cNvSpPr/>
            <p:nvPr/>
          </p:nvSpPr>
          <p:spPr>
            <a:xfrm>
              <a:off x="10430876" y="1306420"/>
              <a:ext cx="2330637" cy="1922775"/>
            </a:xfrm>
            <a:custGeom>
              <a:avLst/>
              <a:gdLst/>
              <a:ahLst/>
              <a:cxnLst/>
              <a:rect l="l" t="t" r="r" b="b"/>
              <a:pathLst>
                <a:path w="2330637" h="1922775">
                  <a:moveTo>
                    <a:pt x="0" y="0"/>
                  </a:moveTo>
                  <a:lnTo>
                    <a:pt x="2330636" y="0"/>
                  </a:lnTo>
                  <a:lnTo>
                    <a:pt x="2330636" y="1922775"/>
                  </a:lnTo>
                  <a:lnTo>
                    <a:pt x="0" y="1922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8119697" y="7260410"/>
              <a:ext cx="680869" cy="13221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277"/>
                </a:lnSpc>
              </a:pPr>
              <a:r>
                <a:rPr lang="en-US" sz="5912" b="1">
                  <a:solidFill>
                    <a:srgbClr val="CCCBC8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B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541341" y="2160145"/>
              <a:ext cx="1337392" cy="5076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04"/>
                </a:lnSpc>
              </a:pPr>
              <a:r>
                <a:rPr lang="en-US" sz="2217" b="1">
                  <a:solidFill>
                    <a:srgbClr val="922E1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RBC (A)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326984" y="4680176"/>
              <a:ext cx="1204151" cy="391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83"/>
                </a:lnSpc>
              </a:pPr>
              <a:r>
                <a:rPr lang="en-US" sz="1773" b="1">
                  <a:solidFill>
                    <a:srgbClr val="36897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Hospital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200983" y="4702727"/>
              <a:ext cx="618865" cy="391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83"/>
                </a:lnSpc>
              </a:pPr>
              <a:r>
                <a:rPr lang="en-US" sz="1773" b="1">
                  <a:solidFill>
                    <a:srgbClr val="037AC8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HC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956702" y="6699628"/>
              <a:ext cx="2519827" cy="391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83"/>
                </a:lnSpc>
              </a:pPr>
              <a:r>
                <a:rPr lang="en-US" sz="1773" b="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Patient  (DO)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4286752" y="7260410"/>
              <a:ext cx="672802" cy="13221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277"/>
                </a:lnSpc>
              </a:pPr>
              <a:r>
                <a:rPr lang="en-US" sz="5912" b="1">
                  <a:solidFill>
                    <a:srgbClr val="CCCBC8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4827946" y="2160145"/>
              <a:ext cx="1794676" cy="5076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04"/>
                </a:lnSpc>
              </a:pPr>
              <a:r>
                <a:rPr lang="en-US" sz="2217" b="1">
                  <a:solidFill>
                    <a:srgbClr val="922E1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RBC (B)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5666903" y="4680176"/>
              <a:ext cx="1204151" cy="391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83"/>
                </a:lnSpc>
              </a:pPr>
              <a:r>
                <a:rPr lang="en-US" sz="1773" b="1">
                  <a:solidFill>
                    <a:srgbClr val="36897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Hospital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20054858" y="4680176"/>
              <a:ext cx="1204151" cy="391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83"/>
                </a:lnSpc>
              </a:pPr>
              <a:r>
                <a:rPr lang="en-US" sz="1773" b="1">
                  <a:solidFill>
                    <a:srgbClr val="36897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Hospital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21746452" y="4518654"/>
              <a:ext cx="618865" cy="391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83"/>
                </a:lnSpc>
              </a:pPr>
              <a:r>
                <a:rPr lang="en-US" sz="1773" b="1">
                  <a:solidFill>
                    <a:srgbClr val="037AC8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HC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5684575" y="6699628"/>
              <a:ext cx="2519827" cy="391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83"/>
                </a:lnSpc>
              </a:pPr>
              <a:r>
                <a:rPr lang="en-US" sz="1773" b="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Doctor  (AR)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 rot="-1164000">
              <a:off x="3577684" y="4755205"/>
              <a:ext cx="2519827" cy="335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9"/>
                </a:lnSpc>
              </a:pPr>
              <a:r>
                <a:rPr lang="en-US" sz="1478" b="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Register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 rot="-1164000">
              <a:off x="3867890" y="5364437"/>
              <a:ext cx="2519827" cy="335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9"/>
                </a:lnSpc>
              </a:pPr>
              <a:r>
                <a:rPr lang="en-US" sz="1478" b="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VC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336281" y="5879440"/>
              <a:ext cx="2519827" cy="335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9"/>
                </a:lnSpc>
              </a:pPr>
              <a:r>
                <a:rPr lang="en-US" sz="1478" b="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Request for Consent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336281" y="6523850"/>
              <a:ext cx="2519827" cy="335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9"/>
                </a:lnSpc>
              </a:pPr>
              <a:r>
                <a:rPr lang="en-US" sz="1478" b="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Signed Consent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268852" y="3656894"/>
              <a:ext cx="1758313" cy="335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9"/>
                </a:lnSpc>
              </a:pPr>
              <a:r>
                <a:rPr lang="en-US" sz="1478" b="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DID, Proof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 rot="-1164000">
              <a:off x="17253569" y="4780245"/>
              <a:ext cx="2519827" cy="335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9"/>
                </a:lnSpc>
              </a:pPr>
              <a:r>
                <a:rPr lang="en-US" sz="1478" b="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Authenticate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 rot="-1164000">
              <a:off x="17506231" y="5345665"/>
              <a:ext cx="2519827" cy="335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9"/>
                </a:lnSpc>
              </a:pPr>
              <a:r>
                <a:rPr lang="en-US" sz="1478" b="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Token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21124035" y="2747218"/>
              <a:ext cx="1818089" cy="335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9"/>
                </a:lnSpc>
              </a:pPr>
              <a:r>
                <a:rPr lang="en-US" sz="1478" b="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Get DO’s RBC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 rot="1368000">
              <a:off x="13138996" y="4642489"/>
              <a:ext cx="2519827" cy="335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9"/>
                </a:lnSpc>
              </a:pPr>
              <a:r>
                <a:rPr lang="en-US" sz="1478" b="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Request EHR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 rot="1368000">
              <a:off x="12925883" y="5151416"/>
              <a:ext cx="2519827" cy="335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9"/>
                </a:lnSpc>
              </a:pPr>
              <a:r>
                <a:rPr lang="en-US" sz="1478" b="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Encrypted EHR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9194889" y="3829068"/>
              <a:ext cx="1397672" cy="6826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9"/>
                </a:lnSpc>
              </a:pPr>
              <a:r>
                <a:rPr lang="en-US" sz="1478" b="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PRE</a:t>
              </a:r>
            </a:p>
            <a:p>
              <a:pPr algn="ctr">
                <a:lnSpc>
                  <a:spcPts val="2069"/>
                </a:lnSpc>
              </a:pPr>
              <a:endParaRPr lang="en-US" sz="14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endParaRP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7620831" y="9568468"/>
            <a:ext cx="504464" cy="504464"/>
            <a:chOff x="0" y="0"/>
            <a:chExt cx="672618" cy="672618"/>
          </a:xfrm>
        </p:grpSpPr>
        <p:grpSp>
          <p:nvGrpSpPr>
            <p:cNvPr id="107" name="Group 107"/>
            <p:cNvGrpSpPr/>
            <p:nvPr/>
          </p:nvGrpSpPr>
          <p:grpSpPr>
            <a:xfrm>
              <a:off x="0" y="0"/>
              <a:ext cx="672618" cy="672618"/>
              <a:chOff x="0" y="0"/>
              <a:chExt cx="174157" cy="174157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0" y="0"/>
                <a:ext cx="174157" cy="174157"/>
              </a:xfrm>
              <a:custGeom>
                <a:avLst/>
                <a:gdLst/>
                <a:ahLst/>
                <a:cxnLst/>
                <a:rect l="l" t="t" r="r" b="b"/>
                <a:pathLst>
                  <a:path w="174157" h="174157">
                    <a:moveTo>
                      <a:pt x="87079" y="0"/>
                    </a:moveTo>
                    <a:lnTo>
                      <a:pt x="87079" y="0"/>
                    </a:lnTo>
                    <a:cubicBezTo>
                      <a:pt x="135171" y="0"/>
                      <a:pt x="174157" y="38986"/>
                      <a:pt x="174157" y="87079"/>
                    </a:cubicBezTo>
                    <a:lnTo>
                      <a:pt x="174157" y="87079"/>
                    </a:lnTo>
                    <a:cubicBezTo>
                      <a:pt x="174157" y="135171"/>
                      <a:pt x="135171" y="174157"/>
                      <a:pt x="87079" y="174157"/>
                    </a:cubicBezTo>
                    <a:lnTo>
                      <a:pt x="87079" y="174157"/>
                    </a:lnTo>
                    <a:cubicBezTo>
                      <a:pt x="38986" y="174157"/>
                      <a:pt x="0" y="135171"/>
                      <a:pt x="0" y="87079"/>
                    </a:cubicBezTo>
                    <a:lnTo>
                      <a:pt x="0" y="87079"/>
                    </a:lnTo>
                    <a:cubicBezTo>
                      <a:pt x="0" y="38986"/>
                      <a:pt x="38986" y="0"/>
                      <a:pt x="87079" y="0"/>
                    </a:cubicBezTo>
                    <a:close/>
                  </a:path>
                </a:pathLst>
              </a:custGeom>
              <a:solidFill>
                <a:srgbClr val="6BBEF4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0" y="-57150"/>
                <a:ext cx="174157" cy="231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10" name="TextBox 110"/>
            <p:cNvSpPr txBox="1"/>
            <p:nvPr/>
          </p:nvSpPr>
          <p:spPr>
            <a:xfrm>
              <a:off x="46424" y="72949"/>
              <a:ext cx="579770" cy="47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r>
                <a:rPr lang="en-US" sz="2136" b="1">
                  <a:solidFill>
                    <a:srgbClr val="FCFFFE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19239" r="-19959" b="-31376"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" name="TextBox 3"/>
          <p:cNvSpPr txBox="1"/>
          <p:nvPr/>
        </p:nvSpPr>
        <p:spPr>
          <a:xfrm>
            <a:off x="5295954" y="8679579"/>
            <a:ext cx="7696092" cy="72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7"/>
              </a:lnSpc>
              <a:spcBef>
                <a:spcPct val="0"/>
              </a:spcBef>
            </a:pPr>
            <a:r>
              <a:rPr lang="en-US" sz="5280" b="1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Distributed Indexing</a:t>
            </a:r>
          </a:p>
        </p:txBody>
      </p:sp>
      <p:sp>
        <p:nvSpPr>
          <p:cNvPr id="4" name="Freeform 4"/>
          <p:cNvSpPr/>
          <p:nvPr/>
        </p:nvSpPr>
        <p:spPr>
          <a:xfrm rot="-851169">
            <a:off x="15999022" y="8206656"/>
            <a:ext cx="5861034" cy="5912771"/>
          </a:xfrm>
          <a:custGeom>
            <a:avLst/>
            <a:gdLst/>
            <a:ahLst/>
            <a:cxnLst/>
            <a:rect l="l" t="t" r="r" b="b"/>
            <a:pathLst>
              <a:path w="5861034" h="5912771">
                <a:moveTo>
                  <a:pt x="0" y="0"/>
                </a:moveTo>
                <a:lnTo>
                  <a:pt x="5861034" y="0"/>
                </a:lnTo>
                <a:lnTo>
                  <a:pt x="5861034" y="5912771"/>
                </a:lnTo>
                <a:lnTo>
                  <a:pt x="0" y="591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grpSp>
        <p:nvGrpSpPr>
          <p:cNvPr id="5" name="Group 5"/>
          <p:cNvGrpSpPr/>
          <p:nvPr/>
        </p:nvGrpSpPr>
        <p:grpSpPr>
          <a:xfrm>
            <a:off x="3062071" y="4566134"/>
            <a:ext cx="1801072" cy="615504"/>
            <a:chOff x="0" y="0"/>
            <a:chExt cx="1540294" cy="5263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r>
                <a:rPr lang="en-US" sz="937">
                  <a:solidFill>
                    <a:srgbClr val="FFFFFF"/>
                  </a:solidFill>
                  <a:latin typeface="Chonburi"/>
                  <a:ea typeface="Chonburi"/>
                  <a:cs typeface="Chonburi"/>
                  <a:sym typeface="Chonburi"/>
                </a:rPr>
                <a:t>hid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43342" y="5161837"/>
            <a:ext cx="733748" cy="615504"/>
            <a:chOff x="0" y="0"/>
            <a:chExt cx="627508" cy="5263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27508" cy="526385"/>
            </a:xfrm>
            <a:custGeom>
              <a:avLst/>
              <a:gdLst/>
              <a:ahLst/>
              <a:cxnLst/>
              <a:rect l="l" t="t" r="r" b="b"/>
              <a:pathLst>
                <a:path w="627508" h="526385">
                  <a:moveTo>
                    <a:pt x="0" y="0"/>
                  </a:moveTo>
                  <a:lnTo>
                    <a:pt x="627508" y="0"/>
                  </a:lnTo>
                  <a:lnTo>
                    <a:pt x="627508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627508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062071" y="5757541"/>
            <a:ext cx="1801072" cy="615504"/>
            <a:chOff x="0" y="0"/>
            <a:chExt cx="1540294" cy="52638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43342" y="6353244"/>
            <a:ext cx="733748" cy="615504"/>
            <a:chOff x="0" y="0"/>
            <a:chExt cx="627508" cy="52638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27508" cy="526385"/>
            </a:xfrm>
            <a:custGeom>
              <a:avLst/>
              <a:gdLst/>
              <a:ahLst/>
              <a:cxnLst/>
              <a:rect l="l" t="t" r="r" b="b"/>
              <a:pathLst>
                <a:path w="627508" h="526385">
                  <a:moveTo>
                    <a:pt x="0" y="0"/>
                  </a:moveTo>
                  <a:lnTo>
                    <a:pt x="627508" y="0"/>
                  </a:lnTo>
                  <a:lnTo>
                    <a:pt x="627508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627508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062071" y="5161837"/>
            <a:ext cx="1801072" cy="615504"/>
            <a:chOff x="0" y="0"/>
            <a:chExt cx="1540294" cy="52638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843342" y="5757541"/>
            <a:ext cx="733748" cy="615504"/>
            <a:chOff x="0" y="0"/>
            <a:chExt cx="627508" cy="52638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27508" cy="526385"/>
            </a:xfrm>
            <a:custGeom>
              <a:avLst/>
              <a:gdLst/>
              <a:ahLst/>
              <a:cxnLst/>
              <a:rect l="l" t="t" r="r" b="b"/>
              <a:pathLst>
                <a:path w="627508" h="526385">
                  <a:moveTo>
                    <a:pt x="0" y="0"/>
                  </a:moveTo>
                  <a:lnTo>
                    <a:pt x="627508" y="0"/>
                  </a:lnTo>
                  <a:lnTo>
                    <a:pt x="627508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627508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062071" y="6353244"/>
            <a:ext cx="1801072" cy="615504"/>
            <a:chOff x="0" y="0"/>
            <a:chExt cx="1540294" cy="52638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843342" y="4566134"/>
            <a:ext cx="733748" cy="615504"/>
            <a:chOff x="0" y="0"/>
            <a:chExt cx="627508" cy="52638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27508" cy="526385"/>
            </a:xfrm>
            <a:custGeom>
              <a:avLst/>
              <a:gdLst/>
              <a:ahLst/>
              <a:cxnLst/>
              <a:rect l="l" t="t" r="r" b="b"/>
              <a:pathLst>
                <a:path w="627508" h="526385">
                  <a:moveTo>
                    <a:pt x="0" y="0"/>
                  </a:moveTo>
                  <a:lnTo>
                    <a:pt x="627508" y="0"/>
                  </a:lnTo>
                  <a:lnTo>
                    <a:pt x="627508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627508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320974" y="2007734"/>
            <a:ext cx="1801072" cy="615504"/>
            <a:chOff x="0" y="0"/>
            <a:chExt cx="1540294" cy="52638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102246" y="2603438"/>
            <a:ext cx="1801072" cy="615504"/>
            <a:chOff x="0" y="0"/>
            <a:chExt cx="1540294" cy="52638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320974" y="3199141"/>
            <a:ext cx="1801072" cy="615504"/>
            <a:chOff x="0" y="0"/>
            <a:chExt cx="1540294" cy="52638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102246" y="3794845"/>
            <a:ext cx="1801072" cy="615504"/>
            <a:chOff x="0" y="0"/>
            <a:chExt cx="1540294" cy="52638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320974" y="2603438"/>
            <a:ext cx="1801072" cy="615504"/>
            <a:chOff x="0" y="0"/>
            <a:chExt cx="1540294" cy="52638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102246" y="3199141"/>
            <a:ext cx="1801072" cy="615504"/>
            <a:chOff x="0" y="0"/>
            <a:chExt cx="1540294" cy="52638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320974" y="3794845"/>
            <a:ext cx="1801072" cy="615504"/>
            <a:chOff x="0" y="0"/>
            <a:chExt cx="1540294" cy="52638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102246" y="2007734"/>
            <a:ext cx="1801072" cy="615504"/>
            <a:chOff x="0" y="0"/>
            <a:chExt cx="1540294" cy="52638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030254" y="4693013"/>
            <a:ext cx="359923" cy="359923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3062071" y="4684194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hid1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062071" y="5279898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hid2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062071" y="5875601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hid3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062071" y="6471305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hid4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5030254" y="5289627"/>
            <a:ext cx="359923" cy="359923"/>
            <a:chOff x="0" y="0"/>
            <a:chExt cx="812800" cy="8128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030254" y="6481034"/>
            <a:ext cx="359923" cy="359923"/>
            <a:chOff x="0" y="0"/>
            <a:chExt cx="812800" cy="8128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7320974" y="2125794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patient1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320974" y="2721498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patient1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320974" y="3317202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patient2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320974" y="3912905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patient2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102246" y="2125794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DDO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102246" y="2723832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Proof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102246" y="3321869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DDO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102246" y="3919906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Proof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7311074" y="6518930"/>
            <a:ext cx="1801072" cy="615504"/>
            <a:chOff x="0" y="0"/>
            <a:chExt cx="1540294" cy="526385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092345" y="7114633"/>
            <a:ext cx="1801072" cy="615504"/>
            <a:chOff x="0" y="0"/>
            <a:chExt cx="1540294" cy="526385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092345" y="6518930"/>
            <a:ext cx="1801072" cy="615504"/>
            <a:chOff x="0" y="0"/>
            <a:chExt cx="1540294" cy="526385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311074" y="7114633"/>
            <a:ext cx="1801072" cy="615504"/>
            <a:chOff x="0" y="0"/>
            <a:chExt cx="1540294" cy="52638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7311074" y="6636990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doctor2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311074" y="7232693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doctor2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9092345" y="6641657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DDO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9092345" y="7239694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Proof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11643586" y="4556234"/>
            <a:ext cx="1801072" cy="615504"/>
            <a:chOff x="0" y="0"/>
            <a:chExt cx="1540294" cy="526385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3424858" y="5151937"/>
            <a:ext cx="1801072" cy="615504"/>
            <a:chOff x="0" y="0"/>
            <a:chExt cx="1540294" cy="526385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1643586" y="5747641"/>
            <a:ext cx="1801072" cy="615504"/>
            <a:chOff x="0" y="0"/>
            <a:chExt cx="1540294" cy="526385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3424858" y="6343344"/>
            <a:ext cx="1801072" cy="615504"/>
            <a:chOff x="0" y="0"/>
            <a:chExt cx="1540294" cy="526385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1643586" y="5151937"/>
            <a:ext cx="1801072" cy="615504"/>
            <a:chOff x="0" y="0"/>
            <a:chExt cx="1540294" cy="526385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3424858" y="5747641"/>
            <a:ext cx="1801072" cy="615504"/>
            <a:chOff x="0" y="0"/>
            <a:chExt cx="1540294" cy="526385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11643586" y="6343344"/>
            <a:ext cx="1801072" cy="615504"/>
            <a:chOff x="0" y="0"/>
            <a:chExt cx="1540294" cy="526385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3424858" y="4556234"/>
            <a:ext cx="1801072" cy="615504"/>
            <a:chOff x="0" y="0"/>
            <a:chExt cx="1540294" cy="526385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1540294" cy="526385"/>
            </a:xfrm>
            <a:custGeom>
              <a:avLst/>
              <a:gdLst/>
              <a:ahLst/>
              <a:cxnLst/>
              <a:rect l="l" t="t" r="r" b="b"/>
              <a:pathLst>
                <a:path w="1540294" h="526385">
                  <a:moveTo>
                    <a:pt x="0" y="0"/>
                  </a:moveTo>
                  <a:lnTo>
                    <a:pt x="1540294" y="0"/>
                  </a:lnTo>
                  <a:lnTo>
                    <a:pt x="1540294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0" y="-28575"/>
              <a:ext cx="1540294" cy="554960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sp>
        <p:nvSpPr>
          <p:cNvPr id="114" name="TextBox 114"/>
          <p:cNvSpPr txBox="1"/>
          <p:nvPr/>
        </p:nvSpPr>
        <p:spPr>
          <a:xfrm>
            <a:off x="11643586" y="4674294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patient3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1643586" y="5269997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patient3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1643586" y="5865701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doctor1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1643586" y="6461404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doctor1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3424858" y="4674294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DDO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3424858" y="5272331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Proof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3424858" y="5870368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DDO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3424858" y="6468405"/>
            <a:ext cx="1801072" cy="33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9"/>
              </a:lnSpc>
              <a:spcBef>
                <a:spcPct val="0"/>
              </a:spcBef>
            </a:pPr>
            <a:r>
              <a:rPr lang="en-US" sz="187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Proof</a:t>
            </a:r>
          </a:p>
        </p:txBody>
      </p:sp>
      <p:sp>
        <p:nvSpPr>
          <p:cNvPr id="122" name="AutoShape 122"/>
          <p:cNvSpPr/>
          <p:nvPr/>
        </p:nvSpPr>
        <p:spPr>
          <a:xfrm flipV="1">
            <a:off x="5324771" y="2315486"/>
            <a:ext cx="1996203" cy="241868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TH"/>
          </a:p>
        </p:txBody>
      </p:sp>
      <p:sp>
        <p:nvSpPr>
          <p:cNvPr id="123" name="AutoShape 123"/>
          <p:cNvSpPr/>
          <p:nvPr/>
        </p:nvSpPr>
        <p:spPr>
          <a:xfrm flipV="1">
            <a:off x="5389398" y="4863985"/>
            <a:ext cx="6254188" cy="5887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TH"/>
          </a:p>
        </p:txBody>
      </p:sp>
      <p:grpSp>
        <p:nvGrpSpPr>
          <p:cNvPr id="124" name="Group 124"/>
          <p:cNvGrpSpPr/>
          <p:nvPr/>
        </p:nvGrpSpPr>
        <p:grpSpPr>
          <a:xfrm>
            <a:off x="5029474" y="5886242"/>
            <a:ext cx="359923" cy="359923"/>
            <a:chOff x="0" y="0"/>
            <a:chExt cx="812800" cy="812800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9692" tIns="39692" rIns="39692" bIns="39692" rtlCol="0" anchor="ctr"/>
            <a:lstStyle/>
            <a:p>
              <a:pPr algn="ctr">
                <a:lnSpc>
                  <a:spcPts val="1312"/>
                </a:lnSpc>
              </a:pPr>
              <a:endParaRPr/>
            </a:p>
          </p:txBody>
        </p:sp>
      </p:grpSp>
      <p:sp>
        <p:nvSpPr>
          <p:cNvPr id="127" name="AutoShape 127"/>
          <p:cNvSpPr/>
          <p:nvPr/>
        </p:nvSpPr>
        <p:spPr>
          <a:xfrm>
            <a:off x="5378706" y="6127454"/>
            <a:ext cx="1932368" cy="6992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TH"/>
          </a:p>
        </p:txBody>
      </p:sp>
      <p:grpSp>
        <p:nvGrpSpPr>
          <p:cNvPr id="128" name="Group 128"/>
          <p:cNvGrpSpPr/>
          <p:nvPr/>
        </p:nvGrpSpPr>
        <p:grpSpPr>
          <a:xfrm>
            <a:off x="17620831" y="9568468"/>
            <a:ext cx="504464" cy="504464"/>
            <a:chOff x="0" y="0"/>
            <a:chExt cx="672618" cy="672618"/>
          </a:xfrm>
        </p:grpSpPr>
        <p:grpSp>
          <p:nvGrpSpPr>
            <p:cNvPr id="129" name="Group 129"/>
            <p:cNvGrpSpPr/>
            <p:nvPr/>
          </p:nvGrpSpPr>
          <p:grpSpPr>
            <a:xfrm>
              <a:off x="0" y="0"/>
              <a:ext cx="672618" cy="672618"/>
              <a:chOff x="0" y="0"/>
              <a:chExt cx="174157" cy="174157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0" y="0"/>
                <a:ext cx="174157" cy="174157"/>
              </a:xfrm>
              <a:custGeom>
                <a:avLst/>
                <a:gdLst/>
                <a:ahLst/>
                <a:cxnLst/>
                <a:rect l="l" t="t" r="r" b="b"/>
                <a:pathLst>
                  <a:path w="174157" h="174157">
                    <a:moveTo>
                      <a:pt x="87079" y="0"/>
                    </a:moveTo>
                    <a:lnTo>
                      <a:pt x="87079" y="0"/>
                    </a:lnTo>
                    <a:cubicBezTo>
                      <a:pt x="135171" y="0"/>
                      <a:pt x="174157" y="38986"/>
                      <a:pt x="174157" y="87079"/>
                    </a:cubicBezTo>
                    <a:lnTo>
                      <a:pt x="174157" y="87079"/>
                    </a:lnTo>
                    <a:cubicBezTo>
                      <a:pt x="174157" y="135171"/>
                      <a:pt x="135171" y="174157"/>
                      <a:pt x="87079" y="174157"/>
                    </a:cubicBezTo>
                    <a:lnTo>
                      <a:pt x="87079" y="174157"/>
                    </a:lnTo>
                    <a:cubicBezTo>
                      <a:pt x="38986" y="174157"/>
                      <a:pt x="0" y="135171"/>
                      <a:pt x="0" y="87079"/>
                    </a:cubicBezTo>
                    <a:lnTo>
                      <a:pt x="0" y="87079"/>
                    </a:lnTo>
                    <a:cubicBezTo>
                      <a:pt x="0" y="38986"/>
                      <a:pt x="38986" y="0"/>
                      <a:pt x="87079" y="0"/>
                    </a:cubicBezTo>
                    <a:close/>
                  </a:path>
                </a:pathLst>
              </a:custGeom>
              <a:solidFill>
                <a:srgbClr val="6BBEF4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131" name="TextBox 131"/>
              <p:cNvSpPr txBox="1"/>
              <p:nvPr/>
            </p:nvSpPr>
            <p:spPr>
              <a:xfrm>
                <a:off x="0" y="-57150"/>
                <a:ext cx="174157" cy="231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32" name="TextBox 132"/>
            <p:cNvSpPr txBox="1"/>
            <p:nvPr/>
          </p:nvSpPr>
          <p:spPr>
            <a:xfrm>
              <a:off x="46424" y="72949"/>
              <a:ext cx="579770" cy="47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r>
                <a:rPr lang="en-US" sz="2136" b="1">
                  <a:solidFill>
                    <a:srgbClr val="FCFFFE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19239" r="-19959" b="-31376"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" name="Freeform 3"/>
          <p:cNvSpPr/>
          <p:nvPr/>
        </p:nvSpPr>
        <p:spPr>
          <a:xfrm rot="-851169">
            <a:off x="15999022" y="8206656"/>
            <a:ext cx="5861034" cy="5912771"/>
          </a:xfrm>
          <a:custGeom>
            <a:avLst/>
            <a:gdLst/>
            <a:ahLst/>
            <a:cxnLst/>
            <a:rect l="l" t="t" r="r" b="b"/>
            <a:pathLst>
              <a:path w="5861034" h="5912771">
                <a:moveTo>
                  <a:pt x="0" y="0"/>
                </a:moveTo>
                <a:lnTo>
                  <a:pt x="5861034" y="0"/>
                </a:lnTo>
                <a:lnTo>
                  <a:pt x="5861034" y="5912771"/>
                </a:lnTo>
                <a:lnTo>
                  <a:pt x="0" y="591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sp>
        <p:nvSpPr>
          <p:cNvPr id="4" name="Freeform 4"/>
          <p:cNvSpPr/>
          <p:nvPr/>
        </p:nvSpPr>
        <p:spPr>
          <a:xfrm>
            <a:off x="1895302" y="1028700"/>
            <a:ext cx="6413086" cy="5070358"/>
          </a:xfrm>
          <a:custGeom>
            <a:avLst/>
            <a:gdLst/>
            <a:ahLst/>
            <a:cxnLst/>
            <a:rect l="l" t="t" r="r" b="b"/>
            <a:pathLst>
              <a:path w="6413086" h="5070358">
                <a:moveTo>
                  <a:pt x="0" y="0"/>
                </a:moveTo>
                <a:lnTo>
                  <a:pt x="6413086" y="0"/>
                </a:lnTo>
                <a:lnTo>
                  <a:pt x="6413086" y="5070358"/>
                </a:lnTo>
                <a:lnTo>
                  <a:pt x="0" y="5070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371" b="-124705"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5" name="Group 5"/>
          <p:cNvGrpSpPr/>
          <p:nvPr/>
        </p:nvGrpSpPr>
        <p:grpSpPr>
          <a:xfrm>
            <a:off x="9979612" y="1028700"/>
            <a:ext cx="6413086" cy="7416439"/>
            <a:chOff x="0" y="0"/>
            <a:chExt cx="8550782" cy="9888585"/>
          </a:xfrm>
        </p:grpSpPr>
        <p:sp>
          <p:nvSpPr>
            <p:cNvPr id="6" name="Freeform 6"/>
            <p:cNvSpPr/>
            <p:nvPr/>
          </p:nvSpPr>
          <p:spPr>
            <a:xfrm>
              <a:off x="0" y="1508006"/>
              <a:ext cx="8550782" cy="8380579"/>
            </a:xfrm>
            <a:custGeom>
              <a:avLst/>
              <a:gdLst/>
              <a:ahLst/>
              <a:cxnLst/>
              <a:rect l="l" t="t" r="r" b="b"/>
              <a:pathLst>
                <a:path w="8550782" h="8380579">
                  <a:moveTo>
                    <a:pt x="0" y="0"/>
                  </a:moveTo>
                  <a:lnTo>
                    <a:pt x="8550782" y="0"/>
                  </a:lnTo>
                  <a:lnTo>
                    <a:pt x="8550782" y="8380579"/>
                  </a:lnTo>
                  <a:lnTo>
                    <a:pt x="0" y="83805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7212"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8550782" cy="1527948"/>
            </a:xfrm>
            <a:custGeom>
              <a:avLst/>
              <a:gdLst/>
              <a:ahLst/>
              <a:cxnLst/>
              <a:rect l="l" t="t" r="r" b="b"/>
              <a:pathLst>
                <a:path w="8550782" h="1527948">
                  <a:moveTo>
                    <a:pt x="0" y="0"/>
                  </a:moveTo>
                  <a:lnTo>
                    <a:pt x="8550782" y="0"/>
                  </a:lnTo>
                  <a:lnTo>
                    <a:pt x="8550782" y="1527948"/>
                  </a:lnTo>
                  <a:lnTo>
                    <a:pt x="0" y="1527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2614" b="-894220"/>
              </a:stretch>
            </a:blipFill>
          </p:spPr>
          <p:txBody>
            <a:bodyPr/>
            <a:lstStyle/>
            <a:p>
              <a:endParaRPr lang="en-TH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237852" y="8963215"/>
            <a:ext cx="7812297" cy="656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88"/>
              </a:lnSpc>
              <a:spcBef>
                <a:spcPct val="0"/>
              </a:spcBef>
            </a:pPr>
            <a:r>
              <a:rPr lang="en-US" sz="4800" b="1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User Registration Process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7639881" y="9568468"/>
            <a:ext cx="504464" cy="504464"/>
            <a:chOff x="0" y="0"/>
            <a:chExt cx="672618" cy="672618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72618" cy="672618"/>
              <a:chOff x="0" y="0"/>
              <a:chExt cx="174157" cy="17415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74157" cy="174157"/>
              </a:xfrm>
              <a:custGeom>
                <a:avLst/>
                <a:gdLst/>
                <a:ahLst/>
                <a:cxnLst/>
                <a:rect l="l" t="t" r="r" b="b"/>
                <a:pathLst>
                  <a:path w="174157" h="174157">
                    <a:moveTo>
                      <a:pt x="87079" y="0"/>
                    </a:moveTo>
                    <a:lnTo>
                      <a:pt x="87079" y="0"/>
                    </a:lnTo>
                    <a:cubicBezTo>
                      <a:pt x="135171" y="0"/>
                      <a:pt x="174157" y="38986"/>
                      <a:pt x="174157" y="87079"/>
                    </a:cubicBezTo>
                    <a:lnTo>
                      <a:pt x="174157" y="87079"/>
                    </a:lnTo>
                    <a:cubicBezTo>
                      <a:pt x="174157" y="135171"/>
                      <a:pt x="135171" y="174157"/>
                      <a:pt x="87079" y="174157"/>
                    </a:cubicBezTo>
                    <a:lnTo>
                      <a:pt x="87079" y="174157"/>
                    </a:lnTo>
                    <a:cubicBezTo>
                      <a:pt x="38986" y="174157"/>
                      <a:pt x="0" y="135171"/>
                      <a:pt x="0" y="87079"/>
                    </a:cubicBezTo>
                    <a:lnTo>
                      <a:pt x="0" y="87079"/>
                    </a:lnTo>
                    <a:cubicBezTo>
                      <a:pt x="0" y="38986"/>
                      <a:pt x="38986" y="0"/>
                      <a:pt x="87079" y="0"/>
                    </a:cubicBezTo>
                    <a:close/>
                  </a:path>
                </a:pathLst>
              </a:custGeom>
              <a:solidFill>
                <a:srgbClr val="6BBEF4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57150"/>
                <a:ext cx="174157" cy="231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6424" y="72949"/>
              <a:ext cx="579770" cy="47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r>
                <a:rPr lang="en-US" sz="2136" b="1">
                  <a:solidFill>
                    <a:srgbClr val="FCFFFE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41151">
            <a:off x="-888644" y="-1837067"/>
            <a:ext cx="20065287" cy="13961134"/>
          </a:xfrm>
          <a:custGeom>
            <a:avLst/>
            <a:gdLst/>
            <a:ahLst/>
            <a:cxnLst/>
            <a:rect l="l" t="t" r="r" b="b"/>
            <a:pathLst>
              <a:path w="20065287" h="13961134">
                <a:moveTo>
                  <a:pt x="2200657" y="0"/>
                </a:moveTo>
                <a:lnTo>
                  <a:pt x="20065288" y="3912280"/>
                </a:lnTo>
                <a:lnTo>
                  <a:pt x="17864631" y="13961134"/>
                </a:lnTo>
                <a:lnTo>
                  <a:pt x="0" y="10048854"/>
                </a:lnTo>
                <a:lnTo>
                  <a:pt x="2200657" y="0"/>
                </a:lnTo>
                <a:close/>
              </a:path>
            </a:pathLst>
          </a:custGeom>
          <a:blipFill>
            <a:blip r:embed="rId2"/>
            <a:stretch>
              <a:fillRect l="-1241" r="-8451" b="-11342"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" name="Freeform 3"/>
          <p:cNvSpPr/>
          <p:nvPr/>
        </p:nvSpPr>
        <p:spPr>
          <a:xfrm rot="2871075">
            <a:off x="15350015" y="-2421040"/>
            <a:ext cx="5078392" cy="5072044"/>
          </a:xfrm>
          <a:custGeom>
            <a:avLst/>
            <a:gdLst/>
            <a:ahLst/>
            <a:cxnLst/>
            <a:rect l="l" t="t" r="r" b="b"/>
            <a:pathLst>
              <a:path w="5078392" h="5072044">
                <a:moveTo>
                  <a:pt x="0" y="0"/>
                </a:moveTo>
                <a:lnTo>
                  <a:pt x="5078392" y="0"/>
                </a:lnTo>
                <a:lnTo>
                  <a:pt x="5078392" y="5072044"/>
                </a:lnTo>
                <a:lnTo>
                  <a:pt x="0" y="50720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grpSp>
        <p:nvGrpSpPr>
          <p:cNvPr id="4" name="Group 4"/>
          <p:cNvGrpSpPr/>
          <p:nvPr/>
        </p:nvGrpSpPr>
        <p:grpSpPr>
          <a:xfrm>
            <a:off x="15730921" y="8336393"/>
            <a:ext cx="2557079" cy="1843813"/>
            <a:chOff x="0" y="0"/>
            <a:chExt cx="3409439" cy="2458418"/>
          </a:xfrm>
        </p:grpSpPr>
        <p:sp>
          <p:nvSpPr>
            <p:cNvPr id="5" name="Freeform 5"/>
            <p:cNvSpPr/>
            <p:nvPr/>
          </p:nvSpPr>
          <p:spPr>
            <a:xfrm>
              <a:off x="978902" y="0"/>
              <a:ext cx="1451634" cy="1823088"/>
            </a:xfrm>
            <a:custGeom>
              <a:avLst/>
              <a:gdLst/>
              <a:ahLst/>
              <a:cxnLst/>
              <a:rect l="l" t="t" r="r" b="b"/>
              <a:pathLst>
                <a:path w="1451634" h="1823088">
                  <a:moveTo>
                    <a:pt x="0" y="0"/>
                  </a:moveTo>
                  <a:lnTo>
                    <a:pt x="1451635" y="0"/>
                  </a:lnTo>
                  <a:lnTo>
                    <a:pt x="1451635" y="1823088"/>
                  </a:lnTo>
                  <a:lnTo>
                    <a:pt x="0" y="1823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50816"/>
              <a:ext cx="3409439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Patient  (DO)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620831" y="114982"/>
            <a:ext cx="504464" cy="504464"/>
            <a:chOff x="0" y="0"/>
            <a:chExt cx="672618" cy="67261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72618" cy="672618"/>
              <a:chOff x="0" y="0"/>
              <a:chExt cx="174157" cy="17415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4157" cy="174157"/>
              </a:xfrm>
              <a:custGeom>
                <a:avLst/>
                <a:gdLst/>
                <a:ahLst/>
                <a:cxnLst/>
                <a:rect l="l" t="t" r="r" b="b"/>
                <a:pathLst>
                  <a:path w="174157" h="174157">
                    <a:moveTo>
                      <a:pt x="87079" y="0"/>
                    </a:moveTo>
                    <a:lnTo>
                      <a:pt x="87079" y="0"/>
                    </a:lnTo>
                    <a:cubicBezTo>
                      <a:pt x="135171" y="0"/>
                      <a:pt x="174157" y="38986"/>
                      <a:pt x="174157" y="87079"/>
                    </a:cubicBezTo>
                    <a:lnTo>
                      <a:pt x="174157" y="87079"/>
                    </a:lnTo>
                    <a:cubicBezTo>
                      <a:pt x="174157" y="135171"/>
                      <a:pt x="135171" y="174157"/>
                      <a:pt x="87079" y="174157"/>
                    </a:cubicBezTo>
                    <a:lnTo>
                      <a:pt x="87079" y="174157"/>
                    </a:lnTo>
                    <a:cubicBezTo>
                      <a:pt x="38986" y="174157"/>
                      <a:pt x="0" y="135171"/>
                      <a:pt x="0" y="87079"/>
                    </a:cubicBezTo>
                    <a:lnTo>
                      <a:pt x="0" y="87079"/>
                    </a:lnTo>
                    <a:cubicBezTo>
                      <a:pt x="0" y="38986"/>
                      <a:pt x="38986" y="0"/>
                      <a:pt x="87079" y="0"/>
                    </a:cubicBezTo>
                    <a:close/>
                  </a:path>
                </a:pathLst>
              </a:custGeom>
              <a:solidFill>
                <a:srgbClr val="6BBEF4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74157" cy="231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46424" y="72949"/>
              <a:ext cx="579770" cy="47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r>
                <a:rPr lang="en-US" sz="2136" b="1">
                  <a:solidFill>
                    <a:srgbClr val="FCFFFE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9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88449" y="1123950"/>
            <a:ext cx="7466684" cy="72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8"/>
              </a:lnSpc>
              <a:spcBef>
                <a:spcPct val="0"/>
              </a:spcBef>
            </a:pPr>
            <a:r>
              <a:rPr lang="en-US" sz="5196" b="1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EHR Encryption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45592" y="8710930"/>
            <a:ext cx="1814057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8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72128" y="8699594"/>
            <a:ext cx="1556668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FF0000">
                    <a:alpha val="19608"/>
                  </a:srgbClr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AR’s SK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849016" y="2510288"/>
            <a:ext cx="2589968" cy="2669385"/>
            <a:chOff x="0" y="0"/>
            <a:chExt cx="682131" cy="7030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82131" cy="703048"/>
            </a:xfrm>
            <a:custGeom>
              <a:avLst/>
              <a:gdLst/>
              <a:ahLst/>
              <a:cxnLst/>
              <a:rect l="l" t="t" r="r" b="b"/>
              <a:pathLst>
                <a:path w="682131" h="703048">
                  <a:moveTo>
                    <a:pt x="0" y="0"/>
                  </a:moveTo>
                  <a:lnTo>
                    <a:pt x="682131" y="0"/>
                  </a:lnTo>
                  <a:lnTo>
                    <a:pt x="682131" y="703048"/>
                  </a:lnTo>
                  <a:lnTo>
                    <a:pt x="0" y="703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42875"/>
              <a:ext cx="682131" cy="845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3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8328962" y="2856416"/>
            <a:ext cx="1630076" cy="1495595"/>
          </a:xfrm>
          <a:custGeom>
            <a:avLst/>
            <a:gdLst/>
            <a:ahLst/>
            <a:cxnLst/>
            <a:rect l="l" t="t" r="r" b="b"/>
            <a:pathLst>
              <a:path w="1630076" h="1495595">
                <a:moveTo>
                  <a:pt x="0" y="0"/>
                </a:moveTo>
                <a:lnTo>
                  <a:pt x="1630076" y="0"/>
                </a:lnTo>
                <a:lnTo>
                  <a:pt x="1630076" y="1495595"/>
                </a:lnTo>
                <a:lnTo>
                  <a:pt x="0" y="1495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19" name="Group 19"/>
          <p:cNvGrpSpPr/>
          <p:nvPr/>
        </p:nvGrpSpPr>
        <p:grpSpPr>
          <a:xfrm>
            <a:off x="1028700" y="2510288"/>
            <a:ext cx="2589968" cy="2669385"/>
            <a:chOff x="0" y="0"/>
            <a:chExt cx="682131" cy="70304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2131" cy="703048"/>
            </a:xfrm>
            <a:custGeom>
              <a:avLst/>
              <a:gdLst/>
              <a:ahLst/>
              <a:cxnLst/>
              <a:rect l="l" t="t" r="r" b="b"/>
              <a:pathLst>
                <a:path w="682131" h="703048">
                  <a:moveTo>
                    <a:pt x="0" y="0"/>
                  </a:moveTo>
                  <a:lnTo>
                    <a:pt x="682131" y="0"/>
                  </a:lnTo>
                  <a:lnTo>
                    <a:pt x="682131" y="703048"/>
                  </a:lnTo>
                  <a:lnTo>
                    <a:pt x="0" y="703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42875"/>
              <a:ext cx="682131" cy="845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3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400477" y="2856416"/>
            <a:ext cx="1846414" cy="1495595"/>
          </a:xfrm>
          <a:custGeom>
            <a:avLst/>
            <a:gdLst/>
            <a:ahLst/>
            <a:cxnLst/>
            <a:rect l="l" t="t" r="r" b="b"/>
            <a:pathLst>
              <a:path w="1846414" h="1495595">
                <a:moveTo>
                  <a:pt x="0" y="0"/>
                </a:moveTo>
                <a:lnTo>
                  <a:pt x="1846414" y="0"/>
                </a:lnTo>
                <a:lnTo>
                  <a:pt x="1846414" y="1495595"/>
                </a:lnTo>
                <a:lnTo>
                  <a:pt x="0" y="14955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3" name="AutoShape 23"/>
          <p:cNvSpPr/>
          <p:nvPr/>
        </p:nvSpPr>
        <p:spPr>
          <a:xfrm flipV="1">
            <a:off x="3618668" y="3844981"/>
            <a:ext cx="4230348" cy="0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H"/>
          </a:p>
        </p:txBody>
      </p:sp>
      <p:grpSp>
        <p:nvGrpSpPr>
          <p:cNvPr id="24" name="Group 24"/>
          <p:cNvGrpSpPr/>
          <p:nvPr/>
        </p:nvGrpSpPr>
        <p:grpSpPr>
          <a:xfrm>
            <a:off x="7849016" y="5817848"/>
            <a:ext cx="2589968" cy="2669385"/>
            <a:chOff x="0" y="0"/>
            <a:chExt cx="682131" cy="7030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82131" cy="703048"/>
            </a:xfrm>
            <a:custGeom>
              <a:avLst/>
              <a:gdLst/>
              <a:ahLst/>
              <a:cxnLst/>
              <a:rect l="l" t="t" r="r" b="b"/>
              <a:pathLst>
                <a:path w="682131" h="703048">
                  <a:moveTo>
                    <a:pt x="0" y="0"/>
                  </a:moveTo>
                  <a:lnTo>
                    <a:pt x="682131" y="0"/>
                  </a:lnTo>
                  <a:lnTo>
                    <a:pt x="682131" y="703048"/>
                  </a:lnTo>
                  <a:lnTo>
                    <a:pt x="0" y="703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42875"/>
              <a:ext cx="682131" cy="845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3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28700" y="5817848"/>
            <a:ext cx="2589968" cy="2669385"/>
            <a:chOff x="0" y="0"/>
            <a:chExt cx="682131" cy="7030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82131" cy="703048"/>
            </a:xfrm>
            <a:custGeom>
              <a:avLst/>
              <a:gdLst/>
              <a:ahLst/>
              <a:cxnLst/>
              <a:rect l="l" t="t" r="r" b="b"/>
              <a:pathLst>
                <a:path w="682131" h="703048">
                  <a:moveTo>
                    <a:pt x="0" y="0"/>
                  </a:moveTo>
                  <a:lnTo>
                    <a:pt x="682131" y="0"/>
                  </a:lnTo>
                  <a:lnTo>
                    <a:pt x="682131" y="703048"/>
                  </a:lnTo>
                  <a:lnTo>
                    <a:pt x="0" y="703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42875"/>
              <a:ext cx="682131" cy="845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3"/>
                </a:lnSpc>
              </a:pPr>
              <a:endParaRPr/>
            </a:p>
          </p:txBody>
        </p:sp>
      </p:grpSp>
      <p:sp>
        <p:nvSpPr>
          <p:cNvPr id="30" name="AutoShape 30"/>
          <p:cNvSpPr/>
          <p:nvPr/>
        </p:nvSpPr>
        <p:spPr>
          <a:xfrm flipV="1">
            <a:off x="3618668" y="7152541"/>
            <a:ext cx="4230348" cy="0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H"/>
          </a:p>
        </p:txBody>
      </p:sp>
      <p:sp>
        <p:nvSpPr>
          <p:cNvPr id="31" name="Freeform 31"/>
          <p:cNvSpPr/>
          <p:nvPr/>
        </p:nvSpPr>
        <p:spPr>
          <a:xfrm rot="5400000" flipH="1">
            <a:off x="1575886" y="6604497"/>
            <a:ext cx="1495595" cy="614554"/>
          </a:xfrm>
          <a:custGeom>
            <a:avLst/>
            <a:gdLst/>
            <a:ahLst/>
            <a:cxnLst/>
            <a:rect l="l" t="t" r="r" b="b"/>
            <a:pathLst>
              <a:path w="1495595" h="614554">
                <a:moveTo>
                  <a:pt x="1495595" y="0"/>
                </a:moveTo>
                <a:lnTo>
                  <a:pt x="0" y="0"/>
                </a:lnTo>
                <a:lnTo>
                  <a:pt x="0" y="614553"/>
                </a:lnTo>
                <a:lnTo>
                  <a:pt x="1495595" y="614553"/>
                </a:lnTo>
                <a:lnTo>
                  <a:pt x="149559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2" name="Freeform 32"/>
          <p:cNvSpPr/>
          <p:nvPr/>
        </p:nvSpPr>
        <p:spPr>
          <a:xfrm>
            <a:off x="8602154" y="6163976"/>
            <a:ext cx="1084306" cy="1495595"/>
          </a:xfrm>
          <a:custGeom>
            <a:avLst/>
            <a:gdLst/>
            <a:ahLst/>
            <a:cxnLst/>
            <a:rect l="l" t="t" r="r" b="b"/>
            <a:pathLst>
              <a:path w="1084306" h="1495595">
                <a:moveTo>
                  <a:pt x="0" y="0"/>
                </a:moveTo>
                <a:lnTo>
                  <a:pt x="1084306" y="0"/>
                </a:lnTo>
                <a:lnTo>
                  <a:pt x="1084306" y="1495595"/>
                </a:lnTo>
                <a:lnTo>
                  <a:pt x="0" y="14955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3" name="Freeform 33"/>
          <p:cNvSpPr/>
          <p:nvPr/>
        </p:nvSpPr>
        <p:spPr>
          <a:xfrm flipH="1">
            <a:off x="4986044" y="4073581"/>
            <a:ext cx="1495595" cy="614554"/>
          </a:xfrm>
          <a:custGeom>
            <a:avLst/>
            <a:gdLst/>
            <a:ahLst/>
            <a:cxnLst/>
            <a:rect l="l" t="t" r="r" b="b"/>
            <a:pathLst>
              <a:path w="1495595" h="614554">
                <a:moveTo>
                  <a:pt x="1495596" y="0"/>
                </a:moveTo>
                <a:lnTo>
                  <a:pt x="0" y="0"/>
                </a:lnTo>
                <a:lnTo>
                  <a:pt x="0" y="614553"/>
                </a:lnTo>
                <a:lnTo>
                  <a:pt x="1495596" y="614553"/>
                </a:lnTo>
                <a:lnTo>
                  <a:pt x="149559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4" name="Freeform 34"/>
          <p:cNvSpPr/>
          <p:nvPr/>
        </p:nvSpPr>
        <p:spPr>
          <a:xfrm>
            <a:off x="4867665" y="7381141"/>
            <a:ext cx="979879" cy="1204153"/>
          </a:xfrm>
          <a:custGeom>
            <a:avLst/>
            <a:gdLst/>
            <a:ahLst/>
            <a:cxnLst/>
            <a:rect l="l" t="t" r="r" b="b"/>
            <a:pathLst>
              <a:path w="979879" h="1204153">
                <a:moveTo>
                  <a:pt x="0" y="0"/>
                </a:moveTo>
                <a:lnTo>
                  <a:pt x="979879" y="0"/>
                </a:lnTo>
                <a:lnTo>
                  <a:pt x="979879" y="1204153"/>
                </a:lnTo>
                <a:lnTo>
                  <a:pt x="0" y="12041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5" name="AutoShape 35"/>
          <p:cNvSpPr/>
          <p:nvPr/>
        </p:nvSpPr>
        <p:spPr>
          <a:xfrm flipV="1">
            <a:off x="10435288" y="3844981"/>
            <a:ext cx="4230348" cy="0"/>
          </a:xfrm>
          <a:prstGeom prst="line">
            <a:avLst/>
          </a:prstGeom>
          <a:ln w="95250" cap="flat">
            <a:solidFill>
              <a:srgbClr val="000000">
                <a:alpha val="19608"/>
              </a:srgbClr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H"/>
          </a:p>
        </p:txBody>
      </p:sp>
      <p:sp>
        <p:nvSpPr>
          <p:cNvPr id="36" name="AutoShape 36"/>
          <p:cNvSpPr/>
          <p:nvPr/>
        </p:nvSpPr>
        <p:spPr>
          <a:xfrm flipV="1">
            <a:off x="10435288" y="7152541"/>
            <a:ext cx="4230348" cy="0"/>
          </a:xfrm>
          <a:prstGeom prst="line">
            <a:avLst/>
          </a:prstGeom>
          <a:ln w="95250" cap="flat">
            <a:solidFill>
              <a:srgbClr val="000000">
                <a:alpha val="19608"/>
              </a:srgbClr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H"/>
          </a:p>
        </p:txBody>
      </p:sp>
      <p:sp>
        <p:nvSpPr>
          <p:cNvPr id="37" name="Freeform 37"/>
          <p:cNvSpPr/>
          <p:nvPr/>
        </p:nvSpPr>
        <p:spPr>
          <a:xfrm flipH="1">
            <a:off x="11802665" y="4073581"/>
            <a:ext cx="1495595" cy="614554"/>
          </a:xfrm>
          <a:custGeom>
            <a:avLst/>
            <a:gdLst/>
            <a:ahLst/>
            <a:cxnLst/>
            <a:rect l="l" t="t" r="r" b="b"/>
            <a:pathLst>
              <a:path w="1495595" h="614554">
                <a:moveTo>
                  <a:pt x="1495595" y="0"/>
                </a:moveTo>
                <a:lnTo>
                  <a:pt x="0" y="0"/>
                </a:lnTo>
                <a:lnTo>
                  <a:pt x="0" y="614553"/>
                </a:lnTo>
                <a:lnTo>
                  <a:pt x="1495595" y="614553"/>
                </a:lnTo>
                <a:lnTo>
                  <a:pt x="1495595" y="0"/>
                </a:lnTo>
                <a:close/>
              </a:path>
            </a:pathLst>
          </a:custGeom>
          <a:blipFill>
            <a:blip r:embed="rId10">
              <a:alphaModFix amt="1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8" name="Freeform 38"/>
          <p:cNvSpPr/>
          <p:nvPr/>
        </p:nvSpPr>
        <p:spPr>
          <a:xfrm rot="5400000" flipH="1">
            <a:off x="5750544" y="7735819"/>
            <a:ext cx="1204153" cy="494797"/>
          </a:xfrm>
          <a:custGeom>
            <a:avLst/>
            <a:gdLst/>
            <a:ahLst/>
            <a:cxnLst/>
            <a:rect l="l" t="t" r="r" b="b"/>
            <a:pathLst>
              <a:path w="1204153" h="494797">
                <a:moveTo>
                  <a:pt x="1204153" y="0"/>
                </a:moveTo>
                <a:lnTo>
                  <a:pt x="0" y="0"/>
                </a:lnTo>
                <a:lnTo>
                  <a:pt x="0" y="494797"/>
                </a:lnTo>
                <a:lnTo>
                  <a:pt x="1204153" y="494797"/>
                </a:lnTo>
                <a:lnTo>
                  <a:pt x="1204153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9" name="Freeform 39"/>
          <p:cNvSpPr/>
          <p:nvPr/>
        </p:nvSpPr>
        <p:spPr>
          <a:xfrm rot="5400000" flipH="1">
            <a:off x="11948386" y="7735819"/>
            <a:ext cx="1204153" cy="494797"/>
          </a:xfrm>
          <a:custGeom>
            <a:avLst/>
            <a:gdLst/>
            <a:ahLst/>
            <a:cxnLst/>
            <a:rect l="l" t="t" r="r" b="b"/>
            <a:pathLst>
              <a:path w="1204153" h="494797">
                <a:moveTo>
                  <a:pt x="1204153" y="0"/>
                </a:moveTo>
                <a:lnTo>
                  <a:pt x="0" y="0"/>
                </a:lnTo>
                <a:lnTo>
                  <a:pt x="0" y="494797"/>
                </a:lnTo>
                <a:lnTo>
                  <a:pt x="1204153" y="494797"/>
                </a:lnTo>
                <a:lnTo>
                  <a:pt x="1204153" y="0"/>
                </a:lnTo>
                <a:close/>
              </a:path>
            </a:pathLst>
          </a:custGeom>
          <a:blipFill>
            <a:blip r:embed="rId18">
              <a:alphaModFix amt="19999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40" name="Group 40"/>
          <p:cNvGrpSpPr/>
          <p:nvPr/>
        </p:nvGrpSpPr>
        <p:grpSpPr>
          <a:xfrm>
            <a:off x="14669332" y="2474115"/>
            <a:ext cx="2589968" cy="2669385"/>
            <a:chOff x="0" y="0"/>
            <a:chExt cx="682131" cy="70304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82131" cy="703048"/>
            </a:xfrm>
            <a:custGeom>
              <a:avLst/>
              <a:gdLst/>
              <a:ahLst/>
              <a:cxnLst/>
              <a:rect l="l" t="t" r="r" b="b"/>
              <a:pathLst>
                <a:path w="682131" h="703048">
                  <a:moveTo>
                    <a:pt x="0" y="0"/>
                  </a:moveTo>
                  <a:lnTo>
                    <a:pt x="682131" y="0"/>
                  </a:lnTo>
                  <a:lnTo>
                    <a:pt x="682131" y="703048"/>
                  </a:lnTo>
                  <a:lnTo>
                    <a:pt x="0" y="703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42875"/>
              <a:ext cx="682131" cy="845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3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15041109" y="2820242"/>
            <a:ext cx="1846414" cy="1495595"/>
          </a:xfrm>
          <a:custGeom>
            <a:avLst/>
            <a:gdLst/>
            <a:ahLst/>
            <a:cxnLst/>
            <a:rect l="l" t="t" r="r" b="b"/>
            <a:pathLst>
              <a:path w="1846414" h="1495595">
                <a:moveTo>
                  <a:pt x="0" y="0"/>
                </a:moveTo>
                <a:lnTo>
                  <a:pt x="1846414" y="0"/>
                </a:lnTo>
                <a:lnTo>
                  <a:pt x="1846414" y="1495595"/>
                </a:lnTo>
                <a:lnTo>
                  <a:pt x="0" y="14955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44" name="Freeform 44"/>
          <p:cNvSpPr/>
          <p:nvPr/>
        </p:nvSpPr>
        <p:spPr>
          <a:xfrm>
            <a:off x="5355015" y="2378032"/>
            <a:ext cx="757654" cy="757654"/>
          </a:xfrm>
          <a:custGeom>
            <a:avLst/>
            <a:gdLst/>
            <a:ahLst/>
            <a:cxnLst/>
            <a:rect l="l" t="t" r="r" b="b"/>
            <a:pathLst>
              <a:path w="757654" h="757654">
                <a:moveTo>
                  <a:pt x="0" y="0"/>
                </a:moveTo>
                <a:lnTo>
                  <a:pt x="757654" y="0"/>
                </a:lnTo>
                <a:lnTo>
                  <a:pt x="757654" y="757654"/>
                </a:lnTo>
                <a:lnTo>
                  <a:pt x="0" y="75765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45" name="AutoShape 45"/>
          <p:cNvSpPr/>
          <p:nvPr/>
        </p:nvSpPr>
        <p:spPr>
          <a:xfrm flipH="1">
            <a:off x="2630961" y="4709041"/>
            <a:ext cx="2355084" cy="1454935"/>
          </a:xfrm>
          <a:prstGeom prst="line">
            <a:avLst/>
          </a:prstGeom>
          <a:ln w="95250" cap="flat">
            <a:solidFill>
              <a:srgbClr val="A6A6A6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H"/>
          </a:p>
        </p:txBody>
      </p:sp>
      <p:sp>
        <p:nvSpPr>
          <p:cNvPr id="46" name="AutoShape 46"/>
          <p:cNvSpPr/>
          <p:nvPr/>
        </p:nvSpPr>
        <p:spPr>
          <a:xfrm flipH="1" flipV="1">
            <a:off x="13410969" y="4807117"/>
            <a:ext cx="2017376" cy="1245805"/>
          </a:xfrm>
          <a:prstGeom prst="line">
            <a:avLst/>
          </a:prstGeom>
          <a:ln w="95250" cap="flat">
            <a:solidFill>
              <a:srgbClr val="A6A6A6">
                <a:alpha val="19608"/>
              </a:srgbClr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H"/>
          </a:p>
        </p:txBody>
      </p:sp>
      <p:sp>
        <p:nvSpPr>
          <p:cNvPr id="47" name="TextBox 47"/>
          <p:cNvSpPr txBox="1"/>
          <p:nvPr/>
        </p:nvSpPr>
        <p:spPr>
          <a:xfrm>
            <a:off x="4330043" y="6376571"/>
            <a:ext cx="2807597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CP-ABE</a:t>
            </a:r>
          </a:p>
        </p:txBody>
      </p:sp>
      <p:sp>
        <p:nvSpPr>
          <p:cNvPr id="48" name="Freeform 48"/>
          <p:cNvSpPr/>
          <p:nvPr/>
        </p:nvSpPr>
        <p:spPr>
          <a:xfrm>
            <a:off x="12172085" y="5631109"/>
            <a:ext cx="756755" cy="756755"/>
          </a:xfrm>
          <a:custGeom>
            <a:avLst/>
            <a:gdLst/>
            <a:ahLst/>
            <a:cxnLst/>
            <a:rect l="l" t="t" r="r" b="b"/>
            <a:pathLst>
              <a:path w="756755" h="756755">
                <a:moveTo>
                  <a:pt x="0" y="0"/>
                </a:moveTo>
                <a:lnTo>
                  <a:pt x="756755" y="0"/>
                </a:lnTo>
                <a:lnTo>
                  <a:pt x="756755" y="756756"/>
                </a:lnTo>
                <a:lnTo>
                  <a:pt x="0" y="75675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9999"/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49" name="Freeform 49"/>
          <p:cNvSpPr/>
          <p:nvPr/>
        </p:nvSpPr>
        <p:spPr>
          <a:xfrm>
            <a:off x="5332980" y="5631109"/>
            <a:ext cx="757654" cy="757654"/>
          </a:xfrm>
          <a:custGeom>
            <a:avLst/>
            <a:gdLst/>
            <a:ahLst/>
            <a:cxnLst/>
            <a:rect l="l" t="t" r="r" b="b"/>
            <a:pathLst>
              <a:path w="757654" h="757654">
                <a:moveTo>
                  <a:pt x="0" y="0"/>
                </a:moveTo>
                <a:lnTo>
                  <a:pt x="757654" y="0"/>
                </a:lnTo>
                <a:lnTo>
                  <a:pt x="757654" y="757654"/>
                </a:lnTo>
                <a:lnTo>
                  <a:pt x="0" y="75765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50" name="Freeform 50"/>
          <p:cNvSpPr/>
          <p:nvPr/>
        </p:nvSpPr>
        <p:spPr>
          <a:xfrm>
            <a:off x="12172085" y="2378032"/>
            <a:ext cx="756755" cy="756755"/>
          </a:xfrm>
          <a:custGeom>
            <a:avLst/>
            <a:gdLst/>
            <a:ahLst/>
            <a:cxnLst/>
            <a:rect l="l" t="t" r="r" b="b"/>
            <a:pathLst>
              <a:path w="756755" h="756755">
                <a:moveTo>
                  <a:pt x="0" y="0"/>
                </a:moveTo>
                <a:lnTo>
                  <a:pt x="756755" y="0"/>
                </a:lnTo>
                <a:lnTo>
                  <a:pt x="756755" y="756755"/>
                </a:lnTo>
                <a:lnTo>
                  <a:pt x="0" y="75675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alphaModFix amt="19999"/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51" name="Freeform 51"/>
          <p:cNvSpPr/>
          <p:nvPr/>
        </p:nvSpPr>
        <p:spPr>
          <a:xfrm rot="5400000" flipH="1">
            <a:off x="15216519" y="6604497"/>
            <a:ext cx="1495595" cy="614554"/>
          </a:xfrm>
          <a:custGeom>
            <a:avLst/>
            <a:gdLst/>
            <a:ahLst/>
            <a:cxnLst/>
            <a:rect l="l" t="t" r="r" b="b"/>
            <a:pathLst>
              <a:path w="1495595" h="614554">
                <a:moveTo>
                  <a:pt x="1495595" y="0"/>
                </a:moveTo>
                <a:lnTo>
                  <a:pt x="0" y="0"/>
                </a:lnTo>
                <a:lnTo>
                  <a:pt x="0" y="614553"/>
                </a:lnTo>
                <a:lnTo>
                  <a:pt x="1495595" y="614553"/>
                </a:lnTo>
                <a:lnTo>
                  <a:pt x="1495595" y="0"/>
                </a:lnTo>
                <a:close/>
              </a:path>
            </a:pathLst>
          </a:custGeom>
          <a:blipFill>
            <a:blip r:embed="rId10">
              <a:alphaModFix amt="1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52" name="TextBox 52"/>
          <p:cNvSpPr txBox="1"/>
          <p:nvPr/>
        </p:nvSpPr>
        <p:spPr>
          <a:xfrm>
            <a:off x="11146664" y="3069011"/>
            <a:ext cx="2807597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>
                    <a:alpha val="19608"/>
                  </a:srgbClr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AES-256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485074" y="4472821"/>
            <a:ext cx="167722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EHR File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849630" y="4472821"/>
            <a:ext cx="2589354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Encrypted EHR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330043" y="3069011"/>
            <a:ext cx="2807597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AES-256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849630" y="7780381"/>
            <a:ext cx="2589354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Encrypted</a:t>
            </a: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AES Key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146664" y="6376571"/>
            <a:ext cx="2807597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>
                    <a:alpha val="19608"/>
                  </a:srgbClr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CP-ABE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5125706" y="7780381"/>
            <a:ext cx="167722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>
                    <a:alpha val="19608"/>
                  </a:srgbClr>
                </a:solidFill>
                <a:latin typeface="Public Sans"/>
                <a:ea typeface="Public Sans"/>
                <a:cs typeface="Public Sans"/>
                <a:sym typeface="Public Sans"/>
              </a:rPr>
              <a:t>AES Key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5125706" y="4436647"/>
            <a:ext cx="167722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>
                    <a:alpha val="19608"/>
                  </a:srgbClr>
                </a:solidFill>
                <a:latin typeface="Public Sans"/>
                <a:ea typeface="Public Sans"/>
                <a:cs typeface="Public Sans"/>
                <a:sym typeface="Public Sans"/>
              </a:rPr>
              <a:t>EHR File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85074" y="7780381"/>
            <a:ext cx="167722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AES Key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41151">
            <a:off x="-888644" y="-1837067"/>
            <a:ext cx="20065287" cy="13961134"/>
          </a:xfrm>
          <a:custGeom>
            <a:avLst/>
            <a:gdLst/>
            <a:ahLst/>
            <a:cxnLst/>
            <a:rect l="l" t="t" r="r" b="b"/>
            <a:pathLst>
              <a:path w="20065287" h="13961134">
                <a:moveTo>
                  <a:pt x="2200657" y="0"/>
                </a:moveTo>
                <a:lnTo>
                  <a:pt x="20065288" y="3912280"/>
                </a:lnTo>
                <a:lnTo>
                  <a:pt x="17864631" y="13961134"/>
                </a:lnTo>
                <a:lnTo>
                  <a:pt x="0" y="10048854"/>
                </a:lnTo>
                <a:lnTo>
                  <a:pt x="2200657" y="0"/>
                </a:lnTo>
                <a:close/>
              </a:path>
            </a:pathLst>
          </a:custGeom>
          <a:blipFill>
            <a:blip r:embed="rId2"/>
            <a:stretch>
              <a:fillRect l="-1241" r="-8451" b="-11342"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" name="Freeform 3"/>
          <p:cNvSpPr/>
          <p:nvPr/>
        </p:nvSpPr>
        <p:spPr>
          <a:xfrm rot="2871075">
            <a:off x="15350015" y="-2421040"/>
            <a:ext cx="5078392" cy="5072044"/>
          </a:xfrm>
          <a:custGeom>
            <a:avLst/>
            <a:gdLst/>
            <a:ahLst/>
            <a:cxnLst/>
            <a:rect l="l" t="t" r="r" b="b"/>
            <a:pathLst>
              <a:path w="5078392" h="5072044">
                <a:moveTo>
                  <a:pt x="0" y="0"/>
                </a:moveTo>
                <a:lnTo>
                  <a:pt x="5078392" y="0"/>
                </a:lnTo>
                <a:lnTo>
                  <a:pt x="5078392" y="5072044"/>
                </a:lnTo>
                <a:lnTo>
                  <a:pt x="0" y="50720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Box 4"/>
          <p:cNvSpPr txBox="1"/>
          <p:nvPr/>
        </p:nvSpPr>
        <p:spPr>
          <a:xfrm>
            <a:off x="1088449" y="1123950"/>
            <a:ext cx="7466684" cy="72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8"/>
              </a:lnSpc>
              <a:spcBef>
                <a:spcPct val="0"/>
              </a:spcBef>
            </a:pPr>
            <a:r>
              <a:rPr lang="en-US" sz="5196" b="1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EHR Decryption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730921" y="8336393"/>
            <a:ext cx="2557079" cy="1840738"/>
            <a:chOff x="0" y="0"/>
            <a:chExt cx="3409439" cy="2454317"/>
          </a:xfrm>
        </p:grpSpPr>
        <p:sp>
          <p:nvSpPr>
            <p:cNvPr id="6" name="Freeform 6"/>
            <p:cNvSpPr/>
            <p:nvPr/>
          </p:nvSpPr>
          <p:spPr>
            <a:xfrm>
              <a:off x="985924" y="0"/>
              <a:ext cx="1506327" cy="1823088"/>
            </a:xfrm>
            <a:custGeom>
              <a:avLst/>
              <a:gdLst/>
              <a:ahLst/>
              <a:cxnLst/>
              <a:rect l="l" t="t" r="r" b="b"/>
              <a:pathLst>
                <a:path w="1506327" h="1823088">
                  <a:moveTo>
                    <a:pt x="0" y="0"/>
                  </a:moveTo>
                  <a:lnTo>
                    <a:pt x="1506327" y="0"/>
                  </a:lnTo>
                  <a:lnTo>
                    <a:pt x="1506327" y="1823088"/>
                  </a:lnTo>
                  <a:lnTo>
                    <a:pt x="0" y="1823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746715"/>
              <a:ext cx="3409439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Doctor  (AR)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620831" y="114982"/>
            <a:ext cx="504464" cy="504464"/>
            <a:chOff x="0" y="0"/>
            <a:chExt cx="672618" cy="672618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672618" cy="672618"/>
              <a:chOff x="0" y="0"/>
              <a:chExt cx="174157" cy="17415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74157" cy="174157"/>
              </a:xfrm>
              <a:custGeom>
                <a:avLst/>
                <a:gdLst/>
                <a:ahLst/>
                <a:cxnLst/>
                <a:rect l="l" t="t" r="r" b="b"/>
                <a:pathLst>
                  <a:path w="174157" h="174157">
                    <a:moveTo>
                      <a:pt x="87079" y="0"/>
                    </a:moveTo>
                    <a:lnTo>
                      <a:pt x="87079" y="0"/>
                    </a:lnTo>
                    <a:cubicBezTo>
                      <a:pt x="135171" y="0"/>
                      <a:pt x="174157" y="38986"/>
                      <a:pt x="174157" y="87079"/>
                    </a:cubicBezTo>
                    <a:lnTo>
                      <a:pt x="174157" y="87079"/>
                    </a:lnTo>
                    <a:cubicBezTo>
                      <a:pt x="174157" y="135171"/>
                      <a:pt x="135171" y="174157"/>
                      <a:pt x="87079" y="174157"/>
                    </a:cubicBezTo>
                    <a:lnTo>
                      <a:pt x="87079" y="174157"/>
                    </a:lnTo>
                    <a:cubicBezTo>
                      <a:pt x="38986" y="174157"/>
                      <a:pt x="0" y="135171"/>
                      <a:pt x="0" y="87079"/>
                    </a:cubicBezTo>
                    <a:lnTo>
                      <a:pt x="0" y="87079"/>
                    </a:lnTo>
                    <a:cubicBezTo>
                      <a:pt x="0" y="38986"/>
                      <a:pt x="38986" y="0"/>
                      <a:pt x="87079" y="0"/>
                    </a:cubicBezTo>
                    <a:close/>
                  </a:path>
                </a:pathLst>
              </a:custGeom>
              <a:solidFill>
                <a:srgbClr val="6BBEF4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57150"/>
                <a:ext cx="174157" cy="231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6424" y="72949"/>
              <a:ext cx="579770" cy="47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r>
                <a:rPr lang="en-US" sz="2136" b="1">
                  <a:solidFill>
                    <a:srgbClr val="FCFFFE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10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445592" y="8710930"/>
            <a:ext cx="1814057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8000">
                    <a:alpha val="19608"/>
                  </a:srgbClr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72128" y="8699594"/>
            <a:ext cx="1556668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FF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AR’s SK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849016" y="2510288"/>
            <a:ext cx="2589968" cy="2669385"/>
            <a:chOff x="0" y="0"/>
            <a:chExt cx="682131" cy="7030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82131" cy="703048"/>
            </a:xfrm>
            <a:custGeom>
              <a:avLst/>
              <a:gdLst/>
              <a:ahLst/>
              <a:cxnLst/>
              <a:rect l="l" t="t" r="r" b="b"/>
              <a:pathLst>
                <a:path w="682131" h="703048">
                  <a:moveTo>
                    <a:pt x="0" y="0"/>
                  </a:moveTo>
                  <a:lnTo>
                    <a:pt x="682131" y="0"/>
                  </a:lnTo>
                  <a:lnTo>
                    <a:pt x="682131" y="703048"/>
                  </a:lnTo>
                  <a:lnTo>
                    <a:pt x="0" y="703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42875"/>
              <a:ext cx="682131" cy="845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3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8328962" y="2856416"/>
            <a:ext cx="1630076" cy="1495595"/>
          </a:xfrm>
          <a:custGeom>
            <a:avLst/>
            <a:gdLst/>
            <a:ahLst/>
            <a:cxnLst/>
            <a:rect l="l" t="t" r="r" b="b"/>
            <a:pathLst>
              <a:path w="1630076" h="1495595">
                <a:moveTo>
                  <a:pt x="0" y="0"/>
                </a:moveTo>
                <a:lnTo>
                  <a:pt x="1630076" y="0"/>
                </a:lnTo>
                <a:lnTo>
                  <a:pt x="1630076" y="1495595"/>
                </a:lnTo>
                <a:lnTo>
                  <a:pt x="0" y="1495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19" name="Group 19"/>
          <p:cNvGrpSpPr/>
          <p:nvPr/>
        </p:nvGrpSpPr>
        <p:grpSpPr>
          <a:xfrm>
            <a:off x="1028700" y="2510288"/>
            <a:ext cx="2589968" cy="2669385"/>
            <a:chOff x="0" y="0"/>
            <a:chExt cx="682131" cy="70304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2131" cy="703048"/>
            </a:xfrm>
            <a:custGeom>
              <a:avLst/>
              <a:gdLst/>
              <a:ahLst/>
              <a:cxnLst/>
              <a:rect l="l" t="t" r="r" b="b"/>
              <a:pathLst>
                <a:path w="682131" h="703048">
                  <a:moveTo>
                    <a:pt x="0" y="0"/>
                  </a:moveTo>
                  <a:lnTo>
                    <a:pt x="682131" y="0"/>
                  </a:lnTo>
                  <a:lnTo>
                    <a:pt x="682131" y="703048"/>
                  </a:lnTo>
                  <a:lnTo>
                    <a:pt x="0" y="703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42875"/>
              <a:ext cx="682131" cy="845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3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400477" y="2856416"/>
            <a:ext cx="1846414" cy="1495595"/>
          </a:xfrm>
          <a:custGeom>
            <a:avLst/>
            <a:gdLst/>
            <a:ahLst/>
            <a:cxnLst/>
            <a:rect l="l" t="t" r="r" b="b"/>
            <a:pathLst>
              <a:path w="1846414" h="1495595">
                <a:moveTo>
                  <a:pt x="0" y="0"/>
                </a:moveTo>
                <a:lnTo>
                  <a:pt x="1846414" y="0"/>
                </a:lnTo>
                <a:lnTo>
                  <a:pt x="1846414" y="1495595"/>
                </a:lnTo>
                <a:lnTo>
                  <a:pt x="0" y="14955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3" name="AutoShape 23"/>
          <p:cNvSpPr/>
          <p:nvPr/>
        </p:nvSpPr>
        <p:spPr>
          <a:xfrm flipV="1">
            <a:off x="3618668" y="3844981"/>
            <a:ext cx="4230348" cy="0"/>
          </a:xfrm>
          <a:prstGeom prst="line">
            <a:avLst/>
          </a:prstGeom>
          <a:ln w="95250" cap="flat">
            <a:solidFill>
              <a:srgbClr val="000000">
                <a:alpha val="19608"/>
              </a:srgbClr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H"/>
          </a:p>
        </p:txBody>
      </p:sp>
      <p:grpSp>
        <p:nvGrpSpPr>
          <p:cNvPr id="24" name="Group 24"/>
          <p:cNvGrpSpPr/>
          <p:nvPr/>
        </p:nvGrpSpPr>
        <p:grpSpPr>
          <a:xfrm>
            <a:off x="7849016" y="5817848"/>
            <a:ext cx="2589968" cy="2669385"/>
            <a:chOff x="0" y="0"/>
            <a:chExt cx="682131" cy="7030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82131" cy="703048"/>
            </a:xfrm>
            <a:custGeom>
              <a:avLst/>
              <a:gdLst/>
              <a:ahLst/>
              <a:cxnLst/>
              <a:rect l="l" t="t" r="r" b="b"/>
              <a:pathLst>
                <a:path w="682131" h="703048">
                  <a:moveTo>
                    <a:pt x="0" y="0"/>
                  </a:moveTo>
                  <a:lnTo>
                    <a:pt x="682131" y="0"/>
                  </a:lnTo>
                  <a:lnTo>
                    <a:pt x="682131" y="703048"/>
                  </a:lnTo>
                  <a:lnTo>
                    <a:pt x="0" y="703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42875"/>
              <a:ext cx="682131" cy="845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3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28700" y="5817848"/>
            <a:ext cx="2589968" cy="2669385"/>
            <a:chOff x="0" y="0"/>
            <a:chExt cx="682131" cy="7030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82131" cy="703048"/>
            </a:xfrm>
            <a:custGeom>
              <a:avLst/>
              <a:gdLst/>
              <a:ahLst/>
              <a:cxnLst/>
              <a:rect l="l" t="t" r="r" b="b"/>
              <a:pathLst>
                <a:path w="682131" h="703048">
                  <a:moveTo>
                    <a:pt x="0" y="0"/>
                  </a:moveTo>
                  <a:lnTo>
                    <a:pt x="682131" y="0"/>
                  </a:lnTo>
                  <a:lnTo>
                    <a:pt x="682131" y="703048"/>
                  </a:lnTo>
                  <a:lnTo>
                    <a:pt x="0" y="703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42875"/>
              <a:ext cx="682131" cy="845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3"/>
                </a:lnSpc>
              </a:pPr>
              <a:endParaRPr/>
            </a:p>
          </p:txBody>
        </p:sp>
      </p:grpSp>
      <p:sp>
        <p:nvSpPr>
          <p:cNvPr id="30" name="AutoShape 30"/>
          <p:cNvSpPr/>
          <p:nvPr/>
        </p:nvSpPr>
        <p:spPr>
          <a:xfrm flipV="1">
            <a:off x="3618668" y="7152541"/>
            <a:ext cx="4230348" cy="0"/>
          </a:xfrm>
          <a:prstGeom prst="line">
            <a:avLst/>
          </a:prstGeom>
          <a:ln w="95250" cap="flat">
            <a:solidFill>
              <a:srgbClr val="000000">
                <a:alpha val="19608"/>
              </a:srgbClr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H"/>
          </a:p>
        </p:txBody>
      </p:sp>
      <p:sp>
        <p:nvSpPr>
          <p:cNvPr id="31" name="Freeform 31"/>
          <p:cNvSpPr/>
          <p:nvPr/>
        </p:nvSpPr>
        <p:spPr>
          <a:xfrm rot="5400000" flipH="1">
            <a:off x="1575886" y="6604497"/>
            <a:ext cx="1495595" cy="614554"/>
          </a:xfrm>
          <a:custGeom>
            <a:avLst/>
            <a:gdLst/>
            <a:ahLst/>
            <a:cxnLst/>
            <a:rect l="l" t="t" r="r" b="b"/>
            <a:pathLst>
              <a:path w="1495595" h="614554">
                <a:moveTo>
                  <a:pt x="1495595" y="0"/>
                </a:moveTo>
                <a:lnTo>
                  <a:pt x="0" y="0"/>
                </a:lnTo>
                <a:lnTo>
                  <a:pt x="0" y="614553"/>
                </a:lnTo>
                <a:lnTo>
                  <a:pt x="1495595" y="614553"/>
                </a:lnTo>
                <a:lnTo>
                  <a:pt x="1495595" y="0"/>
                </a:lnTo>
                <a:close/>
              </a:path>
            </a:pathLst>
          </a:custGeom>
          <a:blipFill>
            <a:blip r:embed="rId10">
              <a:alphaModFix amt="1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2" name="Freeform 32"/>
          <p:cNvSpPr/>
          <p:nvPr/>
        </p:nvSpPr>
        <p:spPr>
          <a:xfrm>
            <a:off x="8602154" y="6163976"/>
            <a:ext cx="1084306" cy="1495595"/>
          </a:xfrm>
          <a:custGeom>
            <a:avLst/>
            <a:gdLst/>
            <a:ahLst/>
            <a:cxnLst/>
            <a:rect l="l" t="t" r="r" b="b"/>
            <a:pathLst>
              <a:path w="1084306" h="1495595">
                <a:moveTo>
                  <a:pt x="0" y="0"/>
                </a:moveTo>
                <a:lnTo>
                  <a:pt x="1084306" y="0"/>
                </a:lnTo>
                <a:lnTo>
                  <a:pt x="1084306" y="1495595"/>
                </a:lnTo>
                <a:lnTo>
                  <a:pt x="0" y="14955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3" name="Freeform 33"/>
          <p:cNvSpPr/>
          <p:nvPr/>
        </p:nvSpPr>
        <p:spPr>
          <a:xfrm flipH="1">
            <a:off x="4986044" y="4073581"/>
            <a:ext cx="1495595" cy="614554"/>
          </a:xfrm>
          <a:custGeom>
            <a:avLst/>
            <a:gdLst/>
            <a:ahLst/>
            <a:cxnLst/>
            <a:rect l="l" t="t" r="r" b="b"/>
            <a:pathLst>
              <a:path w="1495595" h="614554">
                <a:moveTo>
                  <a:pt x="1495596" y="0"/>
                </a:moveTo>
                <a:lnTo>
                  <a:pt x="0" y="0"/>
                </a:lnTo>
                <a:lnTo>
                  <a:pt x="0" y="614553"/>
                </a:lnTo>
                <a:lnTo>
                  <a:pt x="1495596" y="614553"/>
                </a:lnTo>
                <a:lnTo>
                  <a:pt x="1495596" y="0"/>
                </a:lnTo>
                <a:close/>
              </a:path>
            </a:pathLst>
          </a:custGeom>
          <a:blipFill>
            <a:blip r:embed="rId10">
              <a:alphaModFix amt="1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4" name="Freeform 34"/>
          <p:cNvSpPr/>
          <p:nvPr/>
        </p:nvSpPr>
        <p:spPr>
          <a:xfrm>
            <a:off x="4867665" y="7381141"/>
            <a:ext cx="979879" cy="1204153"/>
          </a:xfrm>
          <a:custGeom>
            <a:avLst/>
            <a:gdLst/>
            <a:ahLst/>
            <a:cxnLst/>
            <a:rect l="l" t="t" r="r" b="b"/>
            <a:pathLst>
              <a:path w="979879" h="1204153">
                <a:moveTo>
                  <a:pt x="0" y="0"/>
                </a:moveTo>
                <a:lnTo>
                  <a:pt x="979879" y="0"/>
                </a:lnTo>
                <a:lnTo>
                  <a:pt x="979879" y="1204153"/>
                </a:lnTo>
                <a:lnTo>
                  <a:pt x="0" y="12041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9999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5" name="AutoShape 35"/>
          <p:cNvSpPr/>
          <p:nvPr/>
        </p:nvSpPr>
        <p:spPr>
          <a:xfrm flipV="1">
            <a:off x="10435288" y="3844981"/>
            <a:ext cx="4230348" cy="0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H"/>
          </a:p>
        </p:txBody>
      </p:sp>
      <p:sp>
        <p:nvSpPr>
          <p:cNvPr id="36" name="AutoShape 36"/>
          <p:cNvSpPr/>
          <p:nvPr/>
        </p:nvSpPr>
        <p:spPr>
          <a:xfrm flipV="1">
            <a:off x="10435288" y="7152541"/>
            <a:ext cx="4230348" cy="0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H"/>
          </a:p>
        </p:txBody>
      </p:sp>
      <p:sp>
        <p:nvSpPr>
          <p:cNvPr id="37" name="Freeform 37"/>
          <p:cNvSpPr/>
          <p:nvPr/>
        </p:nvSpPr>
        <p:spPr>
          <a:xfrm flipH="1">
            <a:off x="11802665" y="4073581"/>
            <a:ext cx="1495595" cy="614554"/>
          </a:xfrm>
          <a:custGeom>
            <a:avLst/>
            <a:gdLst/>
            <a:ahLst/>
            <a:cxnLst/>
            <a:rect l="l" t="t" r="r" b="b"/>
            <a:pathLst>
              <a:path w="1495595" h="614554">
                <a:moveTo>
                  <a:pt x="1495595" y="0"/>
                </a:moveTo>
                <a:lnTo>
                  <a:pt x="0" y="0"/>
                </a:lnTo>
                <a:lnTo>
                  <a:pt x="0" y="614553"/>
                </a:lnTo>
                <a:lnTo>
                  <a:pt x="1495595" y="614553"/>
                </a:lnTo>
                <a:lnTo>
                  <a:pt x="149559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8" name="Freeform 38"/>
          <p:cNvSpPr/>
          <p:nvPr/>
        </p:nvSpPr>
        <p:spPr>
          <a:xfrm rot="5400000" flipH="1">
            <a:off x="5750544" y="7735819"/>
            <a:ext cx="1204153" cy="494797"/>
          </a:xfrm>
          <a:custGeom>
            <a:avLst/>
            <a:gdLst/>
            <a:ahLst/>
            <a:cxnLst/>
            <a:rect l="l" t="t" r="r" b="b"/>
            <a:pathLst>
              <a:path w="1204153" h="494797">
                <a:moveTo>
                  <a:pt x="1204153" y="0"/>
                </a:moveTo>
                <a:lnTo>
                  <a:pt x="0" y="0"/>
                </a:lnTo>
                <a:lnTo>
                  <a:pt x="0" y="494797"/>
                </a:lnTo>
                <a:lnTo>
                  <a:pt x="1204153" y="494797"/>
                </a:lnTo>
                <a:lnTo>
                  <a:pt x="1204153" y="0"/>
                </a:lnTo>
                <a:close/>
              </a:path>
            </a:pathLst>
          </a:custGeom>
          <a:blipFill>
            <a:blip r:embed="rId16">
              <a:alphaModFix amt="19999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9" name="Freeform 39"/>
          <p:cNvSpPr/>
          <p:nvPr/>
        </p:nvSpPr>
        <p:spPr>
          <a:xfrm rot="5400000" flipH="1">
            <a:off x="11948386" y="7735819"/>
            <a:ext cx="1204153" cy="494797"/>
          </a:xfrm>
          <a:custGeom>
            <a:avLst/>
            <a:gdLst/>
            <a:ahLst/>
            <a:cxnLst/>
            <a:rect l="l" t="t" r="r" b="b"/>
            <a:pathLst>
              <a:path w="1204153" h="494797">
                <a:moveTo>
                  <a:pt x="1204153" y="0"/>
                </a:moveTo>
                <a:lnTo>
                  <a:pt x="0" y="0"/>
                </a:lnTo>
                <a:lnTo>
                  <a:pt x="0" y="494797"/>
                </a:lnTo>
                <a:lnTo>
                  <a:pt x="1204153" y="494797"/>
                </a:lnTo>
                <a:lnTo>
                  <a:pt x="1204153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40" name="Group 40"/>
          <p:cNvGrpSpPr/>
          <p:nvPr/>
        </p:nvGrpSpPr>
        <p:grpSpPr>
          <a:xfrm>
            <a:off x="14669332" y="2474115"/>
            <a:ext cx="2589968" cy="2669385"/>
            <a:chOff x="0" y="0"/>
            <a:chExt cx="682131" cy="70304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82131" cy="703048"/>
            </a:xfrm>
            <a:custGeom>
              <a:avLst/>
              <a:gdLst/>
              <a:ahLst/>
              <a:cxnLst/>
              <a:rect l="l" t="t" r="r" b="b"/>
              <a:pathLst>
                <a:path w="682131" h="703048">
                  <a:moveTo>
                    <a:pt x="0" y="0"/>
                  </a:moveTo>
                  <a:lnTo>
                    <a:pt x="682131" y="0"/>
                  </a:lnTo>
                  <a:lnTo>
                    <a:pt x="682131" y="703048"/>
                  </a:lnTo>
                  <a:lnTo>
                    <a:pt x="0" y="703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42875"/>
              <a:ext cx="682131" cy="845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3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15041109" y="2820242"/>
            <a:ext cx="1846414" cy="1495595"/>
          </a:xfrm>
          <a:custGeom>
            <a:avLst/>
            <a:gdLst/>
            <a:ahLst/>
            <a:cxnLst/>
            <a:rect l="l" t="t" r="r" b="b"/>
            <a:pathLst>
              <a:path w="1846414" h="1495595">
                <a:moveTo>
                  <a:pt x="0" y="0"/>
                </a:moveTo>
                <a:lnTo>
                  <a:pt x="1846414" y="0"/>
                </a:lnTo>
                <a:lnTo>
                  <a:pt x="1846414" y="1495595"/>
                </a:lnTo>
                <a:lnTo>
                  <a:pt x="0" y="14955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44" name="Freeform 44"/>
          <p:cNvSpPr/>
          <p:nvPr/>
        </p:nvSpPr>
        <p:spPr>
          <a:xfrm>
            <a:off x="5355015" y="2378032"/>
            <a:ext cx="757654" cy="757654"/>
          </a:xfrm>
          <a:custGeom>
            <a:avLst/>
            <a:gdLst/>
            <a:ahLst/>
            <a:cxnLst/>
            <a:rect l="l" t="t" r="r" b="b"/>
            <a:pathLst>
              <a:path w="757654" h="757654">
                <a:moveTo>
                  <a:pt x="0" y="0"/>
                </a:moveTo>
                <a:lnTo>
                  <a:pt x="757654" y="0"/>
                </a:lnTo>
                <a:lnTo>
                  <a:pt x="757654" y="757654"/>
                </a:lnTo>
                <a:lnTo>
                  <a:pt x="0" y="75765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alphaModFix amt="19999"/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45" name="AutoShape 45"/>
          <p:cNvSpPr/>
          <p:nvPr/>
        </p:nvSpPr>
        <p:spPr>
          <a:xfrm flipH="1">
            <a:off x="2630961" y="4709041"/>
            <a:ext cx="2355084" cy="1454935"/>
          </a:xfrm>
          <a:prstGeom prst="line">
            <a:avLst/>
          </a:prstGeom>
          <a:ln w="95250" cap="flat">
            <a:solidFill>
              <a:srgbClr val="A6A6A6">
                <a:alpha val="19608"/>
              </a:srgbClr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H"/>
          </a:p>
        </p:txBody>
      </p:sp>
      <p:sp>
        <p:nvSpPr>
          <p:cNvPr id="46" name="AutoShape 46"/>
          <p:cNvSpPr/>
          <p:nvPr/>
        </p:nvSpPr>
        <p:spPr>
          <a:xfrm flipH="1" flipV="1">
            <a:off x="13410969" y="4807117"/>
            <a:ext cx="2017376" cy="1245805"/>
          </a:xfrm>
          <a:prstGeom prst="line">
            <a:avLst/>
          </a:prstGeom>
          <a:ln w="95250" cap="flat">
            <a:solidFill>
              <a:srgbClr val="A6A6A6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H"/>
          </a:p>
        </p:txBody>
      </p:sp>
      <p:sp>
        <p:nvSpPr>
          <p:cNvPr id="47" name="TextBox 47"/>
          <p:cNvSpPr txBox="1"/>
          <p:nvPr/>
        </p:nvSpPr>
        <p:spPr>
          <a:xfrm>
            <a:off x="4330043" y="6376571"/>
            <a:ext cx="2807597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>
                    <a:alpha val="19608"/>
                  </a:srgbClr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CP-ABE</a:t>
            </a:r>
          </a:p>
        </p:txBody>
      </p:sp>
      <p:sp>
        <p:nvSpPr>
          <p:cNvPr id="48" name="Freeform 48"/>
          <p:cNvSpPr/>
          <p:nvPr/>
        </p:nvSpPr>
        <p:spPr>
          <a:xfrm>
            <a:off x="12172085" y="5631109"/>
            <a:ext cx="756755" cy="756755"/>
          </a:xfrm>
          <a:custGeom>
            <a:avLst/>
            <a:gdLst/>
            <a:ahLst/>
            <a:cxnLst/>
            <a:rect l="l" t="t" r="r" b="b"/>
            <a:pathLst>
              <a:path w="756755" h="756755">
                <a:moveTo>
                  <a:pt x="0" y="0"/>
                </a:moveTo>
                <a:lnTo>
                  <a:pt x="756755" y="0"/>
                </a:lnTo>
                <a:lnTo>
                  <a:pt x="756755" y="756756"/>
                </a:lnTo>
                <a:lnTo>
                  <a:pt x="0" y="75675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49" name="Freeform 49"/>
          <p:cNvSpPr/>
          <p:nvPr/>
        </p:nvSpPr>
        <p:spPr>
          <a:xfrm>
            <a:off x="5332980" y="5631109"/>
            <a:ext cx="757654" cy="757654"/>
          </a:xfrm>
          <a:custGeom>
            <a:avLst/>
            <a:gdLst/>
            <a:ahLst/>
            <a:cxnLst/>
            <a:rect l="l" t="t" r="r" b="b"/>
            <a:pathLst>
              <a:path w="757654" h="757654">
                <a:moveTo>
                  <a:pt x="0" y="0"/>
                </a:moveTo>
                <a:lnTo>
                  <a:pt x="757654" y="0"/>
                </a:lnTo>
                <a:lnTo>
                  <a:pt x="757654" y="757654"/>
                </a:lnTo>
                <a:lnTo>
                  <a:pt x="0" y="75765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19999"/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50" name="Freeform 50"/>
          <p:cNvSpPr/>
          <p:nvPr/>
        </p:nvSpPr>
        <p:spPr>
          <a:xfrm>
            <a:off x="12172085" y="2378032"/>
            <a:ext cx="756755" cy="756755"/>
          </a:xfrm>
          <a:custGeom>
            <a:avLst/>
            <a:gdLst/>
            <a:ahLst/>
            <a:cxnLst/>
            <a:rect l="l" t="t" r="r" b="b"/>
            <a:pathLst>
              <a:path w="756755" h="756755">
                <a:moveTo>
                  <a:pt x="0" y="0"/>
                </a:moveTo>
                <a:lnTo>
                  <a:pt x="756755" y="0"/>
                </a:lnTo>
                <a:lnTo>
                  <a:pt x="756755" y="756755"/>
                </a:lnTo>
                <a:lnTo>
                  <a:pt x="0" y="75675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51" name="Freeform 51"/>
          <p:cNvSpPr/>
          <p:nvPr/>
        </p:nvSpPr>
        <p:spPr>
          <a:xfrm rot="5400000" flipH="1">
            <a:off x="15216519" y="6604497"/>
            <a:ext cx="1495595" cy="614554"/>
          </a:xfrm>
          <a:custGeom>
            <a:avLst/>
            <a:gdLst/>
            <a:ahLst/>
            <a:cxnLst/>
            <a:rect l="l" t="t" r="r" b="b"/>
            <a:pathLst>
              <a:path w="1495595" h="614554">
                <a:moveTo>
                  <a:pt x="1495595" y="0"/>
                </a:moveTo>
                <a:lnTo>
                  <a:pt x="0" y="0"/>
                </a:lnTo>
                <a:lnTo>
                  <a:pt x="0" y="614553"/>
                </a:lnTo>
                <a:lnTo>
                  <a:pt x="1495595" y="614553"/>
                </a:lnTo>
                <a:lnTo>
                  <a:pt x="149559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52" name="TextBox 52"/>
          <p:cNvSpPr txBox="1"/>
          <p:nvPr/>
        </p:nvSpPr>
        <p:spPr>
          <a:xfrm>
            <a:off x="11146664" y="3069011"/>
            <a:ext cx="2807597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AES-256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485074" y="4472821"/>
            <a:ext cx="167722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>
                    <a:alpha val="19608"/>
                  </a:srgbClr>
                </a:solidFill>
                <a:latin typeface="Public Sans"/>
                <a:ea typeface="Public Sans"/>
                <a:cs typeface="Public Sans"/>
                <a:sym typeface="Public Sans"/>
              </a:rPr>
              <a:t>EHR File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849630" y="4472821"/>
            <a:ext cx="2589354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Encrypted EHR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330043" y="3069011"/>
            <a:ext cx="2807597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>
                    <a:alpha val="19608"/>
                  </a:srgbClr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AES-256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849630" y="7780381"/>
            <a:ext cx="2589354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Encrypted</a:t>
            </a: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AES Key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146664" y="6376571"/>
            <a:ext cx="2807597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CP-ABE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5125706" y="7780381"/>
            <a:ext cx="167722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AES Key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5125706" y="4436647"/>
            <a:ext cx="167722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EHR File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85074" y="7780381"/>
            <a:ext cx="167722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>
                    <a:alpha val="19608"/>
                  </a:srgbClr>
                </a:solidFill>
                <a:latin typeface="Public Sans"/>
                <a:ea typeface="Public Sans"/>
                <a:cs typeface="Public Sans"/>
                <a:sym typeface="Public Sans"/>
              </a:rPr>
              <a:t>AES Key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41151">
            <a:off x="-888644" y="-1837067"/>
            <a:ext cx="20065287" cy="13961134"/>
          </a:xfrm>
          <a:custGeom>
            <a:avLst/>
            <a:gdLst/>
            <a:ahLst/>
            <a:cxnLst/>
            <a:rect l="l" t="t" r="r" b="b"/>
            <a:pathLst>
              <a:path w="20065287" h="13961134">
                <a:moveTo>
                  <a:pt x="2200657" y="0"/>
                </a:moveTo>
                <a:lnTo>
                  <a:pt x="20065288" y="3912280"/>
                </a:lnTo>
                <a:lnTo>
                  <a:pt x="17864631" y="13961134"/>
                </a:lnTo>
                <a:lnTo>
                  <a:pt x="0" y="10048854"/>
                </a:lnTo>
                <a:lnTo>
                  <a:pt x="2200657" y="0"/>
                </a:lnTo>
                <a:close/>
              </a:path>
            </a:pathLst>
          </a:custGeom>
          <a:blipFill>
            <a:blip r:embed="rId2"/>
            <a:stretch>
              <a:fillRect l="-1241" r="-8451" b="-11342"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" name="Freeform 3"/>
          <p:cNvSpPr/>
          <p:nvPr/>
        </p:nvSpPr>
        <p:spPr>
          <a:xfrm rot="2871075">
            <a:off x="15350015" y="-2421040"/>
            <a:ext cx="5078392" cy="5072044"/>
          </a:xfrm>
          <a:custGeom>
            <a:avLst/>
            <a:gdLst/>
            <a:ahLst/>
            <a:cxnLst/>
            <a:rect l="l" t="t" r="r" b="b"/>
            <a:pathLst>
              <a:path w="5078392" h="5072044">
                <a:moveTo>
                  <a:pt x="0" y="0"/>
                </a:moveTo>
                <a:lnTo>
                  <a:pt x="5078392" y="0"/>
                </a:lnTo>
                <a:lnTo>
                  <a:pt x="5078392" y="5072044"/>
                </a:lnTo>
                <a:lnTo>
                  <a:pt x="0" y="50720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Box 4"/>
          <p:cNvSpPr txBox="1"/>
          <p:nvPr/>
        </p:nvSpPr>
        <p:spPr>
          <a:xfrm>
            <a:off x="1088449" y="1123950"/>
            <a:ext cx="8434070" cy="72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8"/>
              </a:lnSpc>
              <a:spcBef>
                <a:spcPct val="0"/>
              </a:spcBef>
            </a:pPr>
            <a:r>
              <a:rPr lang="en-US" sz="5196" b="1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Proxy Re-Encryption (PRE)</a:t>
            </a:r>
          </a:p>
        </p:txBody>
      </p:sp>
      <p:sp>
        <p:nvSpPr>
          <p:cNvPr id="5" name="Freeform 5"/>
          <p:cNvSpPr/>
          <p:nvPr/>
        </p:nvSpPr>
        <p:spPr>
          <a:xfrm>
            <a:off x="6297718" y="6702110"/>
            <a:ext cx="3098412" cy="2556190"/>
          </a:xfrm>
          <a:custGeom>
            <a:avLst/>
            <a:gdLst/>
            <a:ahLst/>
            <a:cxnLst/>
            <a:rect l="l" t="t" r="r" b="b"/>
            <a:pathLst>
              <a:path w="3098412" h="2556190">
                <a:moveTo>
                  <a:pt x="0" y="0"/>
                </a:moveTo>
                <a:lnTo>
                  <a:pt x="3098412" y="0"/>
                </a:lnTo>
                <a:lnTo>
                  <a:pt x="3098412" y="2556190"/>
                </a:lnTo>
                <a:lnTo>
                  <a:pt x="0" y="25561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6" name="Group 6"/>
          <p:cNvGrpSpPr/>
          <p:nvPr/>
        </p:nvGrpSpPr>
        <p:grpSpPr>
          <a:xfrm>
            <a:off x="9685984" y="7272779"/>
            <a:ext cx="2304297" cy="1414852"/>
            <a:chOff x="0" y="0"/>
            <a:chExt cx="616731" cy="3786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16731" cy="378677"/>
            </a:xfrm>
            <a:custGeom>
              <a:avLst/>
              <a:gdLst/>
              <a:ahLst/>
              <a:cxnLst/>
              <a:rect l="l" t="t" r="r" b="b"/>
              <a:pathLst>
                <a:path w="616731" h="378677">
                  <a:moveTo>
                    <a:pt x="100793" y="0"/>
                  </a:moveTo>
                  <a:lnTo>
                    <a:pt x="515938" y="0"/>
                  </a:lnTo>
                  <a:cubicBezTo>
                    <a:pt x="571605" y="0"/>
                    <a:pt x="616731" y="45127"/>
                    <a:pt x="616731" y="100793"/>
                  </a:cubicBezTo>
                  <a:lnTo>
                    <a:pt x="616731" y="277883"/>
                  </a:lnTo>
                  <a:cubicBezTo>
                    <a:pt x="616731" y="304616"/>
                    <a:pt x="606112" y="330253"/>
                    <a:pt x="587210" y="349155"/>
                  </a:cubicBezTo>
                  <a:cubicBezTo>
                    <a:pt x="568307" y="368057"/>
                    <a:pt x="542670" y="378677"/>
                    <a:pt x="515938" y="378677"/>
                  </a:cubicBezTo>
                  <a:lnTo>
                    <a:pt x="100793" y="378677"/>
                  </a:lnTo>
                  <a:cubicBezTo>
                    <a:pt x="74061" y="378677"/>
                    <a:pt x="48424" y="368057"/>
                    <a:pt x="29522" y="349155"/>
                  </a:cubicBezTo>
                  <a:cubicBezTo>
                    <a:pt x="10619" y="330253"/>
                    <a:pt x="0" y="304616"/>
                    <a:pt x="0" y="277883"/>
                  </a:cubicBezTo>
                  <a:lnTo>
                    <a:pt x="0" y="100793"/>
                  </a:lnTo>
                  <a:cubicBezTo>
                    <a:pt x="0" y="74061"/>
                    <a:pt x="10619" y="48424"/>
                    <a:pt x="29522" y="29522"/>
                  </a:cubicBezTo>
                  <a:cubicBezTo>
                    <a:pt x="48424" y="10619"/>
                    <a:pt x="74061" y="0"/>
                    <a:pt x="10079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8CFF"/>
              </a:solidFill>
              <a:prstDash val="solid"/>
              <a:round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16731" cy="416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784059" y="7558562"/>
            <a:ext cx="2108149" cy="871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4"/>
              </a:lnSpc>
            </a:pPr>
            <a:r>
              <a:rPr lang="en-US" sz="3144" b="1">
                <a:solidFill>
                  <a:srgbClr val="008CFF"/>
                </a:solidFill>
                <a:latin typeface="Raleway Bold"/>
                <a:ea typeface="Raleway Bold"/>
                <a:cs typeface="Raleway Bold"/>
                <a:sym typeface="Raleway Bold"/>
              </a:rPr>
              <a:t>Proxy Gateway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620831" y="114982"/>
            <a:ext cx="504464" cy="504464"/>
            <a:chOff x="0" y="0"/>
            <a:chExt cx="672618" cy="672618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672618" cy="672618"/>
              <a:chOff x="0" y="0"/>
              <a:chExt cx="174157" cy="17415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74157" cy="174157"/>
              </a:xfrm>
              <a:custGeom>
                <a:avLst/>
                <a:gdLst/>
                <a:ahLst/>
                <a:cxnLst/>
                <a:rect l="l" t="t" r="r" b="b"/>
                <a:pathLst>
                  <a:path w="174157" h="174157">
                    <a:moveTo>
                      <a:pt x="87079" y="0"/>
                    </a:moveTo>
                    <a:lnTo>
                      <a:pt x="87079" y="0"/>
                    </a:lnTo>
                    <a:cubicBezTo>
                      <a:pt x="135171" y="0"/>
                      <a:pt x="174157" y="38986"/>
                      <a:pt x="174157" y="87079"/>
                    </a:cubicBezTo>
                    <a:lnTo>
                      <a:pt x="174157" y="87079"/>
                    </a:lnTo>
                    <a:cubicBezTo>
                      <a:pt x="174157" y="135171"/>
                      <a:pt x="135171" y="174157"/>
                      <a:pt x="87079" y="174157"/>
                    </a:cubicBezTo>
                    <a:lnTo>
                      <a:pt x="87079" y="174157"/>
                    </a:lnTo>
                    <a:cubicBezTo>
                      <a:pt x="38986" y="174157"/>
                      <a:pt x="0" y="135171"/>
                      <a:pt x="0" y="87079"/>
                    </a:cubicBezTo>
                    <a:lnTo>
                      <a:pt x="0" y="87079"/>
                    </a:lnTo>
                    <a:cubicBezTo>
                      <a:pt x="0" y="38986"/>
                      <a:pt x="38986" y="0"/>
                      <a:pt x="87079" y="0"/>
                    </a:cubicBezTo>
                    <a:close/>
                  </a:path>
                </a:pathLst>
              </a:custGeom>
              <a:solidFill>
                <a:srgbClr val="6BBEF4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174157" cy="231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46424" y="72949"/>
              <a:ext cx="579770" cy="47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r>
                <a:rPr lang="en-US" sz="2136" b="1">
                  <a:solidFill>
                    <a:srgbClr val="FCFFFE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11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5355015" y="2341859"/>
            <a:ext cx="757654" cy="757654"/>
          </a:xfrm>
          <a:custGeom>
            <a:avLst/>
            <a:gdLst/>
            <a:ahLst/>
            <a:cxnLst/>
            <a:rect l="l" t="t" r="r" b="b"/>
            <a:pathLst>
              <a:path w="757654" h="757654">
                <a:moveTo>
                  <a:pt x="0" y="0"/>
                </a:moveTo>
                <a:lnTo>
                  <a:pt x="757654" y="0"/>
                </a:lnTo>
                <a:lnTo>
                  <a:pt x="757654" y="757653"/>
                </a:lnTo>
                <a:lnTo>
                  <a:pt x="0" y="7576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6" name="Freeform 16"/>
          <p:cNvSpPr/>
          <p:nvPr/>
        </p:nvSpPr>
        <p:spPr>
          <a:xfrm>
            <a:off x="12171635" y="2341859"/>
            <a:ext cx="757654" cy="757654"/>
          </a:xfrm>
          <a:custGeom>
            <a:avLst/>
            <a:gdLst/>
            <a:ahLst/>
            <a:cxnLst/>
            <a:rect l="l" t="t" r="r" b="b"/>
            <a:pathLst>
              <a:path w="757654" h="757654">
                <a:moveTo>
                  <a:pt x="0" y="0"/>
                </a:moveTo>
                <a:lnTo>
                  <a:pt x="757654" y="0"/>
                </a:lnTo>
                <a:lnTo>
                  <a:pt x="757654" y="757653"/>
                </a:lnTo>
                <a:lnTo>
                  <a:pt x="0" y="7576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7" name="AutoShape 17"/>
          <p:cNvSpPr/>
          <p:nvPr/>
        </p:nvSpPr>
        <p:spPr>
          <a:xfrm flipV="1">
            <a:off x="3618668" y="3808807"/>
            <a:ext cx="4230348" cy="0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H"/>
          </a:p>
        </p:txBody>
      </p:sp>
      <p:sp>
        <p:nvSpPr>
          <p:cNvPr id="18" name="AutoShape 18"/>
          <p:cNvSpPr/>
          <p:nvPr/>
        </p:nvSpPr>
        <p:spPr>
          <a:xfrm flipV="1">
            <a:off x="10435288" y="3808807"/>
            <a:ext cx="4230348" cy="0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H"/>
          </a:p>
        </p:txBody>
      </p:sp>
      <p:grpSp>
        <p:nvGrpSpPr>
          <p:cNvPr id="19" name="Group 19"/>
          <p:cNvGrpSpPr/>
          <p:nvPr/>
        </p:nvGrpSpPr>
        <p:grpSpPr>
          <a:xfrm>
            <a:off x="1028700" y="2474115"/>
            <a:ext cx="2589968" cy="2669385"/>
            <a:chOff x="0" y="0"/>
            <a:chExt cx="682131" cy="70304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2131" cy="703048"/>
            </a:xfrm>
            <a:custGeom>
              <a:avLst/>
              <a:gdLst/>
              <a:ahLst/>
              <a:cxnLst/>
              <a:rect l="l" t="t" r="r" b="b"/>
              <a:pathLst>
                <a:path w="682131" h="703048">
                  <a:moveTo>
                    <a:pt x="0" y="0"/>
                  </a:moveTo>
                  <a:lnTo>
                    <a:pt x="682131" y="0"/>
                  </a:lnTo>
                  <a:lnTo>
                    <a:pt x="682131" y="703048"/>
                  </a:lnTo>
                  <a:lnTo>
                    <a:pt x="0" y="703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42875"/>
              <a:ext cx="682131" cy="845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3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849630" y="2474115"/>
            <a:ext cx="2589968" cy="2669385"/>
            <a:chOff x="0" y="0"/>
            <a:chExt cx="682131" cy="70304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82131" cy="703048"/>
            </a:xfrm>
            <a:custGeom>
              <a:avLst/>
              <a:gdLst/>
              <a:ahLst/>
              <a:cxnLst/>
              <a:rect l="l" t="t" r="r" b="b"/>
              <a:pathLst>
                <a:path w="682131" h="703048">
                  <a:moveTo>
                    <a:pt x="0" y="0"/>
                  </a:moveTo>
                  <a:lnTo>
                    <a:pt x="682131" y="0"/>
                  </a:lnTo>
                  <a:lnTo>
                    <a:pt x="682131" y="703048"/>
                  </a:lnTo>
                  <a:lnTo>
                    <a:pt x="0" y="703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42875"/>
              <a:ext cx="682131" cy="845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3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5412249" y="2820242"/>
            <a:ext cx="1084306" cy="1495595"/>
          </a:xfrm>
          <a:custGeom>
            <a:avLst/>
            <a:gdLst/>
            <a:ahLst/>
            <a:cxnLst/>
            <a:rect l="l" t="t" r="r" b="b"/>
            <a:pathLst>
              <a:path w="1084306" h="1495595">
                <a:moveTo>
                  <a:pt x="0" y="0"/>
                </a:moveTo>
                <a:lnTo>
                  <a:pt x="1084306" y="0"/>
                </a:lnTo>
                <a:lnTo>
                  <a:pt x="1084306" y="1495595"/>
                </a:lnTo>
                <a:lnTo>
                  <a:pt x="0" y="14955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26" name="Group 26"/>
          <p:cNvGrpSpPr/>
          <p:nvPr/>
        </p:nvGrpSpPr>
        <p:grpSpPr>
          <a:xfrm>
            <a:off x="14659111" y="2474115"/>
            <a:ext cx="2589968" cy="3188768"/>
            <a:chOff x="0" y="0"/>
            <a:chExt cx="682131" cy="8398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82131" cy="839840"/>
            </a:xfrm>
            <a:custGeom>
              <a:avLst/>
              <a:gdLst/>
              <a:ahLst/>
              <a:cxnLst/>
              <a:rect l="l" t="t" r="r" b="b"/>
              <a:pathLst>
                <a:path w="682131" h="839840">
                  <a:moveTo>
                    <a:pt x="0" y="0"/>
                  </a:moveTo>
                  <a:lnTo>
                    <a:pt x="682131" y="0"/>
                  </a:lnTo>
                  <a:lnTo>
                    <a:pt x="682131" y="839840"/>
                  </a:lnTo>
                  <a:lnTo>
                    <a:pt x="0" y="839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42875"/>
              <a:ext cx="682131" cy="98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3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 rot="5400000" flipH="1">
            <a:off x="5131766" y="4392085"/>
            <a:ext cx="1204153" cy="494797"/>
          </a:xfrm>
          <a:custGeom>
            <a:avLst/>
            <a:gdLst/>
            <a:ahLst/>
            <a:cxnLst/>
            <a:rect l="l" t="t" r="r" b="b"/>
            <a:pathLst>
              <a:path w="1204153" h="494797">
                <a:moveTo>
                  <a:pt x="1204152" y="0"/>
                </a:moveTo>
                <a:lnTo>
                  <a:pt x="0" y="0"/>
                </a:lnTo>
                <a:lnTo>
                  <a:pt x="0" y="494798"/>
                </a:lnTo>
                <a:lnTo>
                  <a:pt x="1204152" y="494798"/>
                </a:lnTo>
                <a:lnTo>
                  <a:pt x="1204152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0" name="Freeform 30"/>
          <p:cNvSpPr/>
          <p:nvPr/>
        </p:nvSpPr>
        <p:spPr>
          <a:xfrm rot="5400000" flipH="1">
            <a:off x="11948386" y="4380749"/>
            <a:ext cx="1204153" cy="494797"/>
          </a:xfrm>
          <a:custGeom>
            <a:avLst/>
            <a:gdLst/>
            <a:ahLst/>
            <a:cxnLst/>
            <a:rect l="l" t="t" r="r" b="b"/>
            <a:pathLst>
              <a:path w="1204153" h="494797">
                <a:moveTo>
                  <a:pt x="1204153" y="0"/>
                </a:moveTo>
                <a:lnTo>
                  <a:pt x="0" y="0"/>
                </a:lnTo>
                <a:lnTo>
                  <a:pt x="0" y="494798"/>
                </a:lnTo>
                <a:lnTo>
                  <a:pt x="1204153" y="494798"/>
                </a:lnTo>
                <a:lnTo>
                  <a:pt x="1204153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1" name="Freeform 31"/>
          <p:cNvSpPr/>
          <p:nvPr/>
        </p:nvSpPr>
        <p:spPr>
          <a:xfrm>
            <a:off x="1781838" y="2820242"/>
            <a:ext cx="1084306" cy="1495595"/>
          </a:xfrm>
          <a:custGeom>
            <a:avLst/>
            <a:gdLst/>
            <a:ahLst/>
            <a:cxnLst/>
            <a:rect l="l" t="t" r="r" b="b"/>
            <a:pathLst>
              <a:path w="1084306" h="1495595">
                <a:moveTo>
                  <a:pt x="0" y="0"/>
                </a:moveTo>
                <a:lnTo>
                  <a:pt x="1084306" y="0"/>
                </a:lnTo>
                <a:lnTo>
                  <a:pt x="1084306" y="1495595"/>
                </a:lnTo>
                <a:lnTo>
                  <a:pt x="0" y="14955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2" name="Freeform 32"/>
          <p:cNvSpPr/>
          <p:nvPr/>
        </p:nvSpPr>
        <p:spPr>
          <a:xfrm rot="5400000" flipH="1">
            <a:off x="8396817" y="3260763"/>
            <a:ext cx="1495595" cy="614554"/>
          </a:xfrm>
          <a:custGeom>
            <a:avLst/>
            <a:gdLst/>
            <a:ahLst/>
            <a:cxnLst/>
            <a:rect l="l" t="t" r="r" b="b"/>
            <a:pathLst>
              <a:path w="1495595" h="614554">
                <a:moveTo>
                  <a:pt x="1495595" y="0"/>
                </a:moveTo>
                <a:lnTo>
                  <a:pt x="0" y="0"/>
                </a:lnTo>
                <a:lnTo>
                  <a:pt x="0" y="614554"/>
                </a:lnTo>
                <a:lnTo>
                  <a:pt x="1495595" y="614554"/>
                </a:lnTo>
                <a:lnTo>
                  <a:pt x="1495595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3" name="TextBox 33"/>
          <p:cNvSpPr txBox="1"/>
          <p:nvPr/>
        </p:nvSpPr>
        <p:spPr>
          <a:xfrm>
            <a:off x="4330043" y="3032837"/>
            <a:ext cx="2807597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CP-ABE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146664" y="3032837"/>
            <a:ext cx="2807597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CP-ABE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9314" y="4436647"/>
            <a:ext cx="2589354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Encrypted</a:t>
            </a: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AES Key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06004" y="4436647"/>
            <a:ext cx="167722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AES Key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659725" y="4436647"/>
            <a:ext cx="2589354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Re-Encrypted AES Key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289544" y="5355860"/>
            <a:ext cx="2888596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E62F2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Proxy’s SK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514647" y="5355860"/>
            <a:ext cx="2071630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8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AR’s PK</a:t>
            </a:r>
          </a:p>
        </p:txBody>
      </p:sp>
      <p:sp>
        <p:nvSpPr>
          <p:cNvPr id="40" name="Freeform 40"/>
          <p:cNvSpPr/>
          <p:nvPr/>
        </p:nvSpPr>
        <p:spPr>
          <a:xfrm>
            <a:off x="15094530" y="2544502"/>
            <a:ext cx="635438" cy="635438"/>
          </a:xfrm>
          <a:custGeom>
            <a:avLst/>
            <a:gdLst/>
            <a:ahLst/>
            <a:cxnLst/>
            <a:rect l="l" t="t" r="r" b="b"/>
            <a:pathLst>
              <a:path w="635438" h="635438">
                <a:moveTo>
                  <a:pt x="0" y="0"/>
                </a:moveTo>
                <a:lnTo>
                  <a:pt x="635438" y="0"/>
                </a:lnTo>
                <a:lnTo>
                  <a:pt x="635438" y="635438"/>
                </a:lnTo>
                <a:lnTo>
                  <a:pt x="0" y="63543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41151">
            <a:off x="-888644" y="-1837067"/>
            <a:ext cx="20065287" cy="13961134"/>
          </a:xfrm>
          <a:custGeom>
            <a:avLst/>
            <a:gdLst/>
            <a:ahLst/>
            <a:cxnLst/>
            <a:rect l="l" t="t" r="r" b="b"/>
            <a:pathLst>
              <a:path w="20065287" h="13961134">
                <a:moveTo>
                  <a:pt x="2200657" y="0"/>
                </a:moveTo>
                <a:lnTo>
                  <a:pt x="20065288" y="3912280"/>
                </a:lnTo>
                <a:lnTo>
                  <a:pt x="17864631" y="13961134"/>
                </a:lnTo>
                <a:lnTo>
                  <a:pt x="0" y="10048854"/>
                </a:lnTo>
                <a:lnTo>
                  <a:pt x="2200657" y="0"/>
                </a:lnTo>
                <a:close/>
              </a:path>
            </a:pathLst>
          </a:custGeom>
          <a:blipFill>
            <a:blip r:embed="rId2"/>
            <a:stretch>
              <a:fillRect l="-1241" r="-8451" b="-11342"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" name="Freeform 3"/>
          <p:cNvSpPr/>
          <p:nvPr/>
        </p:nvSpPr>
        <p:spPr>
          <a:xfrm rot="2871075">
            <a:off x="15350015" y="-2421040"/>
            <a:ext cx="5078392" cy="5072044"/>
          </a:xfrm>
          <a:custGeom>
            <a:avLst/>
            <a:gdLst/>
            <a:ahLst/>
            <a:cxnLst/>
            <a:rect l="l" t="t" r="r" b="b"/>
            <a:pathLst>
              <a:path w="5078392" h="5072044">
                <a:moveTo>
                  <a:pt x="0" y="0"/>
                </a:moveTo>
                <a:lnTo>
                  <a:pt x="5078392" y="0"/>
                </a:lnTo>
                <a:lnTo>
                  <a:pt x="5078392" y="5072044"/>
                </a:lnTo>
                <a:lnTo>
                  <a:pt x="0" y="50720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Box 4"/>
          <p:cNvSpPr txBox="1"/>
          <p:nvPr/>
        </p:nvSpPr>
        <p:spPr>
          <a:xfrm>
            <a:off x="1088449" y="1123950"/>
            <a:ext cx="8870589" cy="72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8"/>
              </a:lnSpc>
              <a:spcBef>
                <a:spcPct val="0"/>
              </a:spcBef>
            </a:pPr>
            <a:r>
              <a:rPr lang="en-US" sz="5196" b="1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Proxy Re-Encryption (PRE)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730921" y="8336393"/>
            <a:ext cx="2557079" cy="1840738"/>
            <a:chOff x="0" y="0"/>
            <a:chExt cx="3409439" cy="2454317"/>
          </a:xfrm>
        </p:grpSpPr>
        <p:sp>
          <p:nvSpPr>
            <p:cNvPr id="6" name="Freeform 6"/>
            <p:cNvSpPr/>
            <p:nvPr/>
          </p:nvSpPr>
          <p:spPr>
            <a:xfrm>
              <a:off x="985924" y="0"/>
              <a:ext cx="1506327" cy="1823088"/>
            </a:xfrm>
            <a:custGeom>
              <a:avLst/>
              <a:gdLst/>
              <a:ahLst/>
              <a:cxnLst/>
              <a:rect l="l" t="t" r="r" b="b"/>
              <a:pathLst>
                <a:path w="1506327" h="1823088">
                  <a:moveTo>
                    <a:pt x="0" y="0"/>
                  </a:moveTo>
                  <a:lnTo>
                    <a:pt x="1506327" y="0"/>
                  </a:lnTo>
                  <a:lnTo>
                    <a:pt x="1506327" y="1823088"/>
                  </a:lnTo>
                  <a:lnTo>
                    <a:pt x="0" y="1823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746715"/>
              <a:ext cx="3409439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Doctor  (AR)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620831" y="114982"/>
            <a:ext cx="504464" cy="504464"/>
            <a:chOff x="0" y="0"/>
            <a:chExt cx="672618" cy="672618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672618" cy="672618"/>
              <a:chOff x="0" y="0"/>
              <a:chExt cx="174157" cy="17415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74157" cy="174157"/>
              </a:xfrm>
              <a:custGeom>
                <a:avLst/>
                <a:gdLst/>
                <a:ahLst/>
                <a:cxnLst/>
                <a:rect l="l" t="t" r="r" b="b"/>
                <a:pathLst>
                  <a:path w="174157" h="174157">
                    <a:moveTo>
                      <a:pt x="87079" y="0"/>
                    </a:moveTo>
                    <a:lnTo>
                      <a:pt x="87079" y="0"/>
                    </a:lnTo>
                    <a:cubicBezTo>
                      <a:pt x="135171" y="0"/>
                      <a:pt x="174157" y="38986"/>
                      <a:pt x="174157" y="87079"/>
                    </a:cubicBezTo>
                    <a:lnTo>
                      <a:pt x="174157" y="87079"/>
                    </a:lnTo>
                    <a:cubicBezTo>
                      <a:pt x="174157" y="135171"/>
                      <a:pt x="135171" y="174157"/>
                      <a:pt x="87079" y="174157"/>
                    </a:cubicBezTo>
                    <a:lnTo>
                      <a:pt x="87079" y="174157"/>
                    </a:lnTo>
                    <a:cubicBezTo>
                      <a:pt x="38986" y="174157"/>
                      <a:pt x="0" y="135171"/>
                      <a:pt x="0" y="87079"/>
                    </a:cubicBezTo>
                    <a:lnTo>
                      <a:pt x="0" y="87079"/>
                    </a:lnTo>
                    <a:cubicBezTo>
                      <a:pt x="0" y="38986"/>
                      <a:pt x="38986" y="0"/>
                      <a:pt x="87079" y="0"/>
                    </a:cubicBezTo>
                    <a:close/>
                  </a:path>
                </a:pathLst>
              </a:custGeom>
              <a:solidFill>
                <a:srgbClr val="6BBEF4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57150"/>
                <a:ext cx="174157" cy="231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6424" y="72949"/>
              <a:ext cx="579770" cy="47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r>
                <a:rPr lang="en-US" sz="2136" b="1">
                  <a:solidFill>
                    <a:srgbClr val="FCFFFE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12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flipH="1">
            <a:off x="6803591" y="5662883"/>
            <a:ext cx="9150504" cy="2106757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H"/>
          </a:p>
        </p:txBody>
      </p:sp>
      <p:sp>
        <p:nvSpPr>
          <p:cNvPr id="14" name="Freeform 14"/>
          <p:cNvSpPr/>
          <p:nvPr/>
        </p:nvSpPr>
        <p:spPr>
          <a:xfrm>
            <a:off x="5355015" y="2341859"/>
            <a:ext cx="757654" cy="757654"/>
          </a:xfrm>
          <a:custGeom>
            <a:avLst/>
            <a:gdLst/>
            <a:ahLst/>
            <a:cxnLst/>
            <a:rect l="l" t="t" r="r" b="b"/>
            <a:pathLst>
              <a:path w="757654" h="757654">
                <a:moveTo>
                  <a:pt x="0" y="0"/>
                </a:moveTo>
                <a:lnTo>
                  <a:pt x="757654" y="0"/>
                </a:lnTo>
                <a:lnTo>
                  <a:pt x="757654" y="757653"/>
                </a:lnTo>
                <a:lnTo>
                  <a:pt x="0" y="7576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5" name="Freeform 15"/>
          <p:cNvSpPr/>
          <p:nvPr/>
        </p:nvSpPr>
        <p:spPr>
          <a:xfrm>
            <a:off x="12171635" y="2341859"/>
            <a:ext cx="757654" cy="757654"/>
          </a:xfrm>
          <a:custGeom>
            <a:avLst/>
            <a:gdLst/>
            <a:ahLst/>
            <a:cxnLst/>
            <a:rect l="l" t="t" r="r" b="b"/>
            <a:pathLst>
              <a:path w="757654" h="757654">
                <a:moveTo>
                  <a:pt x="0" y="0"/>
                </a:moveTo>
                <a:lnTo>
                  <a:pt x="757654" y="0"/>
                </a:lnTo>
                <a:lnTo>
                  <a:pt x="757654" y="757653"/>
                </a:lnTo>
                <a:lnTo>
                  <a:pt x="0" y="7576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6" name="Freeform 16"/>
          <p:cNvSpPr/>
          <p:nvPr/>
        </p:nvSpPr>
        <p:spPr>
          <a:xfrm rot="5400000" flipH="1">
            <a:off x="11019652" y="8309555"/>
            <a:ext cx="1204153" cy="494797"/>
          </a:xfrm>
          <a:custGeom>
            <a:avLst/>
            <a:gdLst/>
            <a:ahLst/>
            <a:cxnLst/>
            <a:rect l="l" t="t" r="r" b="b"/>
            <a:pathLst>
              <a:path w="1204153" h="494797">
                <a:moveTo>
                  <a:pt x="1204153" y="0"/>
                </a:moveTo>
                <a:lnTo>
                  <a:pt x="0" y="0"/>
                </a:lnTo>
                <a:lnTo>
                  <a:pt x="0" y="494798"/>
                </a:lnTo>
                <a:lnTo>
                  <a:pt x="1204153" y="494798"/>
                </a:lnTo>
                <a:lnTo>
                  <a:pt x="120415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7" name="AutoShape 17"/>
          <p:cNvSpPr/>
          <p:nvPr/>
        </p:nvSpPr>
        <p:spPr>
          <a:xfrm flipV="1">
            <a:off x="3618668" y="3808807"/>
            <a:ext cx="4230348" cy="0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H"/>
          </a:p>
        </p:txBody>
      </p:sp>
      <p:sp>
        <p:nvSpPr>
          <p:cNvPr id="18" name="AutoShape 18"/>
          <p:cNvSpPr/>
          <p:nvPr/>
        </p:nvSpPr>
        <p:spPr>
          <a:xfrm flipV="1">
            <a:off x="10435288" y="3808807"/>
            <a:ext cx="4230348" cy="0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H"/>
          </a:p>
        </p:txBody>
      </p:sp>
      <p:grpSp>
        <p:nvGrpSpPr>
          <p:cNvPr id="19" name="Group 19"/>
          <p:cNvGrpSpPr/>
          <p:nvPr/>
        </p:nvGrpSpPr>
        <p:grpSpPr>
          <a:xfrm>
            <a:off x="1028700" y="2474115"/>
            <a:ext cx="2589968" cy="2669385"/>
            <a:chOff x="0" y="0"/>
            <a:chExt cx="682131" cy="70304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2131" cy="703048"/>
            </a:xfrm>
            <a:custGeom>
              <a:avLst/>
              <a:gdLst/>
              <a:ahLst/>
              <a:cxnLst/>
              <a:rect l="l" t="t" r="r" b="b"/>
              <a:pathLst>
                <a:path w="682131" h="703048">
                  <a:moveTo>
                    <a:pt x="0" y="0"/>
                  </a:moveTo>
                  <a:lnTo>
                    <a:pt x="682131" y="0"/>
                  </a:lnTo>
                  <a:lnTo>
                    <a:pt x="682131" y="703048"/>
                  </a:lnTo>
                  <a:lnTo>
                    <a:pt x="0" y="703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42875"/>
              <a:ext cx="682131" cy="845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3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849630" y="2474115"/>
            <a:ext cx="2589968" cy="2669385"/>
            <a:chOff x="0" y="0"/>
            <a:chExt cx="682131" cy="70304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82131" cy="703048"/>
            </a:xfrm>
            <a:custGeom>
              <a:avLst/>
              <a:gdLst/>
              <a:ahLst/>
              <a:cxnLst/>
              <a:rect l="l" t="t" r="r" b="b"/>
              <a:pathLst>
                <a:path w="682131" h="703048">
                  <a:moveTo>
                    <a:pt x="0" y="0"/>
                  </a:moveTo>
                  <a:lnTo>
                    <a:pt x="682131" y="0"/>
                  </a:lnTo>
                  <a:lnTo>
                    <a:pt x="682131" y="703048"/>
                  </a:lnTo>
                  <a:lnTo>
                    <a:pt x="0" y="703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42875"/>
              <a:ext cx="682131" cy="845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3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659111" y="2474115"/>
            <a:ext cx="2589968" cy="3188768"/>
            <a:chOff x="0" y="0"/>
            <a:chExt cx="682131" cy="8398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82131" cy="839840"/>
            </a:xfrm>
            <a:custGeom>
              <a:avLst/>
              <a:gdLst/>
              <a:ahLst/>
              <a:cxnLst/>
              <a:rect l="l" t="t" r="r" b="b"/>
              <a:pathLst>
                <a:path w="682131" h="839840">
                  <a:moveTo>
                    <a:pt x="0" y="0"/>
                  </a:moveTo>
                  <a:lnTo>
                    <a:pt x="682131" y="0"/>
                  </a:lnTo>
                  <a:lnTo>
                    <a:pt x="682131" y="839840"/>
                  </a:lnTo>
                  <a:lnTo>
                    <a:pt x="0" y="839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42875"/>
              <a:ext cx="682131" cy="98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3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5412249" y="2820242"/>
            <a:ext cx="1084306" cy="1495595"/>
          </a:xfrm>
          <a:custGeom>
            <a:avLst/>
            <a:gdLst/>
            <a:ahLst/>
            <a:cxnLst/>
            <a:rect l="l" t="t" r="r" b="b"/>
            <a:pathLst>
              <a:path w="1084306" h="1495595">
                <a:moveTo>
                  <a:pt x="0" y="0"/>
                </a:moveTo>
                <a:lnTo>
                  <a:pt x="1084306" y="0"/>
                </a:lnTo>
                <a:lnTo>
                  <a:pt x="1084306" y="1495595"/>
                </a:lnTo>
                <a:lnTo>
                  <a:pt x="0" y="14955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9" name="Freeform 29"/>
          <p:cNvSpPr/>
          <p:nvPr/>
        </p:nvSpPr>
        <p:spPr>
          <a:xfrm rot="5400000" flipH="1">
            <a:off x="5131766" y="4392085"/>
            <a:ext cx="1204153" cy="494797"/>
          </a:xfrm>
          <a:custGeom>
            <a:avLst/>
            <a:gdLst/>
            <a:ahLst/>
            <a:cxnLst/>
            <a:rect l="l" t="t" r="r" b="b"/>
            <a:pathLst>
              <a:path w="1204153" h="494797">
                <a:moveTo>
                  <a:pt x="1204152" y="0"/>
                </a:moveTo>
                <a:lnTo>
                  <a:pt x="0" y="0"/>
                </a:lnTo>
                <a:lnTo>
                  <a:pt x="0" y="494798"/>
                </a:lnTo>
                <a:lnTo>
                  <a:pt x="1204152" y="494798"/>
                </a:lnTo>
                <a:lnTo>
                  <a:pt x="1204152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0" name="Freeform 30"/>
          <p:cNvSpPr/>
          <p:nvPr/>
        </p:nvSpPr>
        <p:spPr>
          <a:xfrm rot="5400000" flipH="1">
            <a:off x="11948386" y="4380749"/>
            <a:ext cx="1204153" cy="494797"/>
          </a:xfrm>
          <a:custGeom>
            <a:avLst/>
            <a:gdLst/>
            <a:ahLst/>
            <a:cxnLst/>
            <a:rect l="l" t="t" r="r" b="b"/>
            <a:pathLst>
              <a:path w="1204153" h="494797">
                <a:moveTo>
                  <a:pt x="1204153" y="0"/>
                </a:moveTo>
                <a:lnTo>
                  <a:pt x="0" y="0"/>
                </a:lnTo>
                <a:lnTo>
                  <a:pt x="0" y="494798"/>
                </a:lnTo>
                <a:lnTo>
                  <a:pt x="1204153" y="494798"/>
                </a:lnTo>
                <a:lnTo>
                  <a:pt x="1204153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1" name="Freeform 31"/>
          <p:cNvSpPr/>
          <p:nvPr/>
        </p:nvSpPr>
        <p:spPr>
          <a:xfrm>
            <a:off x="10177431" y="6637424"/>
            <a:ext cx="756755" cy="756755"/>
          </a:xfrm>
          <a:custGeom>
            <a:avLst/>
            <a:gdLst/>
            <a:ahLst/>
            <a:cxnLst/>
            <a:rect l="l" t="t" r="r" b="b"/>
            <a:pathLst>
              <a:path w="756755" h="756755">
                <a:moveTo>
                  <a:pt x="0" y="0"/>
                </a:moveTo>
                <a:lnTo>
                  <a:pt x="756755" y="0"/>
                </a:lnTo>
                <a:lnTo>
                  <a:pt x="756755" y="756755"/>
                </a:lnTo>
                <a:lnTo>
                  <a:pt x="0" y="75675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2" name="Freeform 32"/>
          <p:cNvSpPr/>
          <p:nvPr/>
        </p:nvSpPr>
        <p:spPr>
          <a:xfrm>
            <a:off x="1781838" y="2820242"/>
            <a:ext cx="1084306" cy="1495595"/>
          </a:xfrm>
          <a:custGeom>
            <a:avLst/>
            <a:gdLst/>
            <a:ahLst/>
            <a:cxnLst/>
            <a:rect l="l" t="t" r="r" b="b"/>
            <a:pathLst>
              <a:path w="1084306" h="1495595">
                <a:moveTo>
                  <a:pt x="0" y="0"/>
                </a:moveTo>
                <a:lnTo>
                  <a:pt x="1084306" y="0"/>
                </a:lnTo>
                <a:lnTo>
                  <a:pt x="1084306" y="1495595"/>
                </a:lnTo>
                <a:lnTo>
                  <a:pt x="0" y="14955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3" name="Freeform 33"/>
          <p:cNvSpPr/>
          <p:nvPr/>
        </p:nvSpPr>
        <p:spPr>
          <a:xfrm rot="5400000" flipH="1">
            <a:off x="8396817" y="3260763"/>
            <a:ext cx="1495595" cy="614554"/>
          </a:xfrm>
          <a:custGeom>
            <a:avLst/>
            <a:gdLst/>
            <a:ahLst/>
            <a:cxnLst/>
            <a:rect l="l" t="t" r="r" b="b"/>
            <a:pathLst>
              <a:path w="1495595" h="614554">
                <a:moveTo>
                  <a:pt x="1495595" y="0"/>
                </a:moveTo>
                <a:lnTo>
                  <a:pt x="0" y="0"/>
                </a:lnTo>
                <a:lnTo>
                  <a:pt x="0" y="614554"/>
                </a:lnTo>
                <a:lnTo>
                  <a:pt x="1495595" y="614554"/>
                </a:lnTo>
                <a:lnTo>
                  <a:pt x="1495595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4" name="TextBox 34"/>
          <p:cNvSpPr txBox="1"/>
          <p:nvPr/>
        </p:nvSpPr>
        <p:spPr>
          <a:xfrm>
            <a:off x="10177431" y="9273330"/>
            <a:ext cx="2888596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FF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AR’s SK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30043" y="3032837"/>
            <a:ext cx="2807597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CP-ABE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146664" y="3032837"/>
            <a:ext cx="2807597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CP-ABE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29314" y="4436647"/>
            <a:ext cx="2589354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Encrypted</a:t>
            </a:r>
          </a:p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AES Key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06004" y="4436647"/>
            <a:ext cx="167722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AES Key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659725" y="4436647"/>
            <a:ext cx="2589354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Re-Encrypted AES Key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289544" y="5355860"/>
            <a:ext cx="2888596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E62F2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Proxy’s SK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514647" y="5355860"/>
            <a:ext cx="2071630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8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AR’s PK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998446" y="6708779"/>
            <a:ext cx="1853417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CP-ABE</a:t>
            </a:r>
          </a:p>
        </p:txBody>
      </p:sp>
      <p:sp>
        <p:nvSpPr>
          <p:cNvPr id="43" name="Freeform 43"/>
          <p:cNvSpPr/>
          <p:nvPr/>
        </p:nvSpPr>
        <p:spPr>
          <a:xfrm>
            <a:off x="15094530" y="2544502"/>
            <a:ext cx="635438" cy="635438"/>
          </a:xfrm>
          <a:custGeom>
            <a:avLst/>
            <a:gdLst/>
            <a:ahLst/>
            <a:cxnLst/>
            <a:rect l="l" t="t" r="r" b="b"/>
            <a:pathLst>
              <a:path w="635438" h="635438">
                <a:moveTo>
                  <a:pt x="0" y="0"/>
                </a:moveTo>
                <a:lnTo>
                  <a:pt x="635438" y="0"/>
                </a:lnTo>
                <a:lnTo>
                  <a:pt x="635438" y="635438"/>
                </a:lnTo>
                <a:lnTo>
                  <a:pt x="0" y="63543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44" name="Group 44"/>
          <p:cNvGrpSpPr/>
          <p:nvPr/>
        </p:nvGrpSpPr>
        <p:grpSpPr>
          <a:xfrm>
            <a:off x="4169296" y="6380249"/>
            <a:ext cx="2634295" cy="2778782"/>
            <a:chOff x="0" y="0"/>
            <a:chExt cx="3512393" cy="3705042"/>
          </a:xfrm>
        </p:grpSpPr>
        <p:grpSp>
          <p:nvGrpSpPr>
            <p:cNvPr id="45" name="Group 45"/>
            <p:cNvGrpSpPr/>
            <p:nvPr/>
          </p:nvGrpSpPr>
          <p:grpSpPr>
            <a:xfrm>
              <a:off x="59103" y="0"/>
              <a:ext cx="3453291" cy="3559180"/>
              <a:chOff x="0" y="0"/>
              <a:chExt cx="682131" cy="703048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682131" cy="703048"/>
              </a:xfrm>
              <a:custGeom>
                <a:avLst/>
                <a:gdLst/>
                <a:ahLst/>
                <a:cxnLst/>
                <a:rect l="l" t="t" r="r" b="b"/>
                <a:pathLst>
                  <a:path w="682131" h="703048">
                    <a:moveTo>
                      <a:pt x="0" y="0"/>
                    </a:moveTo>
                    <a:lnTo>
                      <a:pt x="682131" y="0"/>
                    </a:lnTo>
                    <a:lnTo>
                      <a:pt x="682131" y="703048"/>
                    </a:lnTo>
                    <a:lnTo>
                      <a:pt x="0" y="70304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142875"/>
                <a:ext cx="682131" cy="8459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363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0" y="145862"/>
              <a:ext cx="3453291" cy="3559180"/>
              <a:chOff x="0" y="0"/>
              <a:chExt cx="682131" cy="703048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682131" cy="703048"/>
              </a:xfrm>
              <a:custGeom>
                <a:avLst/>
                <a:gdLst/>
                <a:ahLst/>
                <a:cxnLst/>
                <a:rect l="l" t="t" r="r" b="b"/>
                <a:pathLst>
                  <a:path w="682131" h="703048">
                    <a:moveTo>
                      <a:pt x="0" y="0"/>
                    </a:moveTo>
                    <a:lnTo>
                      <a:pt x="682131" y="0"/>
                    </a:lnTo>
                    <a:lnTo>
                      <a:pt x="682131" y="703048"/>
                    </a:lnTo>
                    <a:lnTo>
                      <a:pt x="0" y="70304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142875"/>
                <a:ext cx="682131" cy="8459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363"/>
                  </a:lnSpc>
                </a:pPr>
                <a:endParaRPr/>
              </a:p>
            </p:txBody>
          </p:sp>
        </p:grpSp>
        <p:sp>
          <p:nvSpPr>
            <p:cNvPr id="51" name="Freeform 51"/>
            <p:cNvSpPr/>
            <p:nvPr/>
          </p:nvSpPr>
          <p:spPr>
            <a:xfrm rot="5400000" flipH="1">
              <a:off x="788685" y="1048864"/>
              <a:ext cx="1994127" cy="819405"/>
            </a:xfrm>
            <a:custGeom>
              <a:avLst/>
              <a:gdLst/>
              <a:ahLst/>
              <a:cxnLst/>
              <a:rect l="l" t="t" r="r" b="b"/>
              <a:pathLst>
                <a:path w="1994127" h="819405">
                  <a:moveTo>
                    <a:pt x="1994126" y="0"/>
                  </a:moveTo>
                  <a:lnTo>
                    <a:pt x="0" y="0"/>
                  </a:lnTo>
                  <a:lnTo>
                    <a:pt x="0" y="819405"/>
                  </a:lnTo>
                  <a:lnTo>
                    <a:pt x="1994126" y="819405"/>
                  </a:lnTo>
                  <a:lnTo>
                    <a:pt x="1994126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7602" y="2635760"/>
              <a:ext cx="2236293" cy="5346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AES Key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12777" r="-9579" b="-24805"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3" name="Group 3"/>
          <p:cNvGrpSpPr/>
          <p:nvPr/>
        </p:nvGrpSpPr>
        <p:grpSpPr>
          <a:xfrm>
            <a:off x="-161849" y="7006156"/>
            <a:ext cx="18449849" cy="3280844"/>
            <a:chOff x="0" y="0"/>
            <a:chExt cx="4859220" cy="8640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59220" cy="864091"/>
            </a:xfrm>
            <a:custGeom>
              <a:avLst/>
              <a:gdLst/>
              <a:ahLst/>
              <a:cxnLst/>
              <a:rect l="l" t="t" r="r" b="b"/>
              <a:pathLst>
                <a:path w="4859220" h="864091">
                  <a:moveTo>
                    <a:pt x="0" y="0"/>
                  </a:moveTo>
                  <a:lnTo>
                    <a:pt x="4859220" y="0"/>
                  </a:lnTo>
                  <a:lnTo>
                    <a:pt x="4859220" y="864091"/>
                  </a:lnTo>
                  <a:lnTo>
                    <a:pt x="0" y="864091"/>
                  </a:lnTo>
                  <a:close/>
                </a:path>
              </a:pathLst>
            </a:custGeom>
            <a:solidFill>
              <a:srgbClr val="004CC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59220" cy="911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3555320"/>
            <a:ext cx="7889911" cy="5864905"/>
            <a:chOff x="0" y="0"/>
            <a:chExt cx="3007683" cy="22357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07683" cy="2235738"/>
            </a:xfrm>
            <a:custGeom>
              <a:avLst/>
              <a:gdLst/>
              <a:ahLst/>
              <a:cxnLst/>
              <a:rect l="l" t="t" r="r" b="b"/>
              <a:pathLst>
                <a:path w="3007683" h="2235738">
                  <a:moveTo>
                    <a:pt x="39250" y="0"/>
                  </a:moveTo>
                  <a:lnTo>
                    <a:pt x="2968433" y="0"/>
                  </a:lnTo>
                  <a:cubicBezTo>
                    <a:pt x="2990110" y="0"/>
                    <a:pt x="3007683" y="17573"/>
                    <a:pt x="3007683" y="39250"/>
                  </a:cubicBezTo>
                  <a:lnTo>
                    <a:pt x="3007683" y="2196488"/>
                  </a:lnTo>
                  <a:cubicBezTo>
                    <a:pt x="3007683" y="2206898"/>
                    <a:pt x="3003548" y="2216881"/>
                    <a:pt x="2996187" y="2224242"/>
                  </a:cubicBezTo>
                  <a:cubicBezTo>
                    <a:pt x="2988826" y="2231603"/>
                    <a:pt x="2978843" y="2235738"/>
                    <a:pt x="2968433" y="2235738"/>
                  </a:cubicBezTo>
                  <a:lnTo>
                    <a:pt x="39250" y="2235738"/>
                  </a:lnTo>
                  <a:cubicBezTo>
                    <a:pt x="17573" y="2235738"/>
                    <a:pt x="0" y="2218165"/>
                    <a:pt x="0" y="2196488"/>
                  </a:cubicBezTo>
                  <a:lnTo>
                    <a:pt x="0" y="39250"/>
                  </a:lnTo>
                  <a:cubicBezTo>
                    <a:pt x="0" y="28840"/>
                    <a:pt x="4135" y="18857"/>
                    <a:pt x="11496" y="11496"/>
                  </a:cubicBezTo>
                  <a:cubicBezTo>
                    <a:pt x="18857" y="4135"/>
                    <a:pt x="28840" y="0"/>
                    <a:pt x="39250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007683" cy="2283363"/>
            </a:xfrm>
            <a:prstGeom prst="rect">
              <a:avLst/>
            </a:prstGeom>
          </p:spPr>
          <p:txBody>
            <a:bodyPr lIns="35098" tIns="35098" rIns="35098" bIns="35098" rtlCol="0" anchor="ctr"/>
            <a:lstStyle/>
            <a:p>
              <a:pPr algn="ctr">
                <a:lnSpc>
                  <a:spcPts val="325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09640" y="3555320"/>
            <a:ext cx="7889911" cy="5864905"/>
            <a:chOff x="0" y="0"/>
            <a:chExt cx="3007683" cy="22357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07683" cy="2235738"/>
            </a:xfrm>
            <a:custGeom>
              <a:avLst/>
              <a:gdLst/>
              <a:ahLst/>
              <a:cxnLst/>
              <a:rect l="l" t="t" r="r" b="b"/>
              <a:pathLst>
                <a:path w="3007683" h="2235738">
                  <a:moveTo>
                    <a:pt x="39250" y="0"/>
                  </a:moveTo>
                  <a:lnTo>
                    <a:pt x="2968433" y="0"/>
                  </a:lnTo>
                  <a:cubicBezTo>
                    <a:pt x="2990110" y="0"/>
                    <a:pt x="3007683" y="17573"/>
                    <a:pt x="3007683" y="39250"/>
                  </a:cubicBezTo>
                  <a:lnTo>
                    <a:pt x="3007683" y="2196488"/>
                  </a:lnTo>
                  <a:cubicBezTo>
                    <a:pt x="3007683" y="2206898"/>
                    <a:pt x="3003548" y="2216881"/>
                    <a:pt x="2996187" y="2224242"/>
                  </a:cubicBezTo>
                  <a:cubicBezTo>
                    <a:pt x="2988826" y="2231603"/>
                    <a:pt x="2978843" y="2235738"/>
                    <a:pt x="2968433" y="2235738"/>
                  </a:cubicBezTo>
                  <a:lnTo>
                    <a:pt x="39250" y="2235738"/>
                  </a:lnTo>
                  <a:cubicBezTo>
                    <a:pt x="17573" y="2235738"/>
                    <a:pt x="0" y="2218165"/>
                    <a:pt x="0" y="2196488"/>
                  </a:cubicBezTo>
                  <a:lnTo>
                    <a:pt x="0" y="39250"/>
                  </a:lnTo>
                  <a:cubicBezTo>
                    <a:pt x="0" y="28840"/>
                    <a:pt x="4135" y="18857"/>
                    <a:pt x="11496" y="11496"/>
                  </a:cubicBezTo>
                  <a:cubicBezTo>
                    <a:pt x="18857" y="4135"/>
                    <a:pt x="28840" y="0"/>
                    <a:pt x="39250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007683" cy="2283363"/>
            </a:xfrm>
            <a:prstGeom prst="rect">
              <a:avLst/>
            </a:prstGeom>
          </p:spPr>
          <p:txBody>
            <a:bodyPr lIns="35098" tIns="35098" rIns="35098" bIns="35098" rtlCol="0" anchor="ctr"/>
            <a:lstStyle/>
            <a:p>
              <a:pPr algn="ctr">
                <a:lnSpc>
                  <a:spcPts val="3257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3730814" y="5082996"/>
            <a:ext cx="2485682" cy="2485682"/>
          </a:xfrm>
          <a:custGeom>
            <a:avLst/>
            <a:gdLst/>
            <a:ahLst/>
            <a:cxnLst/>
            <a:rect l="l" t="t" r="r" b="b"/>
            <a:pathLst>
              <a:path w="2485682" h="2485682">
                <a:moveTo>
                  <a:pt x="0" y="0"/>
                </a:moveTo>
                <a:lnTo>
                  <a:pt x="2485682" y="0"/>
                </a:lnTo>
                <a:lnTo>
                  <a:pt x="2485682" y="2485682"/>
                </a:lnTo>
                <a:lnTo>
                  <a:pt x="0" y="2485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3" name="TextBox 13"/>
          <p:cNvSpPr txBox="1"/>
          <p:nvPr/>
        </p:nvSpPr>
        <p:spPr>
          <a:xfrm>
            <a:off x="3121378" y="3938091"/>
            <a:ext cx="3704555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1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Single Proxy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328811" y="5490276"/>
            <a:ext cx="5851568" cy="1671123"/>
            <a:chOff x="0" y="0"/>
            <a:chExt cx="7802091" cy="2228164"/>
          </a:xfrm>
        </p:grpSpPr>
        <p:sp>
          <p:nvSpPr>
            <p:cNvPr id="15" name="Freeform 15"/>
            <p:cNvSpPr/>
            <p:nvPr/>
          </p:nvSpPr>
          <p:spPr>
            <a:xfrm>
              <a:off x="5573927" y="0"/>
              <a:ext cx="2228164" cy="2228164"/>
            </a:xfrm>
            <a:custGeom>
              <a:avLst/>
              <a:gdLst/>
              <a:ahLst/>
              <a:cxnLst/>
              <a:rect l="l" t="t" r="r" b="b"/>
              <a:pathLst>
                <a:path w="2228164" h="2228164">
                  <a:moveTo>
                    <a:pt x="0" y="0"/>
                  </a:moveTo>
                  <a:lnTo>
                    <a:pt x="2228164" y="0"/>
                  </a:lnTo>
                  <a:lnTo>
                    <a:pt x="2228164" y="2228164"/>
                  </a:lnTo>
                  <a:lnTo>
                    <a:pt x="0" y="2228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2786964" y="0"/>
              <a:ext cx="2228164" cy="2228164"/>
            </a:xfrm>
            <a:custGeom>
              <a:avLst/>
              <a:gdLst/>
              <a:ahLst/>
              <a:cxnLst/>
              <a:rect l="l" t="t" r="r" b="b"/>
              <a:pathLst>
                <a:path w="2228164" h="2228164">
                  <a:moveTo>
                    <a:pt x="0" y="0"/>
                  </a:moveTo>
                  <a:lnTo>
                    <a:pt x="2228163" y="0"/>
                  </a:lnTo>
                  <a:lnTo>
                    <a:pt x="2228163" y="2228164"/>
                  </a:lnTo>
                  <a:lnTo>
                    <a:pt x="0" y="2228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2228164" cy="2228164"/>
            </a:xfrm>
            <a:custGeom>
              <a:avLst/>
              <a:gdLst/>
              <a:ahLst/>
              <a:cxnLst/>
              <a:rect l="l" t="t" r="r" b="b"/>
              <a:pathLst>
                <a:path w="2228164" h="2228164">
                  <a:moveTo>
                    <a:pt x="0" y="0"/>
                  </a:moveTo>
                  <a:lnTo>
                    <a:pt x="2228164" y="0"/>
                  </a:lnTo>
                  <a:lnTo>
                    <a:pt x="2228164" y="2228164"/>
                  </a:lnTo>
                  <a:lnTo>
                    <a:pt x="0" y="2228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868285" y="3938091"/>
            <a:ext cx="4772620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Multiple Proxies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7795902"/>
            <a:ext cx="7889911" cy="102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0B1320"/>
                </a:solidFill>
                <a:latin typeface="Public Sans"/>
                <a:ea typeface="Public Sans"/>
                <a:cs typeface="Public Sans"/>
                <a:sym typeface="Public Sans"/>
              </a:rPr>
              <a:t>When having </a:t>
            </a:r>
            <a:r>
              <a:rPr lang="en-US" sz="2799" b="1">
                <a:solidFill>
                  <a:srgbClr val="0B132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less requests</a:t>
            </a:r>
          </a:p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0B1320"/>
                </a:solidFill>
                <a:latin typeface="Public Sans"/>
                <a:ea typeface="Public Sans"/>
                <a:cs typeface="Public Sans"/>
                <a:sym typeface="Public Sans"/>
              </a:rPr>
              <a:t>Use single proxy instance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09640" y="7799574"/>
            <a:ext cx="7889911" cy="1026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Dynamically increase number of proxies</a:t>
            </a:r>
          </a:p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When there are too many requests</a:t>
            </a:r>
          </a:p>
        </p:txBody>
      </p:sp>
      <p:sp>
        <p:nvSpPr>
          <p:cNvPr id="21" name="Freeform 21"/>
          <p:cNvSpPr/>
          <p:nvPr/>
        </p:nvSpPr>
        <p:spPr>
          <a:xfrm rot="2871075">
            <a:off x="15350015" y="-2421040"/>
            <a:ext cx="5078392" cy="5072044"/>
          </a:xfrm>
          <a:custGeom>
            <a:avLst/>
            <a:gdLst/>
            <a:ahLst/>
            <a:cxnLst/>
            <a:rect l="l" t="t" r="r" b="b"/>
            <a:pathLst>
              <a:path w="5078392" h="5072044">
                <a:moveTo>
                  <a:pt x="0" y="0"/>
                </a:moveTo>
                <a:lnTo>
                  <a:pt x="5078392" y="0"/>
                </a:lnTo>
                <a:lnTo>
                  <a:pt x="5078392" y="5072044"/>
                </a:lnTo>
                <a:lnTo>
                  <a:pt x="0" y="50720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Box 22"/>
          <p:cNvSpPr txBox="1"/>
          <p:nvPr/>
        </p:nvSpPr>
        <p:spPr>
          <a:xfrm>
            <a:off x="1088449" y="1123950"/>
            <a:ext cx="8434070" cy="72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8"/>
              </a:lnSpc>
              <a:spcBef>
                <a:spcPct val="0"/>
              </a:spcBef>
            </a:pPr>
            <a:r>
              <a:rPr lang="en-US" sz="5196" b="1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A-PRE (Adaptive PRE)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88449" y="2258500"/>
            <a:ext cx="14712404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 our system, the Proxy Gateway (PG) is designed and implemented on a cluster cloud computing platform. This design </a:t>
            </a:r>
            <a:r>
              <a:rPr lang="en-US" sz="23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aims to handle the dynamically heavy load</a:t>
            </a:r>
            <a:r>
              <a:rPr lang="en-US" sz="23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of processing numerous transactions.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7620831" y="9568468"/>
            <a:ext cx="504464" cy="504464"/>
            <a:chOff x="0" y="0"/>
            <a:chExt cx="672618" cy="672618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672618" cy="672618"/>
              <a:chOff x="0" y="0"/>
              <a:chExt cx="174157" cy="17415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4157" cy="174157"/>
              </a:xfrm>
              <a:custGeom>
                <a:avLst/>
                <a:gdLst/>
                <a:ahLst/>
                <a:cxnLst/>
                <a:rect l="l" t="t" r="r" b="b"/>
                <a:pathLst>
                  <a:path w="174157" h="174157">
                    <a:moveTo>
                      <a:pt x="87079" y="0"/>
                    </a:moveTo>
                    <a:lnTo>
                      <a:pt x="87079" y="0"/>
                    </a:lnTo>
                    <a:cubicBezTo>
                      <a:pt x="135171" y="0"/>
                      <a:pt x="174157" y="38986"/>
                      <a:pt x="174157" y="87079"/>
                    </a:cubicBezTo>
                    <a:lnTo>
                      <a:pt x="174157" y="87079"/>
                    </a:lnTo>
                    <a:cubicBezTo>
                      <a:pt x="174157" y="135171"/>
                      <a:pt x="135171" y="174157"/>
                      <a:pt x="87079" y="174157"/>
                    </a:cubicBezTo>
                    <a:lnTo>
                      <a:pt x="87079" y="174157"/>
                    </a:lnTo>
                    <a:cubicBezTo>
                      <a:pt x="38986" y="174157"/>
                      <a:pt x="0" y="135171"/>
                      <a:pt x="0" y="87079"/>
                    </a:cubicBezTo>
                    <a:lnTo>
                      <a:pt x="0" y="87079"/>
                    </a:lnTo>
                    <a:cubicBezTo>
                      <a:pt x="0" y="38986"/>
                      <a:pt x="38986" y="0"/>
                      <a:pt x="87079" y="0"/>
                    </a:cubicBezTo>
                    <a:close/>
                  </a:path>
                </a:pathLst>
              </a:custGeom>
              <a:solidFill>
                <a:srgbClr val="6BBEF4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57150"/>
                <a:ext cx="174157" cy="231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46424" y="72949"/>
              <a:ext cx="579770" cy="47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r>
                <a:rPr lang="en-US" sz="2136" b="1">
                  <a:solidFill>
                    <a:srgbClr val="FCFFFE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57789" r="-93931"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3" name="Group 3"/>
          <p:cNvGrpSpPr/>
          <p:nvPr/>
        </p:nvGrpSpPr>
        <p:grpSpPr>
          <a:xfrm>
            <a:off x="13952460" y="-1530736"/>
            <a:ext cx="12955554" cy="13146873"/>
            <a:chOff x="0" y="0"/>
            <a:chExt cx="800972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0972" cy="812800"/>
            </a:xfrm>
            <a:custGeom>
              <a:avLst/>
              <a:gdLst/>
              <a:ahLst/>
              <a:cxnLst/>
              <a:rect l="l" t="t" r="r" b="b"/>
              <a:pathLst>
                <a:path w="800972" h="812800">
                  <a:moveTo>
                    <a:pt x="400486" y="0"/>
                  </a:moveTo>
                  <a:cubicBezTo>
                    <a:pt x="179304" y="0"/>
                    <a:pt x="0" y="181951"/>
                    <a:pt x="0" y="406400"/>
                  </a:cubicBezTo>
                  <a:cubicBezTo>
                    <a:pt x="0" y="630849"/>
                    <a:pt x="179304" y="812800"/>
                    <a:pt x="400486" y="812800"/>
                  </a:cubicBezTo>
                  <a:cubicBezTo>
                    <a:pt x="621668" y="812800"/>
                    <a:pt x="800972" y="630849"/>
                    <a:pt x="800972" y="406400"/>
                  </a:cubicBezTo>
                  <a:cubicBezTo>
                    <a:pt x="800972" y="181951"/>
                    <a:pt x="621668" y="0"/>
                    <a:pt x="400486" y="0"/>
                  </a:cubicBezTo>
                  <a:close/>
                </a:path>
              </a:pathLst>
            </a:custGeom>
            <a:solidFill>
              <a:srgbClr val="0E6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091" y="28575"/>
              <a:ext cx="65079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38225" y="2904152"/>
            <a:ext cx="8333538" cy="260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76"/>
              </a:lnSpc>
            </a:pPr>
            <a:r>
              <a:rPr lang="en-US" sz="9600" b="1">
                <a:solidFill>
                  <a:srgbClr val="004CCF"/>
                </a:solidFill>
                <a:latin typeface="Aileron Bold"/>
                <a:ea typeface="Aileron Bold"/>
                <a:cs typeface="Aileron Bold"/>
                <a:sym typeface="Aileron Bold"/>
              </a:rPr>
              <a:t>Evaluation</a:t>
            </a:r>
          </a:p>
          <a:p>
            <a:pPr marL="0" lvl="0" indent="0" algn="l">
              <a:lnSpc>
                <a:spcPts val="10176"/>
              </a:lnSpc>
              <a:spcBef>
                <a:spcPct val="0"/>
              </a:spcBef>
            </a:pPr>
            <a:r>
              <a:rPr lang="en-US" sz="9600" b="1">
                <a:solidFill>
                  <a:srgbClr val="004CCF"/>
                </a:solidFill>
                <a:latin typeface="Aileron Bold"/>
                <a:ea typeface="Aileron Bold"/>
                <a:cs typeface="Aileron Bold"/>
                <a:sym typeface="Aileron Bold"/>
              </a:rPr>
              <a:t>Results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38225" y="7343136"/>
            <a:ext cx="4483108" cy="173063"/>
            <a:chOff x="0" y="0"/>
            <a:chExt cx="1180736" cy="455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80736" cy="45580"/>
            </a:xfrm>
            <a:custGeom>
              <a:avLst/>
              <a:gdLst/>
              <a:ahLst/>
              <a:cxnLst/>
              <a:rect l="l" t="t" r="r" b="b"/>
              <a:pathLst>
                <a:path w="1180736" h="45580">
                  <a:moveTo>
                    <a:pt x="22790" y="0"/>
                  </a:moveTo>
                  <a:lnTo>
                    <a:pt x="1157946" y="0"/>
                  </a:lnTo>
                  <a:cubicBezTo>
                    <a:pt x="1170533" y="0"/>
                    <a:pt x="1180736" y="10203"/>
                    <a:pt x="1180736" y="22790"/>
                  </a:cubicBezTo>
                  <a:lnTo>
                    <a:pt x="1180736" y="22790"/>
                  </a:lnTo>
                  <a:cubicBezTo>
                    <a:pt x="1180736" y="28834"/>
                    <a:pt x="1178335" y="34631"/>
                    <a:pt x="1174061" y="38905"/>
                  </a:cubicBezTo>
                  <a:cubicBezTo>
                    <a:pt x="1169787" y="43179"/>
                    <a:pt x="1163990" y="45580"/>
                    <a:pt x="1157946" y="45580"/>
                  </a:cubicBezTo>
                  <a:lnTo>
                    <a:pt x="22790" y="45580"/>
                  </a:lnTo>
                  <a:cubicBezTo>
                    <a:pt x="16746" y="45580"/>
                    <a:pt x="10949" y="43179"/>
                    <a:pt x="6675" y="38905"/>
                  </a:cubicBezTo>
                  <a:cubicBezTo>
                    <a:pt x="2401" y="34631"/>
                    <a:pt x="0" y="28834"/>
                    <a:pt x="0" y="22790"/>
                  </a:cubicBezTo>
                  <a:lnTo>
                    <a:pt x="0" y="22790"/>
                  </a:lnTo>
                  <a:cubicBezTo>
                    <a:pt x="0" y="16746"/>
                    <a:pt x="2401" y="10949"/>
                    <a:pt x="6675" y="6675"/>
                  </a:cubicBezTo>
                  <a:cubicBezTo>
                    <a:pt x="10949" y="2401"/>
                    <a:pt x="16746" y="0"/>
                    <a:pt x="22790" y="0"/>
                  </a:cubicBezTo>
                  <a:close/>
                </a:path>
              </a:pathLst>
            </a:custGeom>
            <a:solidFill>
              <a:srgbClr val="0E6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180736" cy="93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6456195"/>
            <a:ext cx="7504506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Comparing XDHDS to normal approach which focused on cryptographic system, blockchain, and PRE performance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8225" y="5990115"/>
            <a:ext cx="7504506" cy="44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86"/>
              </a:lnSpc>
            </a:pPr>
            <a:r>
              <a:rPr lang="en-US" sz="2561" b="1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Comparative Analysis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320595" y="2201119"/>
            <a:ext cx="7034266" cy="6673760"/>
            <a:chOff x="0" y="0"/>
            <a:chExt cx="9379022" cy="88983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379022" cy="8898347"/>
            </a:xfrm>
            <a:custGeom>
              <a:avLst/>
              <a:gdLst/>
              <a:ahLst/>
              <a:cxnLst/>
              <a:rect l="l" t="t" r="r" b="b"/>
              <a:pathLst>
                <a:path w="9379022" h="8898347">
                  <a:moveTo>
                    <a:pt x="0" y="0"/>
                  </a:moveTo>
                  <a:lnTo>
                    <a:pt x="9379022" y="0"/>
                  </a:lnTo>
                  <a:lnTo>
                    <a:pt x="9379022" y="8898347"/>
                  </a:lnTo>
                  <a:lnTo>
                    <a:pt x="0" y="8898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41428" y="740205"/>
              <a:ext cx="7459421" cy="7459421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43122" r="-40231" b="-22159"/>
                </a:stretch>
              </a:blipFill>
            </p:spPr>
            <p:txBody>
              <a:bodyPr/>
              <a:lstStyle/>
              <a:p>
                <a:endParaRPr lang="en-TH"/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19239" r="-19959" b="-31376"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" name="Freeform 3"/>
          <p:cNvSpPr/>
          <p:nvPr/>
        </p:nvSpPr>
        <p:spPr>
          <a:xfrm rot="8740858">
            <a:off x="-2805050" y="7542511"/>
            <a:ext cx="7446069" cy="7511797"/>
          </a:xfrm>
          <a:custGeom>
            <a:avLst/>
            <a:gdLst/>
            <a:ahLst/>
            <a:cxnLst/>
            <a:rect l="l" t="t" r="r" b="b"/>
            <a:pathLst>
              <a:path w="7446069" h="7511797">
                <a:moveTo>
                  <a:pt x="0" y="0"/>
                </a:moveTo>
                <a:lnTo>
                  <a:pt x="7446069" y="0"/>
                </a:lnTo>
                <a:lnTo>
                  <a:pt x="7446069" y="7511796"/>
                </a:lnTo>
                <a:lnTo>
                  <a:pt x="0" y="7511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sp>
        <p:nvSpPr>
          <p:cNvPr id="4" name="Freeform 4"/>
          <p:cNvSpPr/>
          <p:nvPr/>
        </p:nvSpPr>
        <p:spPr>
          <a:xfrm rot="-851169">
            <a:off x="15357483" y="7432386"/>
            <a:ext cx="5861034" cy="5912771"/>
          </a:xfrm>
          <a:custGeom>
            <a:avLst/>
            <a:gdLst/>
            <a:ahLst/>
            <a:cxnLst/>
            <a:rect l="l" t="t" r="r" b="b"/>
            <a:pathLst>
              <a:path w="5861034" h="5912771">
                <a:moveTo>
                  <a:pt x="0" y="0"/>
                </a:moveTo>
                <a:lnTo>
                  <a:pt x="5861034" y="0"/>
                </a:lnTo>
                <a:lnTo>
                  <a:pt x="5861034" y="5912770"/>
                </a:lnTo>
                <a:lnTo>
                  <a:pt x="0" y="59127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sp>
        <p:nvSpPr>
          <p:cNvPr id="5" name="Freeform 5"/>
          <p:cNvSpPr/>
          <p:nvPr/>
        </p:nvSpPr>
        <p:spPr>
          <a:xfrm>
            <a:off x="10125317" y="5914422"/>
            <a:ext cx="2908058" cy="950612"/>
          </a:xfrm>
          <a:custGeom>
            <a:avLst/>
            <a:gdLst/>
            <a:ahLst/>
            <a:cxnLst/>
            <a:rect l="l" t="t" r="r" b="b"/>
            <a:pathLst>
              <a:path w="2908058" h="950612">
                <a:moveTo>
                  <a:pt x="0" y="0"/>
                </a:moveTo>
                <a:lnTo>
                  <a:pt x="2908058" y="0"/>
                </a:lnTo>
                <a:lnTo>
                  <a:pt x="2908058" y="950612"/>
                </a:lnTo>
                <a:lnTo>
                  <a:pt x="0" y="9506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7581" b="-25375"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6" name="Freeform 6"/>
          <p:cNvSpPr/>
          <p:nvPr/>
        </p:nvSpPr>
        <p:spPr>
          <a:xfrm>
            <a:off x="6334309" y="3833869"/>
            <a:ext cx="2809691" cy="950612"/>
          </a:xfrm>
          <a:custGeom>
            <a:avLst/>
            <a:gdLst/>
            <a:ahLst/>
            <a:cxnLst/>
            <a:rect l="l" t="t" r="r" b="b"/>
            <a:pathLst>
              <a:path w="2809691" h="950612">
                <a:moveTo>
                  <a:pt x="0" y="0"/>
                </a:moveTo>
                <a:lnTo>
                  <a:pt x="2809691" y="0"/>
                </a:lnTo>
                <a:lnTo>
                  <a:pt x="2809691" y="950612"/>
                </a:lnTo>
                <a:lnTo>
                  <a:pt x="0" y="9506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929" r="-3759" b="-12502"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7" name="Group 7"/>
          <p:cNvGrpSpPr/>
          <p:nvPr/>
        </p:nvGrpSpPr>
        <p:grpSpPr>
          <a:xfrm>
            <a:off x="1166192" y="4781383"/>
            <a:ext cx="4887281" cy="200281"/>
            <a:chOff x="0" y="0"/>
            <a:chExt cx="1287185" cy="527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87185" cy="52749"/>
            </a:xfrm>
            <a:custGeom>
              <a:avLst/>
              <a:gdLst/>
              <a:ahLst/>
              <a:cxnLst/>
              <a:rect l="l" t="t" r="r" b="b"/>
              <a:pathLst>
                <a:path w="1287185" h="52749">
                  <a:moveTo>
                    <a:pt x="26374" y="0"/>
                  </a:moveTo>
                  <a:lnTo>
                    <a:pt x="1260811" y="0"/>
                  </a:lnTo>
                  <a:cubicBezTo>
                    <a:pt x="1275377" y="0"/>
                    <a:pt x="1287185" y="11808"/>
                    <a:pt x="1287185" y="26374"/>
                  </a:cubicBezTo>
                  <a:lnTo>
                    <a:pt x="1287185" y="26374"/>
                  </a:lnTo>
                  <a:cubicBezTo>
                    <a:pt x="1287185" y="33369"/>
                    <a:pt x="1284406" y="40078"/>
                    <a:pt x="1279460" y="45024"/>
                  </a:cubicBezTo>
                  <a:cubicBezTo>
                    <a:pt x="1274514" y="49970"/>
                    <a:pt x="1267806" y="52749"/>
                    <a:pt x="1260811" y="52749"/>
                  </a:cubicBezTo>
                  <a:lnTo>
                    <a:pt x="26374" y="52749"/>
                  </a:lnTo>
                  <a:cubicBezTo>
                    <a:pt x="11808" y="52749"/>
                    <a:pt x="0" y="40941"/>
                    <a:pt x="0" y="26374"/>
                  </a:cubicBezTo>
                  <a:lnTo>
                    <a:pt x="0" y="26374"/>
                  </a:lnTo>
                  <a:cubicBezTo>
                    <a:pt x="0" y="11808"/>
                    <a:pt x="11808" y="0"/>
                    <a:pt x="26374" y="0"/>
                  </a:cubicBezTo>
                  <a:close/>
                </a:path>
              </a:pathLst>
            </a:custGeom>
            <a:solidFill>
              <a:srgbClr val="0E6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287185" cy="100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57200" y="7021249"/>
            <a:ext cx="4887281" cy="200281"/>
            <a:chOff x="0" y="0"/>
            <a:chExt cx="1287185" cy="527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87185" cy="52749"/>
            </a:xfrm>
            <a:custGeom>
              <a:avLst/>
              <a:gdLst/>
              <a:ahLst/>
              <a:cxnLst/>
              <a:rect l="l" t="t" r="r" b="b"/>
              <a:pathLst>
                <a:path w="1287185" h="52749">
                  <a:moveTo>
                    <a:pt x="26374" y="0"/>
                  </a:moveTo>
                  <a:lnTo>
                    <a:pt x="1260811" y="0"/>
                  </a:lnTo>
                  <a:cubicBezTo>
                    <a:pt x="1275377" y="0"/>
                    <a:pt x="1287185" y="11808"/>
                    <a:pt x="1287185" y="26374"/>
                  </a:cubicBezTo>
                  <a:lnTo>
                    <a:pt x="1287185" y="26374"/>
                  </a:lnTo>
                  <a:cubicBezTo>
                    <a:pt x="1287185" y="33369"/>
                    <a:pt x="1284406" y="40078"/>
                    <a:pt x="1279460" y="45024"/>
                  </a:cubicBezTo>
                  <a:cubicBezTo>
                    <a:pt x="1274514" y="49970"/>
                    <a:pt x="1267806" y="52749"/>
                    <a:pt x="1260811" y="52749"/>
                  </a:cubicBezTo>
                  <a:lnTo>
                    <a:pt x="26374" y="52749"/>
                  </a:lnTo>
                  <a:cubicBezTo>
                    <a:pt x="11808" y="52749"/>
                    <a:pt x="0" y="40941"/>
                    <a:pt x="0" y="26374"/>
                  </a:cubicBezTo>
                  <a:lnTo>
                    <a:pt x="0" y="26374"/>
                  </a:lnTo>
                  <a:cubicBezTo>
                    <a:pt x="0" y="11808"/>
                    <a:pt x="11808" y="0"/>
                    <a:pt x="26374" y="0"/>
                  </a:cubicBezTo>
                  <a:close/>
                </a:path>
              </a:pathLst>
            </a:custGeom>
            <a:solidFill>
              <a:srgbClr val="0E6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87185" cy="100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66192" y="4037317"/>
            <a:ext cx="4887281" cy="629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12"/>
              </a:lnSpc>
              <a:spcBef>
                <a:spcPct val="0"/>
              </a:spcBef>
            </a:pPr>
            <a:r>
              <a:rPr lang="en-US" sz="17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Simulating cryptographic operation for our proposed system, XDHDS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6192" y="3579535"/>
            <a:ext cx="4887281" cy="44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86"/>
              </a:lnSpc>
            </a:pPr>
            <a:r>
              <a:rPr lang="en-US" sz="2561" b="1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Python 3.6.15 with Charm 0.50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57200" y="5958558"/>
            <a:ext cx="4756524" cy="94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12"/>
              </a:lnSpc>
              <a:spcBef>
                <a:spcPct val="0"/>
              </a:spcBef>
            </a:pPr>
            <a:r>
              <a:rPr lang="en-US" sz="17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Implementing blockchain network and developing smart contract (Chaincode) to test data retrieval throughput and latency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57200" y="5500777"/>
            <a:ext cx="4808827" cy="44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86"/>
              </a:lnSpc>
            </a:pPr>
            <a:r>
              <a:rPr lang="en-US" sz="2561" b="1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Hyperledger Fabric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748208" y="8943719"/>
            <a:ext cx="4887281" cy="200281"/>
            <a:chOff x="0" y="0"/>
            <a:chExt cx="1287185" cy="5274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87185" cy="52749"/>
            </a:xfrm>
            <a:custGeom>
              <a:avLst/>
              <a:gdLst/>
              <a:ahLst/>
              <a:cxnLst/>
              <a:rect l="l" t="t" r="r" b="b"/>
              <a:pathLst>
                <a:path w="1287185" h="52749">
                  <a:moveTo>
                    <a:pt x="26374" y="0"/>
                  </a:moveTo>
                  <a:lnTo>
                    <a:pt x="1260811" y="0"/>
                  </a:lnTo>
                  <a:cubicBezTo>
                    <a:pt x="1275377" y="0"/>
                    <a:pt x="1287185" y="11808"/>
                    <a:pt x="1287185" y="26374"/>
                  </a:cubicBezTo>
                  <a:lnTo>
                    <a:pt x="1287185" y="26374"/>
                  </a:lnTo>
                  <a:cubicBezTo>
                    <a:pt x="1287185" y="33369"/>
                    <a:pt x="1284406" y="40078"/>
                    <a:pt x="1279460" y="45024"/>
                  </a:cubicBezTo>
                  <a:cubicBezTo>
                    <a:pt x="1274514" y="49970"/>
                    <a:pt x="1267806" y="52749"/>
                    <a:pt x="1260811" y="52749"/>
                  </a:cubicBezTo>
                  <a:lnTo>
                    <a:pt x="26374" y="52749"/>
                  </a:lnTo>
                  <a:cubicBezTo>
                    <a:pt x="11808" y="52749"/>
                    <a:pt x="0" y="40941"/>
                    <a:pt x="0" y="26374"/>
                  </a:cubicBezTo>
                  <a:lnTo>
                    <a:pt x="0" y="26374"/>
                  </a:lnTo>
                  <a:cubicBezTo>
                    <a:pt x="0" y="11808"/>
                    <a:pt x="11808" y="0"/>
                    <a:pt x="26374" y="0"/>
                  </a:cubicBezTo>
                  <a:close/>
                </a:path>
              </a:pathLst>
            </a:custGeom>
            <a:solidFill>
              <a:srgbClr val="0E6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287185" cy="100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748208" y="8198424"/>
            <a:ext cx="4756524" cy="629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12"/>
              </a:lnSpc>
              <a:spcBef>
                <a:spcPct val="0"/>
              </a:spcBef>
            </a:pPr>
            <a:r>
              <a:rPr lang="en-US" sz="17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Intel(R) Xeon(R) E-2336 CPU @ 2.9GHz and 16 GB of RAM, running Ubuntu 20.04  OS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48208" y="7740642"/>
            <a:ext cx="4861130" cy="44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86"/>
              </a:lnSpc>
            </a:pPr>
            <a:r>
              <a:rPr lang="en-US" sz="2561" b="1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Server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84558" y="1441870"/>
            <a:ext cx="6506313" cy="142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597"/>
              </a:lnSpc>
              <a:spcBef>
                <a:spcPct val="0"/>
              </a:spcBef>
            </a:pPr>
            <a:r>
              <a:rPr lang="en-US" sz="5280" b="1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Experiment Environment Setup</a:t>
            </a:r>
          </a:p>
        </p:txBody>
      </p:sp>
      <p:sp>
        <p:nvSpPr>
          <p:cNvPr id="23" name="Freeform 23"/>
          <p:cNvSpPr/>
          <p:nvPr/>
        </p:nvSpPr>
        <p:spPr>
          <a:xfrm>
            <a:off x="13924120" y="8009751"/>
            <a:ext cx="850183" cy="922290"/>
          </a:xfrm>
          <a:custGeom>
            <a:avLst/>
            <a:gdLst/>
            <a:ahLst/>
            <a:cxnLst/>
            <a:rect l="l" t="t" r="r" b="b"/>
            <a:pathLst>
              <a:path w="850183" h="922290">
                <a:moveTo>
                  <a:pt x="0" y="0"/>
                </a:moveTo>
                <a:lnTo>
                  <a:pt x="850183" y="0"/>
                </a:lnTo>
                <a:lnTo>
                  <a:pt x="850183" y="922290"/>
                </a:lnTo>
                <a:lnTo>
                  <a:pt x="0" y="9222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24" name="Group 24"/>
          <p:cNvGrpSpPr/>
          <p:nvPr/>
        </p:nvGrpSpPr>
        <p:grpSpPr>
          <a:xfrm>
            <a:off x="17620831" y="9568468"/>
            <a:ext cx="504464" cy="504464"/>
            <a:chOff x="0" y="0"/>
            <a:chExt cx="672618" cy="672618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672618" cy="672618"/>
              <a:chOff x="0" y="0"/>
              <a:chExt cx="174157" cy="17415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4157" cy="174157"/>
              </a:xfrm>
              <a:custGeom>
                <a:avLst/>
                <a:gdLst/>
                <a:ahLst/>
                <a:cxnLst/>
                <a:rect l="l" t="t" r="r" b="b"/>
                <a:pathLst>
                  <a:path w="174157" h="174157">
                    <a:moveTo>
                      <a:pt x="87079" y="0"/>
                    </a:moveTo>
                    <a:lnTo>
                      <a:pt x="87079" y="0"/>
                    </a:lnTo>
                    <a:cubicBezTo>
                      <a:pt x="135171" y="0"/>
                      <a:pt x="174157" y="38986"/>
                      <a:pt x="174157" y="87079"/>
                    </a:cubicBezTo>
                    <a:lnTo>
                      <a:pt x="174157" y="87079"/>
                    </a:lnTo>
                    <a:cubicBezTo>
                      <a:pt x="174157" y="135171"/>
                      <a:pt x="135171" y="174157"/>
                      <a:pt x="87079" y="174157"/>
                    </a:cubicBezTo>
                    <a:lnTo>
                      <a:pt x="87079" y="174157"/>
                    </a:lnTo>
                    <a:cubicBezTo>
                      <a:pt x="38986" y="174157"/>
                      <a:pt x="0" y="135171"/>
                      <a:pt x="0" y="87079"/>
                    </a:cubicBezTo>
                    <a:lnTo>
                      <a:pt x="0" y="87079"/>
                    </a:lnTo>
                    <a:cubicBezTo>
                      <a:pt x="0" y="38986"/>
                      <a:pt x="38986" y="0"/>
                      <a:pt x="87079" y="0"/>
                    </a:cubicBezTo>
                    <a:close/>
                  </a:path>
                </a:pathLst>
              </a:custGeom>
              <a:solidFill>
                <a:srgbClr val="6BBEF4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57150"/>
                <a:ext cx="174157" cy="231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46424" y="72949"/>
              <a:ext cx="579770" cy="47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r>
                <a:rPr lang="en-US" sz="2136" b="1">
                  <a:solidFill>
                    <a:srgbClr val="FCFFFE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28643" r="-9579" b="-8940"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3" name="Group 3"/>
          <p:cNvGrpSpPr/>
          <p:nvPr/>
        </p:nvGrpSpPr>
        <p:grpSpPr>
          <a:xfrm>
            <a:off x="-161849" y="0"/>
            <a:ext cx="18449849" cy="376261"/>
            <a:chOff x="0" y="0"/>
            <a:chExt cx="4859220" cy="990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59220" cy="99098"/>
            </a:xfrm>
            <a:custGeom>
              <a:avLst/>
              <a:gdLst/>
              <a:ahLst/>
              <a:cxnLst/>
              <a:rect l="l" t="t" r="r" b="b"/>
              <a:pathLst>
                <a:path w="4859220" h="99098">
                  <a:moveTo>
                    <a:pt x="0" y="0"/>
                  </a:moveTo>
                  <a:lnTo>
                    <a:pt x="4859220" y="0"/>
                  </a:lnTo>
                  <a:lnTo>
                    <a:pt x="4859220" y="99098"/>
                  </a:lnTo>
                  <a:lnTo>
                    <a:pt x="0" y="99098"/>
                  </a:lnTo>
                  <a:close/>
                </a:path>
              </a:pathLst>
            </a:custGeom>
            <a:solidFill>
              <a:srgbClr val="0E6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59220" cy="146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61849" y="9910739"/>
            <a:ext cx="18449849" cy="376261"/>
            <a:chOff x="0" y="0"/>
            <a:chExt cx="4859220" cy="990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59220" cy="99098"/>
            </a:xfrm>
            <a:custGeom>
              <a:avLst/>
              <a:gdLst/>
              <a:ahLst/>
              <a:cxnLst/>
              <a:rect l="l" t="t" r="r" b="b"/>
              <a:pathLst>
                <a:path w="4859220" h="99098">
                  <a:moveTo>
                    <a:pt x="0" y="0"/>
                  </a:moveTo>
                  <a:lnTo>
                    <a:pt x="4859220" y="0"/>
                  </a:lnTo>
                  <a:lnTo>
                    <a:pt x="4859220" y="99098"/>
                  </a:lnTo>
                  <a:lnTo>
                    <a:pt x="0" y="99098"/>
                  </a:lnTo>
                  <a:close/>
                </a:path>
              </a:pathLst>
            </a:custGeom>
            <a:solidFill>
              <a:srgbClr val="0E6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859220" cy="146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620831" y="9568468"/>
            <a:ext cx="504464" cy="504464"/>
            <a:chOff x="0" y="0"/>
            <a:chExt cx="672618" cy="672618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72618" cy="672618"/>
              <a:chOff x="0" y="0"/>
              <a:chExt cx="174157" cy="17415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74157" cy="174157"/>
              </a:xfrm>
              <a:custGeom>
                <a:avLst/>
                <a:gdLst/>
                <a:ahLst/>
                <a:cxnLst/>
                <a:rect l="l" t="t" r="r" b="b"/>
                <a:pathLst>
                  <a:path w="174157" h="174157">
                    <a:moveTo>
                      <a:pt x="87079" y="0"/>
                    </a:moveTo>
                    <a:lnTo>
                      <a:pt x="87079" y="0"/>
                    </a:lnTo>
                    <a:cubicBezTo>
                      <a:pt x="135171" y="0"/>
                      <a:pt x="174157" y="38986"/>
                      <a:pt x="174157" y="87079"/>
                    </a:cubicBezTo>
                    <a:lnTo>
                      <a:pt x="174157" y="87079"/>
                    </a:lnTo>
                    <a:cubicBezTo>
                      <a:pt x="174157" y="135171"/>
                      <a:pt x="135171" y="174157"/>
                      <a:pt x="87079" y="174157"/>
                    </a:cubicBezTo>
                    <a:lnTo>
                      <a:pt x="87079" y="174157"/>
                    </a:lnTo>
                    <a:cubicBezTo>
                      <a:pt x="38986" y="174157"/>
                      <a:pt x="0" y="135171"/>
                      <a:pt x="0" y="87079"/>
                    </a:cubicBezTo>
                    <a:lnTo>
                      <a:pt x="0" y="87079"/>
                    </a:lnTo>
                    <a:cubicBezTo>
                      <a:pt x="0" y="38986"/>
                      <a:pt x="38986" y="0"/>
                      <a:pt x="87079" y="0"/>
                    </a:cubicBezTo>
                    <a:close/>
                  </a:path>
                </a:pathLst>
              </a:custGeom>
              <a:solidFill>
                <a:srgbClr val="6BBEF4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57150"/>
                <a:ext cx="174157" cy="231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6424" y="72949"/>
              <a:ext cx="579770" cy="47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r>
                <a:rPr lang="en-US" sz="2136" b="1">
                  <a:solidFill>
                    <a:srgbClr val="FCFFFE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16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615384" y="8022724"/>
            <a:ext cx="13057233" cy="1433359"/>
            <a:chOff x="0" y="0"/>
            <a:chExt cx="3548014" cy="38948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48014" cy="389484"/>
            </a:xfrm>
            <a:custGeom>
              <a:avLst/>
              <a:gdLst/>
              <a:ahLst/>
              <a:cxnLst/>
              <a:rect l="l" t="t" r="r" b="b"/>
              <a:pathLst>
                <a:path w="3548014" h="389484">
                  <a:moveTo>
                    <a:pt x="23717" y="0"/>
                  </a:moveTo>
                  <a:lnTo>
                    <a:pt x="3524297" y="0"/>
                  </a:lnTo>
                  <a:cubicBezTo>
                    <a:pt x="3537396" y="0"/>
                    <a:pt x="3548014" y="10618"/>
                    <a:pt x="3548014" y="23717"/>
                  </a:cubicBezTo>
                  <a:lnTo>
                    <a:pt x="3548014" y="365767"/>
                  </a:lnTo>
                  <a:cubicBezTo>
                    <a:pt x="3548014" y="378865"/>
                    <a:pt x="3537396" y="389484"/>
                    <a:pt x="3524297" y="389484"/>
                  </a:cubicBezTo>
                  <a:lnTo>
                    <a:pt x="23717" y="389484"/>
                  </a:lnTo>
                  <a:cubicBezTo>
                    <a:pt x="10618" y="389484"/>
                    <a:pt x="0" y="378865"/>
                    <a:pt x="0" y="365767"/>
                  </a:cubicBezTo>
                  <a:lnTo>
                    <a:pt x="0" y="23717"/>
                  </a:lnTo>
                  <a:cubicBezTo>
                    <a:pt x="0" y="10618"/>
                    <a:pt x="10618" y="0"/>
                    <a:pt x="2371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548014" cy="437109"/>
            </a:xfrm>
            <a:prstGeom prst="rect">
              <a:avLst/>
            </a:prstGeom>
          </p:spPr>
          <p:txBody>
            <a:bodyPr lIns="43301" tIns="43301" rIns="43301" bIns="43301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97292" y="2590534"/>
            <a:ext cx="7046844" cy="4658083"/>
          </a:xfrm>
          <a:custGeom>
            <a:avLst/>
            <a:gdLst/>
            <a:ahLst/>
            <a:cxnLst/>
            <a:rect l="l" t="t" r="r" b="b"/>
            <a:pathLst>
              <a:path w="7046844" h="4658083">
                <a:moveTo>
                  <a:pt x="0" y="0"/>
                </a:moveTo>
                <a:lnTo>
                  <a:pt x="7046844" y="0"/>
                </a:lnTo>
                <a:lnTo>
                  <a:pt x="7046844" y="4658083"/>
                </a:lnTo>
                <a:lnTo>
                  <a:pt x="0" y="46580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8" name="Freeform 18"/>
          <p:cNvSpPr/>
          <p:nvPr/>
        </p:nvSpPr>
        <p:spPr>
          <a:xfrm>
            <a:off x="9843864" y="2590534"/>
            <a:ext cx="7046844" cy="4658083"/>
          </a:xfrm>
          <a:custGeom>
            <a:avLst/>
            <a:gdLst/>
            <a:ahLst/>
            <a:cxnLst/>
            <a:rect l="l" t="t" r="r" b="b"/>
            <a:pathLst>
              <a:path w="7046844" h="4658083">
                <a:moveTo>
                  <a:pt x="0" y="0"/>
                </a:moveTo>
                <a:lnTo>
                  <a:pt x="7046844" y="0"/>
                </a:lnTo>
                <a:lnTo>
                  <a:pt x="7046844" y="4658083"/>
                </a:lnTo>
                <a:lnTo>
                  <a:pt x="0" y="46580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9" name="TextBox 19"/>
          <p:cNvSpPr txBox="1"/>
          <p:nvPr/>
        </p:nvSpPr>
        <p:spPr>
          <a:xfrm>
            <a:off x="2181547" y="1085850"/>
            <a:ext cx="13924905" cy="730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08"/>
              </a:lnSpc>
              <a:spcBef>
                <a:spcPct val="0"/>
              </a:spcBef>
            </a:pPr>
            <a:r>
              <a:rPr lang="en-US" sz="5196" b="1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1)Cryptographic Performance Evaluation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15384" y="8212988"/>
            <a:ext cx="13057233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Hybrid encryption using AES &amp; CP-ABE</a:t>
            </a:r>
          </a:p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reduces computational overhead while maintaining security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28643" r="-9579" b="-8940"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3" name="Group 3"/>
          <p:cNvGrpSpPr/>
          <p:nvPr/>
        </p:nvGrpSpPr>
        <p:grpSpPr>
          <a:xfrm>
            <a:off x="-161849" y="0"/>
            <a:ext cx="18449849" cy="376261"/>
            <a:chOff x="0" y="0"/>
            <a:chExt cx="4859220" cy="990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59220" cy="99098"/>
            </a:xfrm>
            <a:custGeom>
              <a:avLst/>
              <a:gdLst/>
              <a:ahLst/>
              <a:cxnLst/>
              <a:rect l="l" t="t" r="r" b="b"/>
              <a:pathLst>
                <a:path w="4859220" h="99098">
                  <a:moveTo>
                    <a:pt x="0" y="0"/>
                  </a:moveTo>
                  <a:lnTo>
                    <a:pt x="4859220" y="0"/>
                  </a:lnTo>
                  <a:lnTo>
                    <a:pt x="4859220" y="99098"/>
                  </a:lnTo>
                  <a:lnTo>
                    <a:pt x="0" y="99098"/>
                  </a:lnTo>
                  <a:close/>
                </a:path>
              </a:pathLst>
            </a:custGeom>
            <a:solidFill>
              <a:srgbClr val="0E6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59220" cy="146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61849" y="9910739"/>
            <a:ext cx="18449849" cy="376261"/>
            <a:chOff x="0" y="0"/>
            <a:chExt cx="4859220" cy="990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59220" cy="99098"/>
            </a:xfrm>
            <a:custGeom>
              <a:avLst/>
              <a:gdLst/>
              <a:ahLst/>
              <a:cxnLst/>
              <a:rect l="l" t="t" r="r" b="b"/>
              <a:pathLst>
                <a:path w="4859220" h="99098">
                  <a:moveTo>
                    <a:pt x="0" y="0"/>
                  </a:moveTo>
                  <a:lnTo>
                    <a:pt x="4859220" y="0"/>
                  </a:lnTo>
                  <a:lnTo>
                    <a:pt x="4859220" y="99098"/>
                  </a:lnTo>
                  <a:lnTo>
                    <a:pt x="0" y="99098"/>
                  </a:lnTo>
                  <a:close/>
                </a:path>
              </a:pathLst>
            </a:custGeom>
            <a:solidFill>
              <a:srgbClr val="0E6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859220" cy="146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620831" y="9568468"/>
            <a:ext cx="504464" cy="504464"/>
            <a:chOff x="0" y="0"/>
            <a:chExt cx="672618" cy="672618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72618" cy="672618"/>
              <a:chOff x="0" y="0"/>
              <a:chExt cx="174157" cy="17415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74157" cy="174157"/>
              </a:xfrm>
              <a:custGeom>
                <a:avLst/>
                <a:gdLst/>
                <a:ahLst/>
                <a:cxnLst/>
                <a:rect l="l" t="t" r="r" b="b"/>
                <a:pathLst>
                  <a:path w="174157" h="174157">
                    <a:moveTo>
                      <a:pt x="87079" y="0"/>
                    </a:moveTo>
                    <a:lnTo>
                      <a:pt x="87079" y="0"/>
                    </a:lnTo>
                    <a:cubicBezTo>
                      <a:pt x="135171" y="0"/>
                      <a:pt x="174157" y="38986"/>
                      <a:pt x="174157" y="87079"/>
                    </a:cubicBezTo>
                    <a:lnTo>
                      <a:pt x="174157" y="87079"/>
                    </a:lnTo>
                    <a:cubicBezTo>
                      <a:pt x="174157" y="135171"/>
                      <a:pt x="135171" y="174157"/>
                      <a:pt x="87079" y="174157"/>
                    </a:cubicBezTo>
                    <a:lnTo>
                      <a:pt x="87079" y="174157"/>
                    </a:lnTo>
                    <a:cubicBezTo>
                      <a:pt x="38986" y="174157"/>
                      <a:pt x="0" y="135171"/>
                      <a:pt x="0" y="87079"/>
                    </a:cubicBezTo>
                    <a:lnTo>
                      <a:pt x="0" y="87079"/>
                    </a:lnTo>
                    <a:cubicBezTo>
                      <a:pt x="0" y="38986"/>
                      <a:pt x="38986" y="0"/>
                      <a:pt x="87079" y="0"/>
                    </a:cubicBezTo>
                    <a:close/>
                  </a:path>
                </a:pathLst>
              </a:custGeom>
              <a:solidFill>
                <a:srgbClr val="6BBEF4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57150"/>
                <a:ext cx="174157" cy="231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6424" y="72949"/>
              <a:ext cx="579770" cy="47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r>
                <a:rPr lang="en-US" sz="2136" b="1">
                  <a:solidFill>
                    <a:srgbClr val="FCFFFE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17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4928832" y="2362446"/>
            <a:ext cx="8430335" cy="5572595"/>
          </a:xfrm>
          <a:custGeom>
            <a:avLst/>
            <a:gdLst/>
            <a:ahLst/>
            <a:cxnLst/>
            <a:rect l="l" t="t" r="r" b="b"/>
            <a:pathLst>
              <a:path w="8430335" h="5572595">
                <a:moveTo>
                  <a:pt x="0" y="0"/>
                </a:moveTo>
                <a:lnTo>
                  <a:pt x="8430336" y="0"/>
                </a:lnTo>
                <a:lnTo>
                  <a:pt x="8430336" y="5572594"/>
                </a:lnTo>
                <a:lnTo>
                  <a:pt x="0" y="55725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15" name="Group 15"/>
          <p:cNvGrpSpPr/>
          <p:nvPr/>
        </p:nvGrpSpPr>
        <p:grpSpPr>
          <a:xfrm>
            <a:off x="1986217" y="8296808"/>
            <a:ext cx="5655928" cy="1145743"/>
            <a:chOff x="0" y="0"/>
            <a:chExt cx="1536873" cy="3113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36873" cy="311330"/>
            </a:xfrm>
            <a:custGeom>
              <a:avLst/>
              <a:gdLst/>
              <a:ahLst/>
              <a:cxnLst/>
              <a:rect l="l" t="t" r="r" b="b"/>
              <a:pathLst>
                <a:path w="1536873" h="311330">
                  <a:moveTo>
                    <a:pt x="54753" y="0"/>
                  </a:moveTo>
                  <a:lnTo>
                    <a:pt x="1482121" y="0"/>
                  </a:lnTo>
                  <a:cubicBezTo>
                    <a:pt x="1496642" y="0"/>
                    <a:pt x="1510568" y="5769"/>
                    <a:pt x="1520836" y="16037"/>
                  </a:cubicBezTo>
                  <a:cubicBezTo>
                    <a:pt x="1531105" y="26305"/>
                    <a:pt x="1536873" y="40231"/>
                    <a:pt x="1536873" y="54753"/>
                  </a:cubicBezTo>
                  <a:lnTo>
                    <a:pt x="1536873" y="256578"/>
                  </a:lnTo>
                  <a:cubicBezTo>
                    <a:pt x="1536873" y="271099"/>
                    <a:pt x="1531105" y="285026"/>
                    <a:pt x="1520836" y="295294"/>
                  </a:cubicBezTo>
                  <a:cubicBezTo>
                    <a:pt x="1510568" y="305562"/>
                    <a:pt x="1496642" y="311330"/>
                    <a:pt x="1482121" y="311330"/>
                  </a:cubicBezTo>
                  <a:lnTo>
                    <a:pt x="54753" y="311330"/>
                  </a:lnTo>
                  <a:cubicBezTo>
                    <a:pt x="40231" y="311330"/>
                    <a:pt x="26305" y="305562"/>
                    <a:pt x="16037" y="295294"/>
                  </a:cubicBezTo>
                  <a:cubicBezTo>
                    <a:pt x="5769" y="285026"/>
                    <a:pt x="0" y="271099"/>
                    <a:pt x="0" y="256578"/>
                  </a:cubicBezTo>
                  <a:lnTo>
                    <a:pt x="0" y="54753"/>
                  </a:lnTo>
                  <a:cubicBezTo>
                    <a:pt x="0" y="40231"/>
                    <a:pt x="5769" y="26305"/>
                    <a:pt x="16037" y="16037"/>
                  </a:cubicBezTo>
                  <a:cubicBezTo>
                    <a:pt x="26305" y="5769"/>
                    <a:pt x="40231" y="0"/>
                    <a:pt x="54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922E19"/>
              </a:solidFill>
              <a:prstDash val="solid"/>
              <a:round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536873" cy="358955"/>
            </a:xfrm>
            <a:prstGeom prst="rect">
              <a:avLst/>
            </a:prstGeom>
          </p:spPr>
          <p:txBody>
            <a:bodyPr lIns="43301" tIns="43301" rIns="43301" bIns="43301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645856" y="8296808"/>
            <a:ext cx="5655928" cy="1145743"/>
            <a:chOff x="0" y="0"/>
            <a:chExt cx="1536873" cy="3113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36873" cy="311330"/>
            </a:xfrm>
            <a:custGeom>
              <a:avLst/>
              <a:gdLst/>
              <a:ahLst/>
              <a:cxnLst/>
              <a:rect l="l" t="t" r="r" b="b"/>
              <a:pathLst>
                <a:path w="1536873" h="311330">
                  <a:moveTo>
                    <a:pt x="54753" y="0"/>
                  </a:moveTo>
                  <a:lnTo>
                    <a:pt x="1482121" y="0"/>
                  </a:lnTo>
                  <a:cubicBezTo>
                    <a:pt x="1496642" y="0"/>
                    <a:pt x="1510568" y="5769"/>
                    <a:pt x="1520836" y="16037"/>
                  </a:cubicBezTo>
                  <a:cubicBezTo>
                    <a:pt x="1531105" y="26305"/>
                    <a:pt x="1536873" y="40231"/>
                    <a:pt x="1536873" y="54753"/>
                  </a:cubicBezTo>
                  <a:lnTo>
                    <a:pt x="1536873" y="256578"/>
                  </a:lnTo>
                  <a:cubicBezTo>
                    <a:pt x="1536873" y="271099"/>
                    <a:pt x="1531105" y="285026"/>
                    <a:pt x="1520836" y="295294"/>
                  </a:cubicBezTo>
                  <a:cubicBezTo>
                    <a:pt x="1510568" y="305562"/>
                    <a:pt x="1496642" y="311330"/>
                    <a:pt x="1482121" y="311330"/>
                  </a:cubicBezTo>
                  <a:lnTo>
                    <a:pt x="54753" y="311330"/>
                  </a:lnTo>
                  <a:cubicBezTo>
                    <a:pt x="40231" y="311330"/>
                    <a:pt x="26305" y="305562"/>
                    <a:pt x="16037" y="295294"/>
                  </a:cubicBezTo>
                  <a:cubicBezTo>
                    <a:pt x="5769" y="285026"/>
                    <a:pt x="0" y="271099"/>
                    <a:pt x="0" y="256578"/>
                  </a:cubicBezTo>
                  <a:lnTo>
                    <a:pt x="0" y="54753"/>
                  </a:lnTo>
                  <a:cubicBezTo>
                    <a:pt x="0" y="40231"/>
                    <a:pt x="5769" y="26305"/>
                    <a:pt x="16037" y="16037"/>
                  </a:cubicBezTo>
                  <a:cubicBezTo>
                    <a:pt x="26305" y="5769"/>
                    <a:pt x="40231" y="0"/>
                    <a:pt x="54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8000"/>
              </a:solidFill>
              <a:prstDash val="solid"/>
              <a:round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536873" cy="358955"/>
            </a:xfrm>
            <a:prstGeom prst="rect">
              <a:avLst/>
            </a:prstGeom>
          </p:spPr>
          <p:txBody>
            <a:bodyPr lIns="43301" tIns="43301" rIns="43301" bIns="43301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76975" y="3034982"/>
            <a:ext cx="2242849" cy="3866107"/>
            <a:chOff x="0" y="0"/>
            <a:chExt cx="590709" cy="101823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90709" cy="1018234"/>
            </a:xfrm>
            <a:custGeom>
              <a:avLst/>
              <a:gdLst/>
              <a:ahLst/>
              <a:cxnLst/>
              <a:rect l="l" t="t" r="r" b="b"/>
              <a:pathLst>
                <a:path w="590709" h="1018234">
                  <a:moveTo>
                    <a:pt x="34518" y="0"/>
                  </a:moveTo>
                  <a:lnTo>
                    <a:pt x="556191" y="0"/>
                  </a:lnTo>
                  <a:cubicBezTo>
                    <a:pt x="575255" y="0"/>
                    <a:pt x="590709" y="15454"/>
                    <a:pt x="590709" y="34518"/>
                  </a:cubicBezTo>
                  <a:lnTo>
                    <a:pt x="590709" y="983716"/>
                  </a:lnTo>
                  <a:cubicBezTo>
                    <a:pt x="590709" y="992870"/>
                    <a:pt x="587073" y="1001650"/>
                    <a:pt x="580599" y="1008124"/>
                  </a:cubicBezTo>
                  <a:cubicBezTo>
                    <a:pt x="574126" y="1014597"/>
                    <a:pt x="565346" y="1018234"/>
                    <a:pt x="556191" y="1018234"/>
                  </a:cubicBezTo>
                  <a:lnTo>
                    <a:pt x="34518" y="1018234"/>
                  </a:lnTo>
                  <a:cubicBezTo>
                    <a:pt x="25363" y="1018234"/>
                    <a:pt x="16584" y="1014597"/>
                    <a:pt x="10110" y="1008124"/>
                  </a:cubicBezTo>
                  <a:cubicBezTo>
                    <a:pt x="3637" y="1001650"/>
                    <a:pt x="0" y="992870"/>
                    <a:pt x="0" y="983716"/>
                  </a:cubicBezTo>
                  <a:lnTo>
                    <a:pt x="0" y="34518"/>
                  </a:lnTo>
                  <a:cubicBezTo>
                    <a:pt x="0" y="25363"/>
                    <a:pt x="3637" y="16584"/>
                    <a:pt x="10110" y="10110"/>
                  </a:cubicBezTo>
                  <a:cubicBezTo>
                    <a:pt x="16584" y="3637"/>
                    <a:pt x="25363" y="0"/>
                    <a:pt x="345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22E19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590709" cy="1065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6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181547" y="1085850"/>
            <a:ext cx="13924905" cy="730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08"/>
              </a:lnSpc>
              <a:spcBef>
                <a:spcPct val="0"/>
              </a:spcBef>
            </a:pPr>
            <a:r>
              <a:rPr lang="en-US" sz="5196" b="1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2) Data Access Performance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86217" y="8423910"/>
            <a:ext cx="5655928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922E1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Slower query time</a:t>
            </a:r>
          </a:p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22E19"/>
                </a:solidFill>
                <a:latin typeface="Public Sans"/>
                <a:ea typeface="Public Sans"/>
                <a:cs typeface="Public Sans"/>
                <a:sym typeface="Public Sans"/>
              </a:rPr>
              <a:t>when small number of records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45856" y="8423910"/>
            <a:ext cx="5655928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08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Faster query time</a:t>
            </a:r>
          </a:p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8000"/>
                </a:solidFill>
                <a:latin typeface="Public Sans"/>
                <a:ea typeface="Public Sans"/>
                <a:cs typeface="Public Sans"/>
                <a:sym typeface="Public Sans"/>
              </a:rPr>
              <a:t>when large number of records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976769" y="3034982"/>
            <a:ext cx="4121937" cy="2810522"/>
            <a:chOff x="0" y="0"/>
            <a:chExt cx="1085613" cy="7402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85613" cy="740220"/>
            </a:xfrm>
            <a:custGeom>
              <a:avLst/>
              <a:gdLst/>
              <a:ahLst/>
              <a:cxnLst/>
              <a:rect l="l" t="t" r="r" b="b"/>
              <a:pathLst>
                <a:path w="1085613" h="740220">
                  <a:moveTo>
                    <a:pt x="18782" y="0"/>
                  </a:moveTo>
                  <a:lnTo>
                    <a:pt x="1066831" y="0"/>
                  </a:lnTo>
                  <a:cubicBezTo>
                    <a:pt x="1077204" y="0"/>
                    <a:pt x="1085613" y="8409"/>
                    <a:pt x="1085613" y="18782"/>
                  </a:cubicBezTo>
                  <a:lnTo>
                    <a:pt x="1085613" y="721438"/>
                  </a:lnTo>
                  <a:cubicBezTo>
                    <a:pt x="1085613" y="726419"/>
                    <a:pt x="1083634" y="731196"/>
                    <a:pt x="1080112" y="734719"/>
                  </a:cubicBezTo>
                  <a:cubicBezTo>
                    <a:pt x="1076590" y="738241"/>
                    <a:pt x="1071812" y="740220"/>
                    <a:pt x="1066831" y="740220"/>
                  </a:cubicBezTo>
                  <a:lnTo>
                    <a:pt x="18782" y="740220"/>
                  </a:lnTo>
                  <a:cubicBezTo>
                    <a:pt x="8409" y="740220"/>
                    <a:pt x="0" y="731811"/>
                    <a:pt x="0" y="721438"/>
                  </a:cubicBezTo>
                  <a:lnTo>
                    <a:pt x="0" y="18782"/>
                  </a:lnTo>
                  <a:cubicBezTo>
                    <a:pt x="0" y="8409"/>
                    <a:pt x="8409" y="0"/>
                    <a:pt x="1878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8000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085613" cy="7878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6"/>
                </a:lnSpc>
              </a:pPr>
              <a:endParaRPr/>
            </a:p>
          </p:txBody>
        </p:sp>
      </p:grpSp>
      <p:sp>
        <p:nvSpPr>
          <p:cNvPr id="30" name="AutoShape 30"/>
          <p:cNvSpPr/>
          <p:nvPr/>
        </p:nvSpPr>
        <p:spPr>
          <a:xfrm>
            <a:off x="13098706" y="4440243"/>
            <a:ext cx="1841107" cy="3856566"/>
          </a:xfrm>
          <a:prstGeom prst="line">
            <a:avLst/>
          </a:prstGeom>
          <a:ln w="38100" cap="flat">
            <a:solidFill>
              <a:srgbClr val="008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H"/>
          </a:p>
        </p:txBody>
      </p:sp>
      <p:sp>
        <p:nvSpPr>
          <p:cNvPr id="31" name="AutoShape 31"/>
          <p:cNvSpPr/>
          <p:nvPr/>
        </p:nvSpPr>
        <p:spPr>
          <a:xfrm flipH="1">
            <a:off x="3073973" y="4968035"/>
            <a:ext cx="2903003" cy="3328773"/>
          </a:xfrm>
          <a:prstGeom prst="line">
            <a:avLst/>
          </a:prstGeom>
          <a:ln w="38100" cap="flat">
            <a:solidFill>
              <a:srgbClr val="922E19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H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28643" r="-9579" b="-8940"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3" name="Group 3"/>
          <p:cNvGrpSpPr/>
          <p:nvPr/>
        </p:nvGrpSpPr>
        <p:grpSpPr>
          <a:xfrm>
            <a:off x="-161849" y="0"/>
            <a:ext cx="18449849" cy="376261"/>
            <a:chOff x="0" y="0"/>
            <a:chExt cx="4859220" cy="990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59220" cy="99098"/>
            </a:xfrm>
            <a:custGeom>
              <a:avLst/>
              <a:gdLst/>
              <a:ahLst/>
              <a:cxnLst/>
              <a:rect l="l" t="t" r="r" b="b"/>
              <a:pathLst>
                <a:path w="4859220" h="99098">
                  <a:moveTo>
                    <a:pt x="0" y="0"/>
                  </a:moveTo>
                  <a:lnTo>
                    <a:pt x="4859220" y="0"/>
                  </a:lnTo>
                  <a:lnTo>
                    <a:pt x="4859220" y="99098"/>
                  </a:lnTo>
                  <a:lnTo>
                    <a:pt x="0" y="99098"/>
                  </a:lnTo>
                  <a:close/>
                </a:path>
              </a:pathLst>
            </a:custGeom>
            <a:solidFill>
              <a:srgbClr val="0E6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59220" cy="146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61849" y="9910739"/>
            <a:ext cx="18449849" cy="376261"/>
            <a:chOff x="0" y="0"/>
            <a:chExt cx="4859220" cy="990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59220" cy="99098"/>
            </a:xfrm>
            <a:custGeom>
              <a:avLst/>
              <a:gdLst/>
              <a:ahLst/>
              <a:cxnLst/>
              <a:rect l="l" t="t" r="r" b="b"/>
              <a:pathLst>
                <a:path w="4859220" h="99098">
                  <a:moveTo>
                    <a:pt x="0" y="0"/>
                  </a:moveTo>
                  <a:lnTo>
                    <a:pt x="4859220" y="0"/>
                  </a:lnTo>
                  <a:lnTo>
                    <a:pt x="4859220" y="99098"/>
                  </a:lnTo>
                  <a:lnTo>
                    <a:pt x="0" y="99098"/>
                  </a:lnTo>
                  <a:close/>
                </a:path>
              </a:pathLst>
            </a:custGeom>
            <a:solidFill>
              <a:srgbClr val="0E6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859220" cy="146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15384" y="8275539"/>
            <a:ext cx="13057233" cy="982761"/>
            <a:chOff x="0" y="0"/>
            <a:chExt cx="3548014" cy="2670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48014" cy="267044"/>
            </a:xfrm>
            <a:custGeom>
              <a:avLst/>
              <a:gdLst/>
              <a:ahLst/>
              <a:cxnLst/>
              <a:rect l="l" t="t" r="r" b="b"/>
              <a:pathLst>
                <a:path w="3548014" h="267044">
                  <a:moveTo>
                    <a:pt x="23717" y="0"/>
                  </a:moveTo>
                  <a:lnTo>
                    <a:pt x="3524297" y="0"/>
                  </a:lnTo>
                  <a:cubicBezTo>
                    <a:pt x="3537396" y="0"/>
                    <a:pt x="3548014" y="10618"/>
                    <a:pt x="3548014" y="23717"/>
                  </a:cubicBezTo>
                  <a:lnTo>
                    <a:pt x="3548014" y="243327"/>
                  </a:lnTo>
                  <a:cubicBezTo>
                    <a:pt x="3548014" y="256425"/>
                    <a:pt x="3537396" y="267044"/>
                    <a:pt x="3524297" y="267044"/>
                  </a:cubicBezTo>
                  <a:lnTo>
                    <a:pt x="23717" y="267044"/>
                  </a:lnTo>
                  <a:cubicBezTo>
                    <a:pt x="10618" y="267044"/>
                    <a:pt x="0" y="256425"/>
                    <a:pt x="0" y="243327"/>
                  </a:cubicBezTo>
                  <a:lnTo>
                    <a:pt x="0" y="23717"/>
                  </a:lnTo>
                  <a:cubicBezTo>
                    <a:pt x="0" y="10618"/>
                    <a:pt x="10618" y="0"/>
                    <a:pt x="2371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548014" cy="314669"/>
            </a:xfrm>
            <a:prstGeom prst="rect">
              <a:avLst/>
            </a:prstGeom>
          </p:spPr>
          <p:txBody>
            <a:bodyPr lIns="43301" tIns="43301" rIns="43301" bIns="43301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620831" y="9568468"/>
            <a:ext cx="504464" cy="504464"/>
            <a:chOff x="0" y="0"/>
            <a:chExt cx="672618" cy="67261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72618" cy="672618"/>
              <a:chOff x="0" y="0"/>
              <a:chExt cx="174157" cy="17415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74157" cy="174157"/>
              </a:xfrm>
              <a:custGeom>
                <a:avLst/>
                <a:gdLst/>
                <a:ahLst/>
                <a:cxnLst/>
                <a:rect l="l" t="t" r="r" b="b"/>
                <a:pathLst>
                  <a:path w="174157" h="174157">
                    <a:moveTo>
                      <a:pt x="87079" y="0"/>
                    </a:moveTo>
                    <a:lnTo>
                      <a:pt x="87079" y="0"/>
                    </a:lnTo>
                    <a:cubicBezTo>
                      <a:pt x="135171" y="0"/>
                      <a:pt x="174157" y="38986"/>
                      <a:pt x="174157" y="87079"/>
                    </a:cubicBezTo>
                    <a:lnTo>
                      <a:pt x="174157" y="87079"/>
                    </a:lnTo>
                    <a:cubicBezTo>
                      <a:pt x="174157" y="135171"/>
                      <a:pt x="135171" y="174157"/>
                      <a:pt x="87079" y="174157"/>
                    </a:cubicBezTo>
                    <a:lnTo>
                      <a:pt x="87079" y="174157"/>
                    </a:lnTo>
                    <a:cubicBezTo>
                      <a:pt x="38986" y="174157"/>
                      <a:pt x="0" y="135171"/>
                      <a:pt x="0" y="87079"/>
                    </a:cubicBezTo>
                    <a:lnTo>
                      <a:pt x="0" y="87079"/>
                    </a:lnTo>
                    <a:cubicBezTo>
                      <a:pt x="0" y="38986"/>
                      <a:pt x="38986" y="0"/>
                      <a:pt x="87079" y="0"/>
                    </a:cubicBezTo>
                    <a:close/>
                  </a:path>
                </a:pathLst>
              </a:custGeom>
              <a:solidFill>
                <a:srgbClr val="6BBEF4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57150"/>
                <a:ext cx="174157" cy="231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46424" y="72949"/>
              <a:ext cx="579770" cy="47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r>
                <a:rPr lang="en-US" sz="2136" b="1">
                  <a:solidFill>
                    <a:srgbClr val="FCFFFE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18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3493371" y="2969376"/>
            <a:ext cx="11301259" cy="4153213"/>
          </a:xfrm>
          <a:custGeom>
            <a:avLst/>
            <a:gdLst/>
            <a:ahLst/>
            <a:cxnLst/>
            <a:rect l="l" t="t" r="r" b="b"/>
            <a:pathLst>
              <a:path w="11301259" h="4153213">
                <a:moveTo>
                  <a:pt x="0" y="0"/>
                </a:moveTo>
                <a:lnTo>
                  <a:pt x="11301258" y="0"/>
                </a:lnTo>
                <a:lnTo>
                  <a:pt x="11301258" y="4153213"/>
                </a:lnTo>
                <a:lnTo>
                  <a:pt x="0" y="41532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8" name="TextBox 18"/>
          <p:cNvSpPr txBox="1"/>
          <p:nvPr/>
        </p:nvSpPr>
        <p:spPr>
          <a:xfrm>
            <a:off x="2181547" y="1085850"/>
            <a:ext cx="13924905" cy="730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08"/>
              </a:lnSpc>
              <a:spcBef>
                <a:spcPct val="0"/>
              </a:spcBef>
            </a:pPr>
            <a:r>
              <a:rPr lang="en-US" sz="5196" b="1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3) A-PRE Performance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15384" y="8464771"/>
            <a:ext cx="13057233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More number of proxies, </a:t>
            </a:r>
            <a:r>
              <a:rPr lang="en-US" sz="27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mostly less re-encryption time</a:t>
            </a:r>
          </a:p>
        </p:txBody>
      </p:sp>
      <p:sp>
        <p:nvSpPr>
          <p:cNvPr id="20" name="Freeform 20"/>
          <p:cNvSpPr/>
          <p:nvPr/>
        </p:nvSpPr>
        <p:spPr>
          <a:xfrm>
            <a:off x="12386645" y="5133975"/>
            <a:ext cx="340081" cy="407283"/>
          </a:xfrm>
          <a:custGeom>
            <a:avLst/>
            <a:gdLst/>
            <a:ahLst/>
            <a:cxnLst/>
            <a:rect l="l" t="t" r="r" b="b"/>
            <a:pathLst>
              <a:path w="340081" h="407283">
                <a:moveTo>
                  <a:pt x="0" y="0"/>
                </a:moveTo>
                <a:lnTo>
                  <a:pt x="340081" y="0"/>
                </a:lnTo>
                <a:lnTo>
                  <a:pt x="340081" y="407283"/>
                </a:lnTo>
                <a:lnTo>
                  <a:pt x="0" y="40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1" name="Freeform 21"/>
          <p:cNvSpPr/>
          <p:nvPr/>
        </p:nvSpPr>
        <p:spPr>
          <a:xfrm>
            <a:off x="12386645" y="5579358"/>
            <a:ext cx="340081" cy="407283"/>
          </a:xfrm>
          <a:custGeom>
            <a:avLst/>
            <a:gdLst/>
            <a:ahLst/>
            <a:cxnLst/>
            <a:rect l="l" t="t" r="r" b="b"/>
            <a:pathLst>
              <a:path w="340081" h="407283">
                <a:moveTo>
                  <a:pt x="0" y="0"/>
                </a:moveTo>
                <a:lnTo>
                  <a:pt x="340081" y="0"/>
                </a:lnTo>
                <a:lnTo>
                  <a:pt x="340081" y="407283"/>
                </a:lnTo>
                <a:lnTo>
                  <a:pt x="0" y="40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2" name="Freeform 22"/>
          <p:cNvSpPr/>
          <p:nvPr/>
        </p:nvSpPr>
        <p:spPr>
          <a:xfrm>
            <a:off x="8816835" y="6024741"/>
            <a:ext cx="340081" cy="407283"/>
          </a:xfrm>
          <a:custGeom>
            <a:avLst/>
            <a:gdLst/>
            <a:ahLst/>
            <a:cxnLst/>
            <a:rect l="l" t="t" r="r" b="b"/>
            <a:pathLst>
              <a:path w="340081" h="407283">
                <a:moveTo>
                  <a:pt x="0" y="0"/>
                </a:moveTo>
                <a:lnTo>
                  <a:pt x="340081" y="0"/>
                </a:lnTo>
                <a:lnTo>
                  <a:pt x="340081" y="407283"/>
                </a:lnTo>
                <a:lnTo>
                  <a:pt x="0" y="40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3" name="Freeform 23"/>
          <p:cNvSpPr/>
          <p:nvPr/>
        </p:nvSpPr>
        <p:spPr>
          <a:xfrm>
            <a:off x="14181354" y="6475514"/>
            <a:ext cx="340081" cy="407283"/>
          </a:xfrm>
          <a:custGeom>
            <a:avLst/>
            <a:gdLst/>
            <a:ahLst/>
            <a:cxnLst/>
            <a:rect l="l" t="t" r="r" b="b"/>
            <a:pathLst>
              <a:path w="340081" h="407283">
                <a:moveTo>
                  <a:pt x="0" y="0"/>
                </a:moveTo>
                <a:lnTo>
                  <a:pt x="340082" y="0"/>
                </a:lnTo>
                <a:lnTo>
                  <a:pt x="340082" y="407283"/>
                </a:lnTo>
                <a:lnTo>
                  <a:pt x="0" y="407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4" name="Freeform 24"/>
          <p:cNvSpPr/>
          <p:nvPr/>
        </p:nvSpPr>
        <p:spPr>
          <a:xfrm>
            <a:off x="10606837" y="5143500"/>
            <a:ext cx="340081" cy="407283"/>
          </a:xfrm>
          <a:custGeom>
            <a:avLst/>
            <a:gdLst/>
            <a:ahLst/>
            <a:cxnLst/>
            <a:rect l="l" t="t" r="r" b="b"/>
            <a:pathLst>
              <a:path w="340081" h="407283">
                <a:moveTo>
                  <a:pt x="0" y="0"/>
                </a:moveTo>
                <a:lnTo>
                  <a:pt x="340081" y="0"/>
                </a:lnTo>
                <a:lnTo>
                  <a:pt x="340081" y="407283"/>
                </a:lnTo>
                <a:lnTo>
                  <a:pt x="0" y="40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5" name="Freeform 25"/>
          <p:cNvSpPr/>
          <p:nvPr/>
        </p:nvSpPr>
        <p:spPr>
          <a:xfrm>
            <a:off x="10606837" y="5579358"/>
            <a:ext cx="340081" cy="407283"/>
          </a:xfrm>
          <a:custGeom>
            <a:avLst/>
            <a:gdLst/>
            <a:ahLst/>
            <a:cxnLst/>
            <a:rect l="l" t="t" r="r" b="b"/>
            <a:pathLst>
              <a:path w="340081" h="407283">
                <a:moveTo>
                  <a:pt x="0" y="0"/>
                </a:moveTo>
                <a:lnTo>
                  <a:pt x="340081" y="0"/>
                </a:lnTo>
                <a:lnTo>
                  <a:pt x="340081" y="407283"/>
                </a:lnTo>
                <a:lnTo>
                  <a:pt x="0" y="40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6" name="Freeform 26"/>
          <p:cNvSpPr/>
          <p:nvPr/>
        </p:nvSpPr>
        <p:spPr>
          <a:xfrm>
            <a:off x="10606837" y="6024741"/>
            <a:ext cx="340081" cy="407283"/>
          </a:xfrm>
          <a:custGeom>
            <a:avLst/>
            <a:gdLst/>
            <a:ahLst/>
            <a:cxnLst/>
            <a:rect l="l" t="t" r="r" b="b"/>
            <a:pathLst>
              <a:path w="340081" h="407283">
                <a:moveTo>
                  <a:pt x="0" y="0"/>
                </a:moveTo>
                <a:lnTo>
                  <a:pt x="340081" y="0"/>
                </a:lnTo>
                <a:lnTo>
                  <a:pt x="340081" y="407283"/>
                </a:lnTo>
                <a:lnTo>
                  <a:pt x="0" y="40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7" name="Freeform 27"/>
          <p:cNvSpPr/>
          <p:nvPr/>
        </p:nvSpPr>
        <p:spPr>
          <a:xfrm>
            <a:off x="12386645" y="6475514"/>
            <a:ext cx="340081" cy="407283"/>
          </a:xfrm>
          <a:custGeom>
            <a:avLst/>
            <a:gdLst/>
            <a:ahLst/>
            <a:cxnLst/>
            <a:rect l="l" t="t" r="r" b="b"/>
            <a:pathLst>
              <a:path w="340081" h="407283">
                <a:moveTo>
                  <a:pt x="0" y="0"/>
                </a:moveTo>
                <a:lnTo>
                  <a:pt x="340081" y="0"/>
                </a:lnTo>
                <a:lnTo>
                  <a:pt x="340081" y="407283"/>
                </a:lnTo>
                <a:lnTo>
                  <a:pt x="0" y="407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719199">
            <a:off x="308394" y="-5344957"/>
            <a:ext cx="17671212" cy="20976915"/>
          </a:xfrm>
          <a:custGeom>
            <a:avLst/>
            <a:gdLst/>
            <a:ahLst/>
            <a:cxnLst/>
            <a:rect l="l" t="t" r="r" b="b"/>
            <a:pathLst>
              <a:path w="17671212" h="20976915">
                <a:moveTo>
                  <a:pt x="9081757" y="0"/>
                </a:moveTo>
                <a:lnTo>
                  <a:pt x="17671212" y="16145346"/>
                </a:lnTo>
                <a:lnTo>
                  <a:pt x="8589455" y="20976914"/>
                </a:lnTo>
                <a:lnTo>
                  <a:pt x="0" y="4831568"/>
                </a:lnTo>
                <a:lnTo>
                  <a:pt x="9081757" y="0"/>
                </a:lnTo>
                <a:close/>
              </a:path>
            </a:pathLst>
          </a:custGeom>
          <a:blipFill>
            <a:blip r:embed="rId2"/>
            <a:stretch>
              <a:fillRect l="-58333" t="-10908" r="-28081"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" name="Freeform 3"/>
          <p:cNvSpPr/>
          <p:nvPr/>
        </p:nvSpPr>
        <p:spPr>
          <a:xfrm flipH="1">
            <a:off x="13370204" y="7579806"/>
            <a:ext cx="10950316" cy="10936628"/>
          </a:xfrm>
          <a:custGeom>
            <a:avLst/>
            <a:gdLst/>
            <a:ahLst/>
            <a:cxnLst/>
            <a:rect l="l" t="t" r="r" b="b"/>
            <a:pathLst>
              <a:path w="10950316" h="10936628">
                <a:moveTo>
                  <a:pt x="10950316" y="0"/>
                </a:moveTo>
                <a:lnTo>
                  <a:pt x="0" y="0"/>
                </a:lnTo>
                <a:lnTo>
                  <a:pt x="0" y="10936628"/>
                </a:lnTo>
                <a:lnTo>
                  <a:pt x="10950316" y="10936628"/>
                </a:lnTo>
                <a:lnTo>
                  <a:pt x="1095031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sp>
        <p:nvSpPr>
          <p:cNvPr id="4" name="Freeform 4"/>
          <p:cNvSpPr/>
          <p:nvPr/>
        </p:nvSpPr>
        <p:spPr>
          <a:xfrm>
            <a:off x="10621559" y="168249"/>
            <a:ext cx="9217297" cy="9490139"/>
          </a:xfrm>
          <a:custGeom>
            <a:avLst/>
            <a:gdLst/>
            <a:ahLst/>
            <a:cxnLst/>
            <a:rect l="l" t="t" r="r" b="b"/>
            <a:pathLst>
              <a:path w="9217297" h="9490139">
                <a:moveTo>
                  <a:pt x="0" y="0"/>
                </a:moveTo>
                <a:lnTo>
                  <a:pt x="9217297" y="0"/>
                </a:lnTo>
                <a:lnTo>
                  <a:pt x="9217297" y="9490138"/>
                </a:lnTo>
                <a:lnTo>
                  <a:pt x="0" y="94901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grpSp>
        <p:nvGrpSpPr>
          <p:cNvPr id="5" name="Group 5"/>
          <p:cNvGrpSpPr/>
          <p:nvPr/>
        </p:nvGrpSpPr>
        <p:grpSpPr>
          <a:xfrm>
            <a:off x="11710199" y="1309785"/>
            <a:ext cx="7040017" cy="704001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14931" r="-34880"/>
              </a:stretch>
            </a:blipFill>
          </p:spPr>
          <p:txBody>
            <a:bodyPr/>
            <a:lstStyle/>
            <a:p>
              <a:endParaRPr lang="en-TH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7999" y="3960763"/>
            <a:ext cx="7853904" cy="5553443"/>
            <a:chOff x="0" y="0"/>
            <a:chExt cx="2993957" cy="211700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93957" cy="2117007"/>
            </a:xfrm>
            <a:custGeom>
              <a:avLst/>
              <a:gdLst/>
              <a:ahLst/>
              <a:cxnLst/>
              <a:rect l="l" t="t" r="r" b="b"/>
              <a:pathLst>
                <a:path w="2993957" h="2117007">
                  <a:moveTo>
                    <a:pt x="39430" y="0"/>
                  </a:moveTo>
                  <a:lnTo>
                    <a:pt x="2954527" y="0"/>
                  </a:lnTo>
                  <a:cubicBezTo>
                    <a:pt x="2964985" y="0"/>
                    <a:pt x="2975014" y="4154"/>
                    <a:pt x="2982408" y="11549"/>
                  </a:cubicBezTo>
                  <a:cubicBezTo>
                    <a:pt x="2989803" y="18943"/>
                    <a:pt x="2993957" y="28972"/>
                    <a:pt x="2993957" y="39430"/>
                  </a:cubicBezTo>
                  <a:lnTo>
                    <a:pt x="2993957" y="2077578"/>
                  </a:lnTo>
                  <a:cubicBezTo>
                    <a:pt x="2993957" y="2099354"/>
                    <a:pt x="2976304" y="2117007"/>
                    <a:pt x="2954527" y="2117007"/>
                  </a:cubicBezTo>
                  <a:lnTo>
                    <a:pt x="39430" y="2117007"/>
                  </a:lnTo>
                  <a:cubicBezTo>
                    <a:pt x="17653" y="2117007"/>
                    <a:pt x="0" y="2099354"/>
                    <a:pt x="0" y="2077578"/>
                  </a:cubicBezTo>
                  <a:lnTo>
                    <a:pt x="0" y="39430"/>
                  </a:lnTo>
                  <a:cubicBezTo>
                    <a:pt x="0" y="17653"/>
                    <a:pt x="17653" y="0"/>
                    <a:pt x="39430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993957" cy="2164632"/>
            </a:xfrm>
            <a:prstGeom prst="rect">
              <a:avLst/>
            </a:prstGeom>
          </p:spPr>
          <p:txBody>
            <a:bodyPr lIns="35098" tIns="35098" rIns="35098" bIns="35098" rtlCol="0" anchor="ctr"/>
            <a:lstStyle/>
            <a:p>
              <a:pPr algn="ctr">
                <a:lnSpc>
                  <a:spcPts val="3257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95813" y="4321185"/>
            <a:ext cx="765065" cy="850073"/>
          </a:xfrm>
          <a:custGeom>
            <a:avLst/>
            <a:gdLst/>
            <a:ahLst/>
            <a:cxnLst/>
            <a:rect l="l" t="t" r="r" b="b"/>
            <a:pathLst>
              <a:path w="765065" h="850073">
                <a:moveTo>
                  <a:pt x="0" y="0"/>
                </a:moveTo>
                <a:lnTo>
                  <a:pt x="765066" y="0"/>
                </a:lnTo>
                <a:lnTo>
                  <a:pt x="765066" y="850073"/>
                </a:lnTo>
                <a:lnTo>
                  <a:pt x="0" y="8500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1" name="Freeform 11"/>
          <p:cNvSpPr/>
          <p:nvPr/>
        </p:nvSpPr>
        <p:spPr>
          <a:xfrm>
            <a:off x="1814300" y="5667764"/>
            <a:ext cx="928092" cy="771476"/>
          </a:xfrm>
          <a:custGeom>
            <a:avLst/>
            <a:gdLst/>
            <a:ahLst/>
            <a:cxnLst/>
            <a:rect l="l" t="t" r="r" b="b"/>
            <a:pathLst>
              <a:path w="928092" h="771476">
                <a:moveTo>
                  <a:pt x="0" y="0"/>
                </a:moveTo>
                <a:lnTo>
                  <a:pt x="928092" y="0"/>
                </a:lnTo>
                <a:lnTo>
                  <a:pt x="928092" y="771477"/>
                </a:lnTo>
                <a:lnTo>
                  <a:pt x="0" y="7714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grpSp>
        <p:nvGrpSpPr>
          <p:cNvPr id="12" name="Group 12"/>
          <p:cNvGrpSpPr/>
          <p:nvPr/>
        </p:nvGrpSpPr>
        <p:grpSpPr>
          <a:xfrm>
            <a:off x="17620831" y="9568468"/>
            <a:ext cx="504464" cy="504464"/>
            <a:chOff x="0" y="0"/>
            <a:chExt cx="672618" cy="67261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72618" cy="672618"/>
              <a:chOff x="0" y="0"/>
              <a:chExt cx="174157" cy="17415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74157" cy="174157"/>
              </a:xfrm>
              <a:custGeom>
                <a:avLst/>
                <a:gdLst/>
                <a:ahLst/>
                <a:cxnLst/>
                <a:rect l="l" t="t" r="r" b="b"/>
                <a:pathLst>
                  <a:path w="174157" h="174157">
                    <a:moveTo>
                      <a:pt x="87079" y="0"/>
                    </a:moveTo>
                    <a:lnTo>
                      <a:pt x="87079" y="0"/>
                    </a:lnTo>
                    <a:cubicBezTo>
                      <a:pt x="135171" y="0"/>
                      <a:pt x="174157" y="38986"/>
                      <a:pt x="174157" y="87079"/>
                    </a:cubicBezTo>
                    <a:lnTo>
                      <a:pt x="174157" y="87079"/>
                    </a:lnTo>
                    <a:cubicBezTo>
                      <a:pt x="174157" y="135171"/>
                      <a:pt x="135171" y="174157"/>
                      <a:pt x="87079" y="174157"/>
                    </a:cubicBezTo>
                    <a:lnTo>
                      <a:pt x="87079" y="174157"/>
                    </a:lnTo>
                    <a:cubicBezTo>
                      <a:pt x="38986" y="174157"/>
                      <a:pt x="0" y="135171"/>
                      <a:pt x="0" y="87079"/>
                    </a:cubicBezTo>
                    <a:lnTo>
                      <a:pt x="0" y="87079"/>
                    </a:lnTo>
                    <a:cubicBezTo>
                      <a:pt x="0" y="38986"/>
                      <a:pt x="38986" y="0"/>
                      <a:pt x="87079" y="0"/>
                    </a:cubicBezTo>
                    <a:close/>
                  </a:path>
                </a:pathLst>
              </a:custGeom>
              <a:solidFill>
                <a:srgbClr val="6BBEF4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57150"/>
                <a:ext cx="174157" cy="231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46424" y="72949"/>
              <a:ext cx="579770" cy="47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r>
                <a:rPr lang="en-US" sz="2136" b="1">
                  <a:solidFill>
                    <a:srgbClr val="FCFFFE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19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836175" y="6932596"/>
            <a:ext cx="884341" cy="850073"/>
          </a:xfrm>
          <a:custGeom>
            <a:avLst/>
            <a:gdLst/>
            <a:ahLst/>
            <a:cxnLst/>
            <a:rect l="l" t="t" r="r" b="b"/>
            <a:pathLst>
              <a:path w="884341" h="850073">
                <a:moveTo>
                  <a:pt x="0" y="0"/>
                </a:moveTo>
                <a:lnTo>
                  <a:pt x="884341" y="0"/>
                </a:lnTo>
                <a:lnTo>
                  <a:pt x="884341" y="850073"/>
                </a:lnTo>
                <a:lnTo>
                  <a:pt x="0" y="8500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18" name="Group 18"/>
          <p:cNvGrpSpPr/>
          <p:nvPr/>
        </p:nvGrpSpPr>
        <p:grpSpPr>
          <a:xfrm>
            <a:off x="3296616" y="4258037"/>
            <a:ext cx="5424240" cy="976369"/>
            <a:chOff x="0" y="0"/>
            <a:chExt cx="7232320" cy="1301825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57150"/>
              <a:ext cx="7232320" cy="484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946"/>
                </a:lnSpc>
              </a:pPr>
              <a:r>
                <a:rPr lang="en-US" sz="2104" b="1">
                  <a:solidFill>
                    <a:srgbClr val="004CC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Efficient Hybrid Encryption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462720"/>
              <a:ext cx="6919620" cy="839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1848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AES &amp; CP-ABE</a:t>
              </a:r>
              <a:r>
                <a:rPr lang="en-US" sz="1848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reduces computational overhead while ensuring secure data handling.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296616" y="5565750"/>
            <a:ext cx="5189715" cy="976369"/>
            <a:chOff x="0" y="0"/>
            <a:chExt cx="6919620" cy="1301825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57150"/>
              <a:ext cx="6275341" cy="484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946"/>
                </a:lnSpc>
              </a:pPr>
              <a:r>
                <a:rPr lang="en-US" sz="2104" b="1">
                  <a:solidFill>
                    <a:srgbClr val="004CC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Scalability for Large Datasets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462720"/>
              <a:ext cx="6919620" cy="839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1848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Performs better than traditional blockchains for </a:t>
              </a:r>
              <a:r>
                <a:rPr lang="en-US" sz="1848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&gt;150,000 records</a:t>
              </a:r>
              <a:r>
                <a:rPr lang="en-US" sz="1848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due to distributed RBCs.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296616" y="6869448"/>
            <a:ext cx="5189715" cy="976369"/>
            <a:chOff x="0" y="0"/>
            <a:chExt cx="6919620" cy="1301825"/>
          </a:xfrm>
        </p:grpSpPr>
        <p:sp>
          <p:nvSpPr>
            <p:cNvPr id="25" name="TextBox 25"/>
            <p:cNvSpPr txBox="1"/>
            <p:nvPr/>
          </p:nvSpPr>
          <p:spPr>
            <a:xfrm>
              <a:off x="0" y="-57150"/>
              <a:ext cx="5351453" cy="484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946"/>
                </a:lnSpc>
              </a:pPr>
              <a:r>
                <a:rPr lang="en-US" sz="2104" b="1">
                  <a:solidFill>
                    <a:srgbClr val="004CC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Optimized Indexing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462720"/>
              <a:ext cx="6919620" cy="839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1848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hid-based distributed indexing</a:t>
              </a:r>
              <a:r>
                <a:rPr lang="en-US" sz="1848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improves data retrieval speed, from O(n) to O(log n) or O(1).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296616" y="8173146"/>
            <a:ext cx="4893200" cy="976369"/>
            <a:chOff x="0" y="0"/>
            <a:chExt cx="6524267" cy="1301825"/>
          </a:xfrm>
        </p:grpSpPr>
        <p:sp>
          <p:nvSpPr>
            <p:cNvPr id="28" name="TextBox 28"/>
            <p:cNvSpPr txBox="1"/>
            <p:nvPr/>
          </p:nvSpPr>
          <p:spPr>
            <a:xfrm>
              <a:off x="0" y="-57150"/>
              <a:ext cx="6524267" cy="481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6"/>
                </a:lnSpc>
              </a:pPr>
              <a:r>
                <a:rPr lang="en-US" sz="2104" b="1">
                  <a:solidFill>
                    <a:srgbClr val="004CC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Improved Re-Encryption Performance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462720"/>
              <a:ext cx="6275341" cy="839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1848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Multi-proxy PRE </a:t>
              </a:r>
              <a:r>
                <a:rPr lang="en-US" sz="1848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reduces re-encryption time by 3.5x</a:t>
              </a:r>
              <a:r>
                <a:rPr lang="en-US" sz="1848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under high workloads.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97999" y="2081821"/>
            <a:ext cx="7846001" cy="125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XDHDS improves </a:t>
            </a:r>
            <a:r>
              <a:rPr lang="en-US" sz="24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encryption efficiency, query performance, and re-encryption scalability</a:t>
            </a:r>
            <a:r>
              <a:rPr lang="en-US" sz="2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, making it suitable for high-volume healthcare data sharing.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97999" y="1085850"/>
            <a:ext cx="8084297" cy="72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8"/>
              </a:lnSpc>
              <a:spcBef>
                <a:spcPct val="0"/>
              </a:spcBef>
            </a:pPr>
            <a:r>
              <a:rPr lang="en-US" sz="5196" b="1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Results &amp; Discussion</a:t>
            </a:r>
          </a:p>
        </p:txBody>
      </p:sp>
      <p:sp>
        <p:nvSpPr>
          <p:cNvPr id="32" name="Freeform 32"/>
          <p:cNvSpPr/>
          <p:nvPr/>
        </p:nvSpPr>
        <p:spPr>
          <a:xfrm>
            <a:off x="1858357" y="8264966"/>
            <a:ext cx="839977" cy="792728"/>
          </a:xfrm>
          <a:custGeom>
            <a:avLst/>
            <a:gdLst/>
            <a:ahLst/>
            <a:cxnLst/>
            <a:rect l="l" t="t" r="r" b="b"/>
            <a:pathLst>
              <a:path w="839977" h="792728">
                <a:moveTo>
                  <a:pt x="0" y="0"/>
                </a:moveTo>
                <a:lnTo>
                  <a:pt x="839977" y="0"/>
                </a:lnTo>
                <a:lnTo>
                  <a:pt x="839977" y="792729"/>
                </a:lnTo>
                <a:lnTo>
                  <a:pt x="0" y="7927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57789" r="-93931"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3" name="Group 3"/>
          <p:cNvGrpSpPr/>
          <p:nvPr/>
        </p:nvGrpSpPr>
        <p:grpSpPr>
          <a:xfrm>
            <a:off x="13952460" y="-1530736"/>
            <a:ext cx="12955554" cy="13146873"/>
            <a:chOff x="0" y="0"/>
            <a:chExt cx="800972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0972" cy="812800"/>
            </a:xfrm>
            <a:custGeom>
              <a:avLst/>
              <a:gdLst/>
              <a:ahLst/>
              <a:cxnLst/>
              <a:rect l="l" t="t" r="r" b="b"/>
              <a:pathLst>
                <a:path w="800972" h="812800">
                  <a:moveTo>
                    <a:pt x="400486" y="0"/>
                  </a:moveTo>
                  <a:cubicBezTo>
                    <a:pt x="179304" y="0"/>
                    <a:pt x="0" y="181951"/>
                    <a:pt x="0" y="406400"/>
                  </a:cubicBezTo>
                  <a:cubicBezTo>
                    <a:pt x="0" y="630849"/>
                    <a:pt x="179304" y="812800"/>
                    <a:pt x="400486" y="812800"/>
                  </a:cubicBezTo>
                  <a:cubicBezTo>
                    <a:pt x="621668" y="812800"/>
                    <a:pt x="800972" y="630849"/>
                    <a:pt x="800972" y="406400"/>
                  </a:cubicBezTo>
                  <a:cubicBezTo>
                    <a:pt x="800972" y="181951"/>
                    <a:pt x="621668" y="0"/>
                    <a:pt x="400486" y="0"/>
                  </a:cubicBezTo>
                  <a:close/>
                </a:path>
              </a:pathLst>
            </a:custGeom>
            <a:solidFill>
              <a:srgbClr val="0E6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091" y="28575"/>
              <a:ext cx="65079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4300130"/>
            <a:ext cx="8333538" cy="260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76"/>
              </a:lnSpc>
            </a:pPr>
            <a:r>
              <a:rPr lang="en-US" sz="9600" b="1">
                <a:solidFill>
                  <a:srgbClr val="004CCF"/>
                </a:solidFill>
                <a:latin typeface="Aileron Bold"/>
                <a:ea typeface="Aileron Bold"/>
                <a:cs typeface="Aileron Bold"/>
                <a:sym typeface="Aileron Bold"/>
              </a:rPr>
              <a:t>Conclusion &amp; </a:t>
            </a:r>
          </a:p>
          <a:p>
            <a:pPr marL="0" lvl="0" indent="0" algn="l">
              <a:lnSpc>
                <a:spcPts val="10176"/>
              </a:lnSpc>
              <a:spcBef>
                <a:spcPct val="0"/>
              </a:spcBef>
            </a:pPr>
            <a:r>
              <a:rPr lang="en-US" sz="9600" b="1">
                <a:solidFill>
                  <a:srgbClr val="004CCF"/>
                </a:solidFill>
                <a:latin typeface="Aileron Bold"/>
                <a:ea typeface="Aileron Bold"/>
                <a:cs typeface="Aileron Bold"/>
                <a:sym typeface="Aileron Bold"/>
              </a:rPr>
              <a:t>Future Works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320595" y="2201119"/>
            <a:ext cx="7034266" cy="6673760"/>
            <a:chOff x="0" y="0"/>
            <a:chExt cx="9379022" cy="88983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379022" cy="8898347"/>
            </a:xfrm>
            <a:custGeom>
              <a:avLst/>
              <a:gdLst/>
              <a:ahLst/>
              <a:cxnLst/>
              <a:rect l="l" t="t" r="r" b="b"/>
              <a:pathLst>
                <a:path w="9379022" h="8898347">
                  <a:moveTo>
                    <a:pt x="0" y="0"/>
                  </a:moveTo>
                  <a:lnTo>
                    <a:pt x="9379022" y="0"/>
                  </a:lnTo>
                  <a:lnTo>
                    <a:pt x="9379022" y="8898347"/>
                  </a:lnTo>
                  <a:lnTo>
                    <a:pt x="0" y="8898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841428" y="740205"/>
              <a:ext cx="7459421" cy="7459421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43122" r="-40231" b="-22159"/>
                </a:stretch>
              </a:blipFill>
            </p:spPr>
            <p:txBody>
              <a:bodyPr/>
              <a:lstStyle/>
              <a:p>
                <a:endParaRPr lang="en-TH"/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3"/>
            <a:stretch>
              <a:fillRect t="-12777" r="-9579" b="-24805"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" name="Freeform 3"/>
          <p:cNvSpPr/>
          <p:nvPr/>
        </p:nvSpPr>
        <p:spPr>
          <a:xfrm>
            <a:off x="1292697" y="6484560"/>
            <a:ext cx="358045" cy="358045"/>
          </a:xfrm>
          <a:custGeom>
            <a:avLst/>
            <a:gdLst/>
            <a:ahLst/>
            <a:cxnLst/>
            <a:rect l="l" t="t" r="r" b="b"/>
            <a:pathLst>
              <a:path w="358045" h="358045">
                <a:moveTo>
                  <a:pt x="0" y="0"/>
                </a:moveTo>
                <a:lnTo>
                  <a:pt x="358045" y="0"/>
                </a:lnTo>
                <a:lnTo>
                  <a:pt x="358045" y="358045"/>
                </a:lnTo>
                <a:lnTo>
                  <a:pt x="0" y="3580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4" name="Freeform 4"/>
          <p:cNvSpPr/>
          <p:nvPr/>
        </p:nvSpPr>
        <p:spPr>
          <a:xfrm>
            <a:off x="8448454" y="6514593"/>
            <a:ext cx="358045" cy="358045"/>
          </a:xfrm>
          <a:custGeom>
            <a:avLst/>
            <a:gdLst/>
            <a:ahLst/>
            <a:cxnLst/>
            <a:rect l="l" t="t" r="r" b="b"/>
            <a:pathLst>
              <a:path w="358045" h="358045">
                <a:moveTo>
                  <a:pt x="0" y="0"/>
                </a:moveTo>
                <a:lnTo>
                  <a:pt x="358045" y="0"/>
                </a:lnTo>
                <a:lnTo>
                  <a:pt x="358045" y="358045"/>
                </a:lnTo>
                <a:lnTo>
                  <a:pt x="0" y="3580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5" name="Group 5"/>
          <p:cNvGrpSpPr/>
          <p:nvPr/>
        </p:nvGrpSpPr>
        <p:grpSpPr>
          <a:xfrm rot="-5400000">
            <a:off x="7442402" y="8103214"/>
            <a:ext cx="2370149" cy="208715"/>
            <a:chOff x="0" y="0"/>
            <a:chExt cx="758687" cy="668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58687" cy="66810"/>
            </a:xfrm>
            <a:custGeom>
              <a:avLst/>
              <a:gdLst/>
              <a:ahLst/>
              <a:cxnLst/>
              <a:rect l="l" t="t" r="r" b="b"/>
              <a:pathLst>
                <a:path w="758687" h="66810">
                  <a:moveTo>
                    <a:pt x="33405" y="0"/>
                  </a:moveTo>
                  <a:lnTo>
                    <a:pt x="725282" y="0"/>
                  </a:lnTo>
                  <a:cubicBezTo>
                    <a:pt x="734142" y="0"/>
                    <a:pt x="742639" y="3519"/>
                    <a:pt x="748903" y="9784"/>
                  </a:cubicBezTo>
                  <a:cubicBezTo>
                    <a:pt x="755168" y="16049"/>
                    <a:pt x="758687" y="24545"/>
                    <a:pt x="758687" y="33405"/>
                  </a:cubicBezTo>
                  <a:lnTo>
                    <a:pt x="758687" y="33405"/>
                  </a:lnTo>
                  <a:cubicBezTo>
                    <a:pt x="758687" y="51854"/>
                    <a:pt x="743731" y="66810"/>
                    <a:pt x="725282" y="66810"/>
                  </a:cubicBezTo>
                  <a:lnTo>
                    <a:pt x="33405" y="66810"/>
                  </a:lnTo>
                  <a:cubicBezTo>
                    <a:pt x="14956" y="66810"/>
                    <a:pt x="0" y="51854"/>
                    <a:pt x="0" y="33405"/>
                  </a:cubicBezTo>
                  <a:lnTo>
                    <a:pt x="0" y="33405"/>
                  </a:lnTo>
                  <a:cubicBezTo>
                    <a:pt x="0" y="14956"/>
                    <a:pt x="14956" y="0"/>
                    <a:pt x="33405" y="0"/>
                  </a:cubicBezTo>
                  <a:close/>
                </a:path>
              </a:pathLst>
            </a:custGeom>
            <a:solidFill>
              <a:srgbClr val="004CC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58687" cy="11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283838" y="8073181"/>
            <a:ext cx="2370149" cy="208715"/>
            <a:chOff x="0" y="0"/>
            <a:chExt cx="758687" cy="668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58687" cy="66810"/>
            </a:xfrm>
            <a:custGeom>
              <a:avLst/>
              <a:gdLst/>
              <a:ahLst/>
              <a:cxnLst/>
              <a:rect l="l" t="t" r="r" b="b"/>
              <a:pathLst>
                <a:path w="758687" h="66810">
                  <a:moveTo>
                    <a:pt x="33405" y="0"/>
                  </a:moveTo>
                  <a:lnTo>
                    <a:pt x="725282" y="0"/>
                  </a:lnTo>
                  <a:cubicBezTo>
                    <a:pt x="734142" y="0"/>
                    <a:pt x="742639" y="3519"/>
                    <a:pt x="748903" y="9784"/>
                  </a:cubicBezTo>
                  <a:cubicBezTo>
                    <a:pt x="755168" y="16049"/>
                    <a:pt x="758687" y="24545"/>
                    <a:pt x="758687" y="33405"/>
                  </a:cubicBezTo>
                  <a:lnTo>
                    <a:pt x="758687" y="33405"/>
                  </a:lnTo>
                  <a:cubicBezTo>
                    <a:pt x="758687" y="51854"/>
                    <a:pt x="743731" y="66810"/>
                    <a:pt x="725282" y="66810"/>
                  </a:cubicBezTo>
                  <a:lnTo>
                    <a:pt x="33405" y="66810"/>
                  </a:lnTo>
                  <a:cubicBezTo>
                    <a:pt x="14956" y="66810"/>
                    <a:pt x="0" y="51854"/>
                    <a:pt x="0" y="33405"/>
                  </a:cubicBezTo>
                  <a:lnTo>
                    <a:pt x="0" y="33405"/>
                  </a:lnTo>
                  <a:cubicBezTo>
                    <a:pt x="0" y="14956"/>
                    <a:pt x="14956" y="0"/>
                    <a:pt x="33405" y="0"/>
                  </a:cubicBezTo>
                  <a:close/>
                </a:path>
              </a:pathLst>
            </a:custGeom>
            <a:solidFill>
              <a:srgbClr val="004CC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758687" cy="11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3408873"/>
            <a:ext cx="16544531" cy="1192135"/>
            <a:chOff x="0" y="0"/>
            <a:chExt cx="4357407" cy="3139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57407" cy="313978"/>
            </a:xfrm>
            <a:custGeom>
              <a:avLst/>
              <a:gdLst/>
              <a:ahLst/>
              <a:cxnLst/>
              <a:rect l="l" t="t" r="r" b="b"/>
              <a:pathLst>
                <a:path w="4357407" h="313978">
                  <a:moveTo>
                    <a:pt x="0" y="0"/>
                  </a:moveTo>
                  <a:lnTo>
                    <a:pt x="4357407" y="0"/>
                  </a:lnTo>
                  <a:lnTo>
                    <a:pt x="4357407" y="313978"/>
                  </a:lnTo>
                  <a:lnTo>
                    <a:pt x="0" y="313978"/>
                  </a:lnTo>
                  <a:close/>
                </a:path>
              </a:pathLst>
            </a:custGeom>
            <a:solidFill>
              <a:srgbClr val="004CC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357407" cy="361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1847843" y="-3668870"/>
            <a:ext cx="9448082" cy="9105589"/>
          </a:xfrm>
          <a:custGeom>
            <a:avLst/>
            <a:gdLst/>
            <a:ahLst/>
            <a:cxnLst/>
            <a:rect l="l" t="t" r="r" b="b"/>
            <a:pathLst>
              <a:path w="9448082" h="9105589">
                <a:moveTo>
                  <a:pt x="0" y="0"/>
                </a:moveTo>
                <a:lnTo>
                  <a:pt x="9448082" y="0"/>
                </a:lnTo>
                <a:lnTo>
                  <a:pt x="9448082" y="9105589"/>
                </a:lnTo>
                <a:lnTo>
                  <a:pt x="0" y="91055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grpSp>
        <p:nvGrpSpPr>
          <p:cNvPr id="15" name="Group 15"/>
          <p:cNvGrpSpPr/>
          <p:nvPr/>
        </p:nvGrpSpPr>
        <p:grpSpPr>
          <a:xfrm>
            <a:off x="12763185" y="-2961684"/>
            <a:ext cx="7562692" cy="756269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77477" r="-42895" b="-46823"/>
              </a:stretch>
            </a:blipFill>
          </p:spPr>
          <p:txBody>
            <a:bodyPr/>
            <a:lstStyle/>
            <a:p>
              <a:endParaRPr lang="en-TH"/>
            </a:p>
          </p:txBody>
        </p:sp>
      </p:grpSp>
      <p:sp>
        <p:nvSpPr>
          <p:cNvPr id="17" name="Freeform 17"/>
          <p:cNvSpPr/>
          <p:nvPr/>
        </p:nvSpPr>
        <p:spPr>
          <a:xfrm rot="3905352">
            <a:off x="15587319" y="7320540"/>
            <a:ext cx="6731019" cy="6790435"/>
          </a:xfrm>
          <a:custGeom>
            <a:avLst/>
            <a:gdLst/>
            <a:ahLst/>
            <a:cxnLst/>
            <a:rect l="l" t="t" r="r" b="b"/>
            <a:pathLst>
              <a:path w="6731019" h="6790435">
                <a:moveTo>
                  <a:pt x="0" y="0"/>
                </a:moveTo>
                <a:lnTo>
                  <a:pt x="6731019" y="0"/>
                </a:lnTo>
                <a:lnTo>
                  <a:pt x="6731019" y="6790435"/>
                </a:lnTo>
                <a:lnTo>
                  <a:pt x="0" y="67904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grpSp>
        <p:nvGrpSpPr>
          <p:cNvPr id="18" name="Group 18"/>
          <p:cNvGrpSpPr/>
          <p:nvPr/>
        </p:nvGrpSpPr>
        <p:grpSpPr>
          <a:xfrm>
            <a:off x="17620831" y="9568468"/>
            <a:ext cx="504464" cy="504464"/>
            <a:chOff x="0" y="0"/>
            <a:chExt cx="672618" cy="672618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672618" cy="672618"/>
              <a:chOff x="0" y="0"/>
              <a:chExt cx="174157" cy="17415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74157" cy="174157"/>
              </a:xfrm>
              <a:custGeom>
                <a:avLst/>
                <a:gdLst/>
                <a:ahLst/>
                <a:cxnLst/>
                <a:rect l="l" t="t" r="r" b="b"/>
                <a:pathLst>
                  <a:path w="174157" h="174157">
                    <a:moveTo>
                      <a:pt x="87079" y="0"/>
                    </a:moveTo>
                    <a:lnTo>
                      <a:pt x="87079" y="0"/>
                    </a:lnTo>
                    <a:cubicBezTo>
                      <a:pt x="135171" y="0"/>
                      <a:pt x="174157" y="38986"/>
                      <a:pt x="174157" y="87079"/>
                    </a:cubicBezTo>
                    <a:lnTo>
                      <a:pt x="174157" y="87079"/>
                    </a:lnTo>
                    <a:cubicBezTo>
                      <a:pt x="174157" y="135171"/>
                      <a:pt x="135171" y="174157"/>
                      <a:pt x="87079" y="174157"/>
                    </a:cubicBezTo>
                    <a:lnTo>
                      <a:pt x="87079" y="174157"/>
                    </a:lnTo>
                    <a:cubicBezTo>
                      <a:pt x="38986" y="174157"/>
                      <a:pt x="0" y="135171"/>
                      <a:pt x="0" y="87079"/>
                    </a:cubicBezTo>
                    <a:lnTo>
                      <a:pt x="0" y="87079"/>
                    </a:lnTo>
                    <a:cubicBezTo>
                      <a:pt x="0" y="38986"/>
                      <a:pt x="38986" y="0"/>
                      <a:pt x="87079" y="0"/>
                    </a:cubicBezTo>
                    <a:close/>
                  </a:path>
                </a:pathLst>
              </a:custGeom>
              <a:solidFill>
                <a:srgbClr val="6BBEF4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57150"/>
                <a:ext cx="174157" cy="231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46424" y="72949"/>
              <a:ext cx="579770" cy="47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r>
                <a:rPr lang="en-US" sz="2136" b="1">
                  <a:solidFill>
                    <a:srgbClr val="FCFFFE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21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9036634" y="7893188"/>
            <a:ext cx="680416" cy="654050"/>
          </a:xfrm>
          <a:custGeom>
            <a:avLst/>
            <a:gdLst/>
            <a:ahLst/>
            <a:cxnLst/>
            <a:rect l="l" t="t" r="r" b="b"/>
            <a:pathLst>
              <a:path w="680416" h="654050">
                <a:moveTo>
                  <a:pt x="0" y="0"/>
                </a:moveTo>
                <a:lnTo>
                  <a:pt x="680416" y="0"/>
                </a:lnTo>
                <a:lnTo>
                  <a:pt x="680416" y="654050"/>
                </a:lnTo>
                <a:lnTo>
                  <a:pt x="0" y="6540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4" name="Freeform 24"/>
          <p:cNvSpPr/>
          <p:nvPr/>
        </p:nvSpPr>
        <p:spPr>
          <a:xfrm>
            <a:off x="9068913" y="7022497"/>
            <a:ext cx="613989" cy="654050"/>
          </a:xfrm>
          <a:custGeom>
            <a:avLst/>
            <a:gdLst/>
            <a:ahLst/>
            <a:cxnLst/>
            <a:rect l="l" t="t" r="r" b="b"/>
            <a:pathLst>
              <a:path w="613989" h="654050">
                <a:moveTo>
                  <a:pt x="0" y="0"/>
                </a:moveTo>
                <a:lnTo>
                  <a:pt x="613989" y="0"/>
                </a:lnTo>
                <a:lnTo>
                  <a:pt x="613989" y="654050"/>
                </a:lnTo>
                <a:lnTo>
                  <a:pt x="0" y="6540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5" name="Freeform 25"/>
          <p:cNvSpPr/>
          <p:nvPr/>
        </p:nvSpPr>
        <p:spPr>
          <a:xfrm>
            <a:off x="9049446" y="8766973"/>
            <a:ext cx="654050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0" y="0"/>
                </a:moveTo>
                <a:lnTo>
                  <a:pt x="654050" y="0"/>
                </a:lnTo>
                <a:lnTo>
                  <a:pt x="654050" y="654050"/>
                </a:lnTo>
                <a:lnTo>
                  <a:pt x="0" y="6540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7" name="Freeform 27"/>
          <p:cNvSpPr/>
          <p:nvPr/>
        </p:nvSpPr>
        <p:spPr>
          <a:xfrm>
            <a:off x="1883121" y="8177538"/>
            <a:ext cx="651073" cy="651073"/>
          </a:xfrm>
          <a:custGeom>
            <a:avLst/>
            <a:gdLst/>
            <a:ahLst/>
            <a:cxnLst/>
            <a:rect l="l" t="t" r="r" b="b"/>
            <a:pathLst>
              <a:path w="651073" h="651073">
                <a:moveTo>
                  <a:pt x="0" y="0"/>
                </a:moveTo>
                <a:lnTo>
                  <a:pt x="651073" y="0"/>
                </a:lnTo>
                <a:lnTo>
                  <a:pt x="651073" y="651073"/>
                </a:lnTo>
                <a:lnTo>
                  <a:pt x="0" y="65107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8" name="Freeform 28"/>
          <p:cNvSpPr/>
          <p:nvPr/>
        </p:nvSpPr>
        <p:spPr>
          <a:xfrm>
            <a:off x="1838180" y="7012123"/>
            <a:ext cx="774024" cy="654050"/>
          </a:xfrm>
          <a:custGeom>
            <a:avLst/>
            <a:gdLst/>
            <a:ahLst/>
            <a:cxnLst/>
            <a:rect l="l" t="t" r="r" b="b"/>
            <a:pathLst>
              <a:path w="774024" h="654050">
                <a:moveTo>
                  <a:pt x="0" y="0"/>
                </a:moveTo>
                <a:lnTo>
                  <a:pt x="774024" y="0"/>
                </a:lnTo>
                <a:lnTo>
                  <a:pt x="774024" y="654050"/>
                </a:lnTo>
                <a:lnTo>
                  <a:pt x="0" y="6540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9" name="TextBox 29"/>
          <p:cNvSpPr txBox="1"/>
          <p:nvPr/>
        </p:nvSpPr>
        <p:spPr>
          <a:xfrm>
            <a:off x="1292697" y="3668880"/>
            <a:ext cx="11470488" cy="72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8"/>
              </a:lnSpc>
              <a:spcBef>
                <a:spcPct val="0"/>
              </a:spcBef>
            </a:pPr>
            <a:r>
              <a:rPr lang="en-US" sz="5196" b="1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Conclusion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92697" y="4866079"/>
            <a:ext cx="12495212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XDHDS</a:t>
            </a:r>
            <a:r>
              <a:rPr lang="en-US" sz="19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provides a </a:t>
            </a:r>
            <a:r>
              <a:rPr lang="en-US" sz="19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secure and scalable</a:t>
            </a:r>
            <a:r>
              <a:rPr lang="en-US" sz="19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solution for cross-domain healthcare data sharing </a:t>
            </a:r>
            <a:r>
              <a:rPr lang="en-US" sz="19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using SSI, blockchain, and proxy re-encryption. It </a:t>
            </a:r>
            <a:r>
              <a:rPr lang="en-US" sz="19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enhances patient control, ensures data privacy, and enables efficient cross-regional access</a:t>
            </a:r>
            <a:r>
              <a:rPr lang="en-US" sz="19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while reducing query contention in large datasets.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80097" y="6397378"/>
            <a:ext cx="5461064" cy="47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785" b="1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Limitations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917052" y="6427410"/>
            <a:ext cx="6250272" cy="47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99"/>
              </a:lnSpc>
            </a:pPr>
            <a:r>
              <a:rPr lang="en-US" sz="2785" b="1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Future Works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39734" y="6965347"/>
            <a:ext cx="5339255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Enhancing data reliability </a:t>
            </a: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with distributed backups and fault-tolerant storage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770432" y="8250616"/>
            <a:ext cx="5394389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Fixed thresholds in Adaptive PRE</a:t>
            </a:r>
            <a:r>
              <a:rPr lang="en-US" sz="2000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may impact performance under varying workloads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39734" y="7836038"/>
            <a:ext cx="5339255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Optimizing dynamic indexing</a:t>
            </a: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to improve efficiency in frequently updated datasets.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939734" y="8709823"/>
            <a:ext cx="5339255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Improving load balancing</a:t>
            </a: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for high-concurrency performance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787365" y="6964498"/>
            <a:ext cx="5394389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Challenges in dynamic environments</a:t>
            </a:r>
            <a:r>
              <a:rPr lang="en-US" sz="1999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may affect the efficiency of indexing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543276">
            <a:off x="-1077208" y="-4819875"/>
            <a:ext cx="20442416" cy="19926749"/>
          </a:xfrm>
          <a:custGeom>
            <a:avLst/>
            <a:gdLst/>
            <a:ahLst/>
            <a:cxnLst/>
            <a:rect l="l" t="t" r="r" b="b"/>
            <a:pathLst>
              <a:path w="20442416" h="19926749">
                <a:moveTo>
                  <a:pt x="0" y="12328800"/>
                </a:moveTo>
                <a:lnTo>
                  <a:pt x="13507466" y="0"/>
                </a:lnTo>
                <a:lnTo>
                  <a:pt x="20442416" y="7597950"/>
                </a:lnTo>
                <a:lnTo>
                  <a:pt x="6934950" y="19926750"/>
                </a:lnTo>
                <a:lnTo>
                  <a:pt x="0" y="12328800"/>
                </a:lnTo>
                <a:close/>
              </a:path>
            </a:pathLst>
          </a:custGeom>
          <a:blipFill>
            <a:blip r:embed="rId2"/>
            <a:stretch>
              <a:fillRect t="-1340" r="-39871"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3" name="Group 3"/>
          <p:cNvGrpSpPr/>
          <p:nvPr/>
        </p:nvGrpSpPr>
        <p:grpSpPr>
          <a:xfrm>
            <a:off x="12996759" y="0"/>
            <a:ext cx="5291241" cy="10287000"/>
            <a:chOff x="0" y="0"/>
            <a:chExt cx="139357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3578" cy="2709333"/>
            </a:xfrm>
            <a:custGeom>
              <a:avLst/>
              <a:gdLst/>
              <a:ahLst/>
              <a:cxnLst/>
              <a:rect l="l" t="t" r="r" b="b"/>
              <a:pathLst>
                <a:path w="1393578" h="2709333">
                  <a:moveTo>
                    <a:pt x="0" y="0"/>
                  </a:moveTo>
                  <a:lnTo>
                    <a:pt x="1393578" y="0"/>
                  </a:lnTo>
                  <a:lnTo>
                    <a:pt x="139357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E6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9357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819917" y="748901"/>
            <a:ext cx="9820289" cy="4176516"/>
            <a:chOff x="0" y="0"/>
            <a:chExt cx="3506247" cy="14911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06247" cy="1491188"/>
            </a:xfrm>
            <a:custGeom>
              <a:avLst/>
              <a:gdLst/>
              <a:ahLst/>
              <a:cxnLst/>
              <a:rect l="l" t="t" r="r" b="b"/>
              <a:pathLst>
                <a:path w="3506247" h="1491188">
                  <a:moveTo>
                    <a:pt x="31534" y="0"/>
                  </a:moveTo>
                  <a:lnTo>
                    <a:pt x="3474712" y="0"/>
                  </a:lnTo>
                  <a:cubicBezTo>
                    <a:pt x="3492128" y="0"/>
                    <a:pt x="3506247" y="14118"/>
                    <a:pt x="3506247" y="31534"/>
                  </a:cubicBezTo>
                  <a:lnTo>
                    <a:pt x="3506247" y="1459653"/>
                  </a:lnTo>
                  <a:cubicBezTo>
                    <a:pt x="3506247" y="1477069"/>
                    <a:pt x="3492128" y="1491188"/>
                    <a:pt x="3474712" y="1491188"/>
                  </a:cubicBezTo>
                  <a:lnTo>
                    <a:pt x="31534" y="1491188"/>
                  </a:lnTo>
                  <a:cubicBezTo>
                    <a:pt x="14118" y="1491188"/>
                    <a:pt x="0" y="1477069"/>
                    <a:pt x="0" y="1459653"/>
                  </a:cubicBezTo>
                  <a:lnTo>
                    <a:pt x="0" y="31534"/>
                  </a:lnTo>
                  <a:cubicBezTo>
                    <a:pt x="0" y="14118"/>
                    <a:pt x="14118" y="0"/>
                    <a:pt x="31534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506247" cy="1538813"/>
            </a:xfrm>
            <a:prstGeom prst="rect">
              <a:avLst/>
            </a:prstGeom>
          </p:spPr>
          <p:txBody>
            <a:bodyPr lIns="37473" tIns="37473" rIns="37473" bIns="37473" rtlCol="0" anchor="ctr"/>
            <a:lstStyle/>
            <a:p>
              <a:pPr algn="ctr">
                <a:lnSpc>
                  <a:spcPts val="325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19917" y="5331292"/>
            <a:ext cx="9820289" cy="4176516"/>
            <a:chOff x="0" y="0"/>
            <a:chExt cx="3506247" cy="14911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06247" cy="1491188"/>
            </a:xfrm>
            <a:custGeom>
              <a:avLst/>
              <a:gdLst/>
              <a:ahLst/>
              <a:cxnLst/>
              <a:rect l="l" t="t" r="r" b="b"/>
              <a:pathLst>
                <a:path w="3506247" h="1491188">
                  <a:moveTo>
                    <a:pt x="31534" y="0"/>
                  </a:moveTo>
                  <a:lnTo>
                    <a:pt x="3474712" y="0"/>
                  </a:lnTo>
                  <a:cubicBezTo>
                    <a:pt x="3492128" y="0"/>
                    <a:pt x="3506247" y="14118"/>
                    <a:pt x="3506247" y="31534"/>
                  </a:cubicBezTo>
                  <a:lnTo>
                    <a:pt x="3506247" y="1459653"/>
                  </a:lnTo>
                  <a:cubicBezTo>
                    <a:pt x="3506247" y="1477069"/>
                    <a:pt x="3492128" y="1491188"/>
                    <a:pt x="3474712" y="1491188"/>
                  </a:cubicBezTo>
                  <a:lnTo>
                    <a:pt x="31534" y="1491188"/>
                  </a:lnTo>
                  <a:cubicBezTo>
                    <a:pt x="14118" y="1491188"/>
                    <a:pt x="0" y="1477069"/>
                    <a:pt x="0" y="1459653"/>
                  </a:cubicBezTo>
                  <a:lnTo>
                    <a:pt x="0" y="31534"/>
                  </a:lnTo>
                  <a:cubicBezTo>
                    <a:pt x="0" y="14118"/>
                    <a:pt x="14118" y="0"/>
                    <a:pt x="31534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506247" cy="1538813"/>
            </a:xfrm>
            <a:prstGeom prst="rect">
              <a:avLst/>
            </a:prstGeom>
          </p:spPr>
          <p:txBody>
            <a:bodyPr lIns="37473" tIns="37473" rIns="37473" bIns="37473" rtlCol="0" anchor="ctr"/>
            <a:lstStyle/>
            <a:p>
              <a:pPr algn="ctr">
                <a:lnSpc>
                  <a:spcPts val="3257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3580241">
            <a:off x="3301887" y="8978760"/>
            <a:ext cx="5106485" cy="5151561"/>
          </a:xfrm>
          <a:custGeom>
            <a:avLst/>
            <a:gdLst/>
            <a:ahLst/>
            <a:cxnLst/>
            <a:rect l="l" t="t" r="r" b="b"/>
            <a:pathLst>
              <a:path w="5106485" h="5151561">
                <a:moveTo>
                  <a:pt x="0" y="0"/>
                </a:moveTo>
                <a:lnTo>
                  <a:pt x="5106484" y="0"/>
                </a:lnTo>
                <a:lnTo>
                  <a:pt x="5106484" y="5151561"/>
                </a:lnTo>
                <a:lnTo>
                  <a:pt x="0" y="51515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sp>
        <p:nvSpPr>
          <p:cNvPr id="13" name="Freeform 13"/>
          <p:cNvSpPr/>
          <p:nvPr/>
        </p:nvSpPr>
        <p:spPr>
          <a:xfrm rot="3580241">
            <a:off x="-6564967" y="-3721068"/>
            <a:ext cx="7678545" cy="7746326"/>
          </a:xfrm>
          <a:custGeom>
            <a:avLst/>
            <a:gdLst/>
            <a:ahLst/>
            <a:cxnLst/>
            <a:rect l="l" t="t" r="r" b="b"/>
            <a:pathLst>
              <a:path w="7678545" h="7746326">
                <a:moveTo>
                  <a:pt x="0" y="0"/>
                </a:moveTo>
                <a:lnTo>
                  <a:pt x="7678545" y="0"/>
                </a:lnTo>
                <a:lnTo>
                  <a:pt x="7678545" y="7746326"/>
                </a:lnTo>
                <a:lnTo>
                  <a:pt x="0" y="77463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Box 14"/>
          <p:cNvSpPr txBox="1"/>
          <p:nvPr/>
        </p:nvSpPr>
        <p:spPr>
          <a:xfrm>
            <a:off x="1267356" y="4729026"/>
            <a:ext cx="5930556" cy="905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49"/>
              </a:lnSpc>
              <a:spcBef>
                <a:spcPct val="0"/>
              </a:spcBef>
            </a:pPr>
            <a:r>
              <a:rPr lang="en-US" sz="6462" b="1">
                <a:solidFill>
                  <a:srgbClr val="004CCF"/>
                </a:solidFill>
                <a:latin typeface="Aileron Bold"/>
                <a:ea typeface="Aileron Bold"/>
                <a:cs typeface="Aileron Bold"/>
                <a:sym typeface="Aileron Bold"/>
              </a:rPr>
              <a:t>References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156113" y="1028700"/>
            <a:ext cx="9135795" cy="3752194"/>
            <a:chOff x="0" y="0"/>
            <a:chExt cx="12181060" cy="5002925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068677"/>
              <a:ext cx="12164923" cy="3934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L. Xue, H. Huang, F. Xiao and W. Wang, "A Cross-Domain Authentication Scheme Based on Cooperative Blockchains Functioning With Revocation for Medical Consortiums," IEEE Transactions on Network and Service Management, vol. 19, no. 3, pp. 2409-2420, 9 2022.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36" y="-76200"/>
              <a:ext cx="12164923" cy="805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040"/>
                </a:lnSpc>
              </a:pPr>
              <a:r>
                <a:rPr lang="en-US" sz="3600" b="1">
                  <a:solidFill>
                    <a:srgbClr val="004CC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[1]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0" y="982980"/>
              <a:ext cx="7821348" cy="152372"/>
              <a:chOff x="0" y="0"/>
              <a:chExt cx="1544958" cy="3009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544958" cy="30098"/>
              </a:xfrm>
              <a:custGeom>
                <a:avLst/>
                <a:gdLst/>
                <a:ahLst/>
                <a:cxnLst/>
                <a:rect l="l" t="t" r="r" b="b"/>
                <a:pathLst>
                  <a:path w="1544958" h="30098">
                    <a:moveTo>
                      <a:pt x="15049" y="0"/>
                    </a:moveTo>
                    <a:lnTo>
                      <a:pt x="1529909" y="0"/>
                    </a:lnTo>
                    <a:cubicBezTo>
                      <a:pt x="1533900" y="0"/>
                      <a:pt x="1537728" y="1586"/>
                      <a:pt x="1540550" y="4408"/>
                    </a:cubicBezTo>
                    <a:cubicBezTo>
                      <a:pt x="1543372" y="7230"/>
                      <a:pt x="1544958" y="11058"/>
                      <a:pt x="1544958" y="15049"/>
                    </a:cubicBezTo>
                    <a:lnTo>
                      <a:pt x="1544958" y="15049"/>
                    </a:lnTo>
                    <a:cubicBezTo>
                      <a:pt x="1544958" y="19040"/>
                      <a:pt x="1543372" y="22868"/>
                      <a:pt x="1540550" y="25690"/>
                    </a:cubicBezTo>
                    <a:cubicBezTo>
                      <a:pt x="1537728" y="28513"/>
                      <a:pt x="1533900" y="30098"/>
                      <a:pt x="1529909" y="30098"/>
                    </a:cubicBezTo>
                    <a:lnTo>
                      <a:pt x="15049" y="30098"/>
                    </a:lnTo>
                    <a:cubicBezTo>
                      <a:pt x="11058" y="30098"/>
                      <a:pt x="7230" y="28513"/>
                      <a:pt x="4408" y="25690"/>
                    </a:cubicBezTo>
                    <a:cubicBezTo>
                      <a:pt x="1586" y="22868"/>
                      <a:pt x="0" y="19040"/>
                      <a:pt x="0" y="15049"/>
                    </a:cubicBezTo>
                    <a:lnTo>
                      <a:pt x="0" y="15049"/>
                    </a:lnTo>
                    <a:cubicBezTo>
                      <a:pt x="0" y="11058"/>
                      <a:pt x="1586" y="7230"/>
                      <a:pt x="4408" y="4408"/>
                    </a:cubicBezTo>
                    <a:cubicBezTo>
                      <a:pt x="7230" y="1586"/>
                      <a:pt x="11058" y="0"/>
                      <a:pt x="15049" y="0"/>
                    </a:cubicBezTo>
                    <a:close/>
                  </a:path>
                </a:pathLst>
              </a:custGeom>
              <a:solidFill>
                <a:srgbClr val="0E62F2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57150"/>
                <a:ext cx="1544958" cy="872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8168215" y="5634174"/>
            <a:ext cx="9123693" cy="3447394"/>
            <a:chOff x="0" y="0"/>
            <a:chExt cx="12164923" cy="4596525"/>
          </a:xfrm>
        </p:grpSpPr>
        <p:sp>
          <p:nvSpPr>
            <p:cNvPr id="22" name="TextBox 22"/>
            <p:cNvSpPr txBox="1"/>
            <p:nvPr/>
          </p:nvSpPr>
          <p:spPr>
            <a:xfrm>
              <a:off x="0" y="1322677"/>
              <a:ext cx="12164923" cy="32738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H. Saidi, N. Labraoui, A. A. A. Ari, L. A. Maglaras and J. H. M. Emati, "DSMAC: Privacy-Aware Decentralized Self-Management of Data Access Control Based on Blockchain for Health Data," IEEE Access, vol. 10, pp. 101011-101028, 2022.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12164923" cy="805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039"/>
                </a:lnSpc>
              </a:pPr>
              <a:r>
                <a:rPr lang="en-US" sz="3599" b="1">
                  <a:solidFill>
                    <a:srgbClr val="004CC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[16]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0" y="982980"/>
              <a:ext cx="7821348" cy="152372"/>
              <a:chOff x="0" y="0"/>
              <a:chExt cx="1544958" cy="3009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544958" cy="30098"/>
              </a:xfrm>
              <a:custGeom>
                <a:avLst/>
                <a:gdLst/>
                <a:ahLst/>
                <a:cxnLst/>
                <a:rect l="l" t="t" r="r" b="b"/>
                <a:pathLst>
                  <a:path w="1544958" h="30098">
                    <a:moveTo>
                      <a:pt x="15049" y="0"/>
                    </a:moveTo>
                    <a:lnTo>
                      <a:pt x="1529909" y="0"/>
                    </a:lnTo>
                    <a:cubicBezTo>
                      <a:pt x="1533900" y="0"/>
                      <a:pt x="1537728" y="1586"/>
                      <a:pt x="1540550" y="4408"/>
                    </a:cubicBezTo>
                    <a:cubicBezTo>
                      <a:pt x="1543372" y="7230"/>
                      <a:pt x="1544958" y="11058"/>
                      <a:pt x="1544958" y="15049"/>
                    </a:cubicBezTo>
                    <a:lnTo>
                      <a:pt x="1544958" y="15049"/>
                    </a:lnTo>
                    <a:cubicBezTo>
                      <a:pt x="1544958" y="19040"/>
                      <a:pt x="1543372" y="22868"/>
                      <a:pt x="1540550" y="25690"/>
                    </a:cubicBezTo>
                    <a:cubicBezTo>
                      <a:pt x="1537728" y="28513"/>
                      <a:pt x="1533900" y="30098"/>
                      <a:pt x="1529909" y="30098"/>
                    </a:cubicBezTo>
                    <a:lnTo>
                      <a:pt x="15049" y="30098"/>
                    </a:lnTo>
                    <a:cubicBezTo>
                      <a:pt x="11058" y="30098"/>
                      <a:pt x="7230" y="28513"/>
                      <a:pt x="4408" y="25690"/>
                    </a:cubicBezTo>
                    <a:cubicBezTo>
                      <a:pt x="1586" y="22868"/>
                      <a:pt x="0" y="19040"/>
                      <a:pt x="0" y="15049"/>
                    </a:cubicBezTo>
                    <a:lnTo>
                      <a:pt x="0" y="15049"/>
                    </a:lnTo>
                    <a:cubicBezTo>
                      <a:pt x="0" y="11058"/>
                      <a:pt x="1586" y="7230"/>
                      <a:pt x="4408" y="4408"/>
                    </a:cubicBezTo>
                    <a:cubicBezTo>
                      <a:pt x="7230" y="1586"/>
                      <a:pt x="11058" y="0"/>
                      <a:pt x="15049" y="0"/>
                    </a:cubicBezTo>
                    <a:close/>
                  </a:path>
                </a:pathLst>
              </a:custGeom>
              <a:solidFill>
                <a:srgbClr val="0E62F2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57150"/>
                <a:ext cx="1544958" cy="872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17620831" y="9568468"/>
            <a:ext cx="504464" cy="504464"/>
            <a:chOff x="0" y="0"/>
            <a:chExt cx="672618" cy="672618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672618" cy="672618"/>
              <a:chOff x="0" y="0"/>
              <a:chExt cx="174157" cy="174157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74157" cy="174157"/>
              </a:xfrm>
              <a:custGeom>
                <a:avLst/>
                <a:gdLst/>
                <a:ahLst/>
                <a:cxnLst/>
                <a:rect l="l" t="t" r="r" b="b"/>
                <a:pathLst>
                  <a:path w="174157" h="174157">
                    <a:moveTo>
                      <a:pt x="87079" y="0"/>
                    </a:moveTo>
                    <a:lnTo>
                      <a:pt x="87079" y="0"/>
                    </a:lnTo>
                    <a:cubicBezTo>
                      <a:pt x="135171" y="0"/>
                      <a:pt x="174157" y="38986"/>
                      <a:pt x="174157" y="87079"/>
                    </a:cubicBezTo>
                    <a:lnTo>
                      <a:pt x="174157" y="87079"/>
                    </a:lnTo>
                    <a:cubicBezTo>
                      <a:pt x="174157" y="135171"/>
                      <a:pt x="135171" y="174157"/>
                      <a:pt x="87079" y="174157"/>
                    </a:cubicBezTo>
                    <a:lnTo>
                      <a:pt x="87079" y="174157"/>
                    </a:lnTo>
                    <a:cubicBezTo>
                      <a:pt x="38986" y="174157"/>
                      <a:pt x="0" y="135171"/>
                      <a:pt x="0" y="87079"/>
                    </a:cubicBezTo>
                    <a:lnTo>
                      <a:pt x="0" y="87079"/>
                    </a:lnTo>
                    <a:cubicBezTo>
                      <a:pt x="0" y="38986"/>
                      <a:pt x="38986" y="0"/>
                      <a:pt x="87079" y="0"/>
                    </a:cubicBezTo>
                    <a:close/>
                  </a:path>
                </a:pathLst>
              </a:custGeom>
              <a:solidFill>
                <a:srgbClr val="6BBEF4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57150"/>
                <a:ext cx="174157" cy="231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46424" y="72949"/>
              <a:ext cx="579770" cy="47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r>
                <a:rPr lang="en-US" sz="2136" b="1">
                  <a:solidFill>
                    <a:srgbClr val="FCFFFE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22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87904" flipH="1">
            <a:off x="-839917" y="-1714924"/>
            <a:ext cx="19967835" cy="13716849"/>
          </a:xfrm>
          <a:custGeom>
            <a:avLst/>
            <a:gdLst/>
            <a:ahLst/>
            <a:cxnLst/>
            <a:rect l="l" t="t" r="r" b="b"/>
            <a:pathLst>
              <a:path w="19967835" h="13716849">
                <a:moveTo>
                  <a:pt x="17923082" y="0"/>
                </a:moveTo>
                <a:lnTo>
                  <a:pt x="0" y="3635115"/>
                </a:lnTo>
                <a:lnTo>
                  <a:pt x="2044752" y="13716848"/>
                </a:lnTo>
                <a:lnTo>
                  <a:pt x="19967834" y="10081733"/>
                </a:lnTo>
                <a:lnTo>
                  <a:pt x="17923082" y="0"/>
                </a:lnTo>
                <a:close/>
              </a:path>
            </a:pathLst>
          </a:custGeom>
          <a:blipFill>
            <a:blip r:embed="rId2"/>
            <a:stretch>
              <a:fillRect l="-1391" t="-12916" r="-8439"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2891960"/>
            <a:chOff x="0" y="0"/>
            <a:chExt cx="4816593" cy="7616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761668"/>
            </a:xfrm>
            <a:custGeom>
              <a:avLst/>
              <a:gdLst/>
              <a:ahLst/>
              <a:cxnLst/>
              <a:rect l="l" t="t" r="r" b="b"/>
              <a:pathLst>
                <a:path w="4816592" h="761668">
                  <a:moveTo>
                    <a:pt x="0" y="0"/>
                  </a:moveTo>
                  <a:lnTo>
                    <a:pt x="4816592" y="0"/>
                  </a:lnTo>
                  <a:lnTo>
                    <a:pt x="4816592" y="761668"/>
                  </a:lnTo>
                  <a:lnTo>
                    <a:pt x="0" y="761668"/>
                  </a:lnTo>
                  <a:close/>
                </a:path>
              </a:pathLst>
            </a:custGeom>
            <a:solidFill>
              <a:srgbClr val="0E6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809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356888" y="-215362"/>
            <a:ext cx="9574225" cy="4787112"/>
            <a:chOff x="0" y="0"/>
            <a:chExt cx="6350000" cy="3175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3175000"/>
            </a:xfrm>
            <a:custGeom>
              <a:avLst/>
              <a:gdLst/>
              <a:ahLst/>
              <a:cxnLst/>
              <a:rect l="l" t="t" r="r" b="b"/>
              <a:pathLst>
                <a:path w="6350000" h="3175000">
                  <a:moveTo>
                    <a:pt x="3175000" y="3175000"/>
                  </a:moveTo>
                  <a:cubicBezTo>
                    <a:pt x="1421498" y="3175000"/>
                    <a:pt x="0" y="1753502"/>
                    <a:pt x="0" y="0"/>
                  </a:cubicBezTo>
                  <a:lnTo>
                    <a:pt x="6350000" y="0"/>
                  </a:lnTo>
                  <a:cubicBezTo>
                    <a:pt x="6350000" y="1753502"/>
                    <a:pt x="4928502" y="3175000"/>
                    <a:pt x="3175000" y="3175000"/>
                  </a:cubicBezTo>
                  <a:close/>
                </a:path>
              </a:pathLst>
            </a:custGeom>
            <a:blipFill>
              <a:blip r:embed="rId3"/>
              <a:stretch>
                <a:fillRect l="-10872" t="-10872"/>
              </a:stretch>
            </a:blipFill>
            <a:ln w="190500" cap="sq">
              <a:solidFill>
                <a:srgbClr val="0E62F2"/>
              </a:solidFill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</p:grpSp>
      <p:sp>
        <p:nvSpPr>
          <p:cNvPr id="8" name="Freeform 8"/>
          <p:cNvSpPr/>
          <p:nvPr/>
        </p:nvSpPr>
        <p:spPr>
          <a:xfrm rot="3441647">
            <a:off x="15731462" y="4890666"/>
            <a:ext cx="6394424" cy="6386431"/>
          </a:xfrm>
          <a:custGeom>
            <a:avLst/>
            <a:gdLst/>
            <a:ahLst/>
            <a:cxnLst/>
            <a:rect l="l" t="t" r="r" b="b"/>
            <a:pathLst>
              <a:path w="6394424" h="6386431">
                <a:moveTo>
                  <a:pt x="0" y="0"/>
                </a:moveTo>
                <a:lnTo>
                  <a:pt x="6394424" y="0"/>
                </a:lnTo>
                <a:lnTo>
                  <a:pt x="6394424" y="6386431"/>
                </a:lnTo>
                <a:lnTo>
                  <a:pt x="0" y="63864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sp>
        <p:nvSpPr>
          <p:cNvPr id="9" name="Freeform 9"/>
          <p:cNvSpPr/>
          <p:nvPr/>
        </p:nvSpPr>
        <p:spPr>
          <a:xfrm rot="-3444000" flipH="1">
            <a:off x="-3838550" y="4890666"/>
            <a:ext cx="6394424" cy="6386431"/>
          </a:xfrm>
          <a:custGeom>
            <a:avLst/>
            <a:gdLst/>
            <a:ahLst/>
            <a:cxnLst/>
            <a:rect l="l" t="t" r="r" b="b"/>
            <a:pathLst>
              <a:path w="6394424" h="6386431">
                <a:moveTo>
                  <a:pt x="6394424" y="0"/>
                </a:moveTo>
                <a:lnTo>
                  <a:pt x="0" y="0"/>
                </a:lnTo>
                <a:lnTo>
                  <a:pt x="0" y="6386431"/>
                </a:lnTo>
                <a:lnTo>
                  <a:pt x="6394424" y="6386431"/>
                </a:lnTo>
                <a:lnTo>
                  <a:pt x="63944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grpSp>
        <p:nvGrpSpPr>
          <p:cNvPr id="10" name="Group 10"/>
          <p:cNvGrpSpPr/>
          <p:nvPr/>
        </p:nvGrpSpPr>
        <p:grpSpPr>
          <a:xfrm>
            <a:off x="1028700" y="9921148"/>
            <a:ext cx="16230600" cy="3086100"/>
            <a:chOff x="0" y="0"/>
            <a:chExt cx="4274726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74726" cy="812800"/>
            </a:xfrm>
            <a:custGeom>
              <a:avLst/>
              <a:gdLst/>
              <a:ahLst/>
              <a:cxnLst/>
              <a:rect l="l" t="t" r="r" b="b"/>
              <a:pathLst>
                <a:path w="4274726" h="812800">
                  <a:moveTo>
                    <a:pt x="0" y="0"/>
                  </a:moveTo>
                  <a:lnTo>
                    <a:pt x="4274726" y="0"/>
                  </a:lnTo>
                  <a:lnTo>
                    <a:pt x="427472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E62F2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27472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8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753427" y="7003241"/>
            <a:ext cx="10781146" cy="1810422"/>
            <a:chOff x="0" y="0"/>
            <a:chExt cx="2211245" cy="37132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11245" cy="371323"/>
            </a:xfrm>
            <a:custGeom>
              <a:avLst/>
              <a:gdLst/>
              <a:ahLst/>
              <a:cxnLst/>
              <a:rect l="l" t="t" r="r" b="b"/>
              <a:pathLst>
                <a:path w="2211245" h="371323">
                  <a:moveTo>
                    <a:pt x="17234" y="0"/>
                  </a:moveTo>
                  <a:lnTo>
                    <a:pt x="2194011" y="0"/>
                  </a:lnTo>
                  <a:cubicBezTo>
                    <a:pt x="2198581" y="0"/>
                    <a:pt x="2202965" y="1816"/>
                    <a:pt x="2206197" y="5048"/>
                  </a:cubicBezTo>
                  <a:cubicBezTo>
                    <a:pt x="2209429" y="8280"/>
                    <a:pt x="2211245" y="12664"/>
                    <a:pt x="2211245" y="17234"/>
                  </a:cubicBezTo>
                  <a:lnTo>
                    <a:pt x="2211245" y="354089"/>
                  </a:lnTo>
                  <a:cubicBezTo>
                    <a:pt x="2211245" y="358659"/>
                    <a:pt x="2209429" y="363043"/>
                    <a:pt x="2206197" y="366275"/>
                  </a:cubicBezTo>
                  <a:cubicBezTo>
                    <a:pt x="2202965" y="369507"/>
                    <a:pt x="2198581" y="371323"/>
                    <a:pt x="2194011" y="371323"/>
                  </a:cubicBezTo>
                  <a:lnTo>
                    <a:pt x="17234" y="371323"/>
                  </a:lnTo>
                  <a:cubicBezTo>
                    <a:pt x="7716" y="371323"/>
                    <a:pt x="0" y="363607"/>
                    <a:pt x="0" y="354089"/>
                  </a:cubicBezTo>
                  <a:lnTo>
                    <a:pt x="0" y="17234"/>
                  </a:lnTo>
                  <a:cubicBezTo>
                    <a:pt x="0" y="12664"/>
                    <a:pt x="1816" y="8280"/>
                    <a:pt x="5048" y="5048"/>
                  </a:cubicBezTo>
                  <a:cubicBezTo>
                    <a:pt x="8280" y="1816"/>
                    <a:pt x="12664" y="0"/>
                    <a:pt x="172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rnd">
              <a:solidFill>
                <a:srgbClr val="0E62F2"/>
              </a:solidFill>
              <a:prstDash val="solid"/>
              <a:round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2211245" cy="418948"/>
            </a:xfrm>
            <a:prstGeom prst="rect">
              <a:avLst/>
            </a:prstGeom>
          </p:spPr>
          <p:txBody>
            <a:bodyPr lIns="55632" tIns="55632" rIns="55632" bIns="55632" rtlCol="0" anchor="ctr"/>
            <a:lstStyle/>
            <a:p>
              <a:pPr algn="ctr">
                <a:lnSpc>
                  <a:spcPts val="3257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772688" y="5156278"/>
            <a:ext cx="10742624" cy="1251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8"/>
              </a:lnSpc>
              <a:spcBef>
                <a:spcPct val="0"/>
              </a:spcBef>
            </a:pPr>
            <a:r>
              <a:rPr lang="en-US" sz="9007" b="1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Thank You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22844" y="7437123"/>
            <a:ext cx="2740571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Author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22844" y="7838443"/>
            <a:ext cx="6356003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Danupat, Krittin, Teerawat, Somchart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135759" y="7430456"/>
            <a:ext cx="3029397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From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35759" y="7831776"/>
            <a:ext cx="302939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SIIT, TU, Thailand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783419" y="6666755"/>
            <a:ext cx="2721163" cy="672972"/>
            <a:chOff x="0" y="0"/>
            <a:chExt cx="3628217" cy="897295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3628217" cy="897295"/>
              <a:chOff x="0" y="0"/>
              <a:chExt cx="716685" cy="17724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716685" cy="177244"/>
              </a:xfrm>
              <a:custGeom>
                <a:avLst/>
                <a:gdLst/>
                <a:ahLst/>
                <a:cxnLst/>
                <a:rect l="l" t="t" r="r" b="b"/>
                <a:pathLst>
                  <a:path w="716685" h="177244">
                    <a:moveTo>
                      <a:pt x="71127" y="0"/>
                    </a:moveTo>
                    <a:lnTo>
                      <a:pt x="645558" y="0"/>
                    </a:lnTo>
                    <a:cubicBezTo>
                      <a:pt x="664422" y="0"/>
                      <a:pt x="682513" y="7494"/>
                      <a:pt x="695852" y="20833"/>
                    </a:cubicBezTo>
                    <a:cubicBezTo>
                      <a:pt x="709191" y="34171"/>
                      <a:pt x="716685" y="52263"/>
                      <a:pt x="716685" y="71127"/>
                    </a:cubicBezTo>
                    <a:lnTo>
                      <a:pt x="716685" y="106117"/>
                    </a:lnTo>
                    <a:cubicBezTo>
                      <a:pt x="716685" y="124981"/>
                      <a:pt x="709191" y="143072"/>
                      <a:pt x="695852" y="156411"/>
                    </a:cubicBezTo>
                    <a:cubicBezTo>
                      <a:pt x="682513" y="169750"/>
                      <a:pt x="664422" y="177244"/>
                      <a:pt x="645558" y="177244"/>
                    </a:cubicBezTo>
                    <a:lnTo>
                      <a:pt x="71127" y="177244"/>
                    </a:lnTo>
                    <a:cubicBezTo>
                      <a:pt x="52263" y="177244"/>
                      <a:pt x="34171" y="169750"/>
                      <a:pt x="20833" y="156411"/>
                    </a:cubicBezTo>
                    <a:cubicBezTo>
                      <a:pt x="7494" y="143072"/>
                      <a:pt x="0" y="124981"/>
                      <a:pt x="0" y="106117"/>
                    </a:cubicBezTo>
                    <a:lnTo>
                      <a:pt x="0" y="71127"/>
                    </a:lnTo>
                    <a:cubicBezTo>
                      <a:pt x="0" y="52263"/>
                      <a:pt x="7494" y="34171"/>
                      <a:pt x="20833" y="20833"/>
                    </a:cubicBezTo>
                    <a:cubicBezTo>
                      <a:pt x="34171" y="7494"/>
                      <a:pt x="52263" y="0"/>
                      <a:pt x="71127" y="0"/>
                    </a:cubicBezTo>
                    <a:close/>
                  </a:path>
                </a:pathLst>
              </a:custGeom>
              <a:solidFill>
                <a:srgbClr val="0E62F2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716685" cy="2248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58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742088" y="99186"/>
              <a:ext cx="2144040" cy="632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1" spc="335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XDHDS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1251</TotalTime>
  <Words>977</Words>
  <Application>Microsoft Macintosh PowerPoint</Application>
  <PresentationFormat>Custom</PresentationFormat>
  <Paragraphs>231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Chonburi</vt:lpstr>
      <vt:lpstr>Calibri</vt:lpstr>
      <vt:lpstr>Public Sans</vt:lpstr>
      <vt:lpstr>Aileron Bold</vt:lpstr>
      <vt:lpstr>Noto Serif</vt:lpstr>
      <vt:lpstr>Raleway Bold</vt:lpstr>
      <vt:lpstr>Aileron Ultra-Bold</vt:lpstr>
      <vt:lpstr>Aptos</vt:lpstr>
      <vt:lpstr>Public Sans Bold</vt:lpstr>
      <vt:lpstr>Arial</vt:lpstr>
      <vt:lpstr>Aileron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XDHDS Presentation KST Version</dc:title>
  <cp:lastModifiedBy>Somchart Fugkeaw</cp:lastModifiedBy>
  <cp:revision>5</cp:revision>
  <dcterms:created xsi:type="dcterms:W3CDTF">2006-08-16T00:00:00Z</dcterms:created>
  <dcterms:modified xsi:type="dcterms:W3CDTF">2025-09-03T05:41:09Z</dcterms:modified>
  <dc:identifier>DAGfB7Sfcg4</dc:identifier>
</cp:coreProperties>
</file>