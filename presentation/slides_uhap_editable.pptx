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U-HAP: Unified Heterogeneous Authorization Protocol
with Efficient Multi-Resource Verification in Kubernetes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00897B"/>
                </a:solidFill>
                <a:latin typeface="Calibri"/>
              </a:rPr>
              <a:t>JCSSE 2026 · Conference Paper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Krittapak Jairak   Singha Junchan   Phisitphon Pruksorranan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5351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Advisor: Asst. Prof. Dr. Somchart Fugkeaw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0098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School of ICT, SIIT, Thammasat University, Thailand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Background: SSO and Access Control in Kubernetes</a:t>
            </a:r>
          </a:p>
        </p:txBody>
      </p:sp>
      <p:sp>
        <p:nvSpPr>
          <p:cNvPr id="4" name="FooterBar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887468"/>
            <a:ext cx="6400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FFFFFF"/>
                </a:solidFill>
                <a:latin typeface="Calibri"/>
              </a:rPr>
              <a:t>U-HAP: Unified Authorization over Heterogeneous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887468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1/13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594360"/>
            <a:ext cx="411480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594360"/>
            <a:ext cx="411480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19760"/>
            <a:ext cx="393192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Access Control in Kubernetes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868680"/>
            <a:ext cx="3931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081A30"/>
                </a:solidFill>
                <a:latin typeface="Calibri"/>
              </a:rPr>
              <a:t>Post-authentication, every API call is dispatched as a SubjectAccessReview (SAR) to an authorization phase.</a:t>
            </a:r>
          </a:p>
          <a:p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Built-in modes: RBAC (default), ABAC, Node, Webhook</a:t>
            </a:r>
          </a:p>
          <a:p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Webhook authorizer delegates to an external service — where U-HAP plugs in</a:t>
            </a:r>
          </a:p>
          <a:p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Native RBAC lacks fine-grained, context-aware authorization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56032" y="1847088"/>
          <a:ext cx="40690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3383280"/>
              </a:tblGrid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How it grants access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RBAC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Assign roles to users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ABAC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Attribute conditions on request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ACL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Explicit named list of users / groups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Deny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Explicit block — overrides any allow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0" y="594360"/>
            <a:ext cx="4315968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594360"/>
            <a:ext cx="4315968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619760"/>
            <a:ext cx="4133088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Single Sign-On (SSO)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868680"/>
            <a:ext cx="413308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081A30"/>
                </a:solidFill>
                <a:latin typeface="Calibri"/>
              </a:rPr>
              <a:t>SSO lets a user authenticate once (e.g. via OIDC / Keycloak) and reuse that identity across services.</a:t>
            </a:r>
          </a:p>
          <a:p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Solves authentication — who you are</a:t>
            </a:r>
          </a:p>
          <a:p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Does NOT solve authorization — what you may do</a:t>
            </a:r>
          </a:p>
          <a:p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After SSO, each resource still enforces its own policy model independently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847088"/>
            <a:ext cx="4315968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847088"/>
            <a:ext cx="36576" cy="2926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883664"/>
            <a:ext cx="4187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1A30"/>
                </a:solidFill>
                <a:latin typeface="Calibri"/>
              </a:rPr>
              <a:t>SSO unifies login; it leaves authorization fragmented across RBAC, ABAC, and ACL. U-HAP unifies the authorization side.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21992"/>
            <a:ext cx="4315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81A30"/>
                </a:solidFill>
                <a:latin typeface="Calibri"/>
              </a:rPr>
              <a:t>User  →  SSO (authn ✓)  →  RBAC? / ABAC? / ACL?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441448"/>
            <a:ext cx="4315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C62828"/>
                </a:solidFill>
                <a:latin typeface="Calibri"/>
              </a:rPr>
              <a:t>authorization still per-resource  ←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Related Work and Its Limitations</a:t>
            </a:r>
          </a:p>
        </p:txBody>
      </p:sp>
      <p:sp>
        <p:nvSpPr>
          <p:cNvPr id="4" name="FooterBar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887468"/>
            <a:ext cx="6400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FFFFFF"/>
                </a:solidFill>
                <a:latin typeface="Calibri"/>
              </a:rPr>
              <a:t>U-HAP: Unified Authorization over Heterogeneous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887468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2/13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594360"/>
            <a:ext cx="411480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594360"/>
            <a:ext cx="411480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19760"/>
            <a:ext cx="393192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Hardening &amp; Misconfiguration [1–3, 9–11]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868680"/>
            <a:ext cx="3931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081A30"/>
                </a:solidFill>
                <a:latin typeface="Calibri"/>
              </a:rPr>
              <a:t>NSA/CISA guidance; empirical misconfig studies; EPScan; formal verification.</a:t>
            </a:r>
          </a:p>
          <a:p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Limitation: target correctness of individual policies — not unified authorization across mixed 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664208"/>
            <a:ext cx="411480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664208"/>
            <a:ext cx="411480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689608"/>
            <a:ext cx="393192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RBAC, Policy-as-Code &amp; Zero Trust [4, 12–14]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1938528"/>
            <a:ext cx="3931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081A30"/>
                </a:solidFill>
                <a:latin typeface="Calibri"/>
              </a:rPr>
              <a:t>K8s RBAC; Zero Trust architecture; PerfSPEC; compile-time optimization.</a:t>
            </a:r>
          </a:p>
          <a:p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Limitation: operate within a single model — repeated per-layer evaluation adds redundant checks and latency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594360"/>
            <a:ext cx="4315968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594360"/>
            <a:ext cx="4315968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619760"/>
            <a:ext cx="4133088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Expressive &amp; Graph-Based Models [7, 8, 15–18]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868680"/>
            <a:ext cx="413308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081A30"/>
                </a:solidFill>
                <a:latin typeface="Calibri"/>
              </a:rPr>
              <a:t>XACML (expressive but heavyweight PDP); Zanzibar (scales globally but needs runtime graph traversal); ABAC-to-RBAC conversion.</a:t>
            </a:r>
          </a:p>
          <a:p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Limitation: heavy PDPs, runtime-traversal overhead, or interoperability only — no efficient unified runtime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938528"/>
            <a:ext cx="4315968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1938528"/>
            <a:ext cx="4315968" cy="23774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1963928"/>
            <a:ext cx="4133088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The Gap U-HAP Fills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212848"/>
            <a:ext cx="41330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81A30"/>
                </a:solidFill>
                <a:latin typeface="Calibri"/>
              </a:rPr>
              <a:t>No prior work offers a unified framework spanning RBAC + ABAC + ACL + deny that minimizes redundant evaluation while guaranteeing scalable, low-latency multi-resource authorization.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Motivation: The Kubernetes Authorization Problem</a:t>
            </a:r>
          </a:p>
        </p:txBody>
      </p:sp>
      <p:sp>
        <p:nvSpPr>
          <p:cNvPr id="4" name="FooterBar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887468"/>
            <a:ext cx="6400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FFFFFF"/>
                </a:solidFill>
                <a:latin typeface="Calibri"/>
              </a:rPr>
              <a:t>U-HAP: Unified Authorization over Heterogeneous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887468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3/13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59436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2A4A"/>
                </a:solidFill>
                <a:latin typeface="Calibri"/>
              </a:rPr>
              <a:t>Modern K8s deployments are multi-model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1353312" y="886968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9235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897B"/>
                </a:solidFill>
                <a:latin typeface="Calibri"/>
              </a:rPr>
              <a:t>User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2" y="11430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344168"/>
            <a:ext cx="118872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380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81A30"/>
                </a:solidFill>
                <a:latin typeface="Calibri"/>
              </a:rPr>
              <a:t>Namespace A
RBAC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81912" y="1344168"/>
            <a:ext cx="118872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80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81A30"/>
                </a:solidFill>
                <a:latin typeface="Calibri"/>
              </a:rPr>
              <a:t>Namespace B
ABAC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07792" y="1344168"/>
            <a:ext cx="118872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3512" y="1380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81A30"/>
                </a:solidFill>
                <a:latin typeface="Calibri"/>
              </a:rPr>
              <a:t>Namespace C
ACL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" y="174650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C62828"/>
                </a:solidFill>
                <a:latin typeface="Calibri"/>
              </a:rPr>
              <a:t>Separate checks, incompatible semantics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56032" y="2002536"/>
          <a:ext cx="3794760" cy="804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246120"/>
              </a:tblGrid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RBAC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Role-Based: grant access by assigning roles to users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ABAC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Attribute-Based: grant access via attribute conditions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ACL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Access Control List: explicit named list of allowed users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4315968" y="594360"/>
            <a:ext cx="457200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594360"/>
            <a:ext cx="457200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619760"/>
            <a:ext cx="438912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Three Key Challenges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868680"/>
            <a:ext cx="438912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Semantic fragmentation — RBAC, ABAC, ACL use incompatible rule languages and evaluation semantics</a:t>
            </a:r>
          </a:p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Non-deterministic conflicts — Implicit ordering across models yields inconsistent deny/allow decisions</a:t>
            </a:r>
          </a:p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Runtime inefficiency — Repeated policy scans evaluate irrelevant rules for every request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5968" y="2258568"/>
            <a:ext cx="457200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5968" y="2258568"/>
            <a:ext cx="36576" cy="2926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8" y="2295144"/>
            <a:ext cx="4443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1A30"/>
                </a:solidFill>
                <a:latin typeface="Calibri"/>
              </a:rPr>
              <a:t>Even with SSO handling authentication, authorization across multiple resources remains fragmented, slow, and inconsistent.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Our Solution: U-HAP</a:t>
            </a:r>
          </a:p>
        </p:txBody>
      </p:sp>
      <p:sp>
        <p:nvSpPr>
          <p:cNvPr id="4" name="FooterBar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887468"/>
            <a:ext cx="6400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FFFFFF"/>
                </a:solidFill>
                <a:latin typeface="Calibri"/>
              </a:rPr>
              <a:t>U-HAP: Unified Authorization over Heterogeneous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887468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4/13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594360"/>
            <a:ext cx="4114800" cy="896112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594360"/>
            <a:ext cx="411480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19760"/>
            <a:ext cx="393192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868680"/>
            <a:ext cx="3931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81A30"/>
                </a:solidFill>
                <a:latin typeface="Calibri"/>
              </a:rPr>
              <a:t>Shift expensive reasoning offline. Compile all policy models into resource–action indexed artifacts C(n,r,a). Every request-time authorization reduces to an O(1) index lookup followed by cheap, model-specific index evaluation.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554480"/>
            <a:ext cx="4114800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554480"/>
            <a:ext cx="411480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579880"/>
            <a:ext cx="393192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Three-Phase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1828800"/>
            <a:ext cx="39319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Phase 1: Setup &amp; trust configuration (deploy-time)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Phase 2: Compilation: DSL parse → DAG → indexed artifacts (policy-change time)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Phase 3: Request eval: O(1) lookup → pruning → index eval (every SAR — SubjectAccessReview)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594360"/>
            <a:ext cx="4315968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594360"/>
            <a:ext cx="4315968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619760"/>
            <a:ext cx="4133088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Key Contributions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868680"/>
            <a:ext cx="4133088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Universal semantic graph capturing RBAC, ABAC, and ACL in a unified DAG with deny-override semantics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Hash consing: structurally identical predicates share one node — 11 nodes reduced to 8 in the 4-policy example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Two-level pruning: policy-type pruning skips inactive model classes; token-driven pruning limits evaluation to relevant rules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Deterministic conflict resolution: deny-overrides-all, always, across all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System Architecture: Three-Phase Design</a:t>
            </a:r>
          </a:p>
        </p:txBody>
      </p:sp>
      <p:sp>
        <p:nvSpPr>
          <p:cNvPr id="4" name="FooterBar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887468"/>
            <a:ext cx="6400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FFFFFF"/>
                </a:solidFill>
                <a:latin typeface="Calibri"/>
              </a:rPr>
              <a:t>U-HAP: Unified Authorization over Heterogeneous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887468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5/13</a:t>
            </a:r>
          </a:p>
        </p:txBody>
      </p:sp>
      <p:pic>
        <p:nvPicPr>
          <p:cNvPr id="7" name="Picture 6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594360"/>
            <a:ext cx="6990080" cy="3931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52160" y="594360"/>
            <a:ext cx="301752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594360"/>
            <a:ext cx="301752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619760"/>
            <a:ext cx="283464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Phase 1: Setup (deploy-time)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86868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00897B"/>
                </a:solidFill>
                <a:latin typeface="Calibri"/>
              </a:rPr>
              <a:t>• </a:t>
            </a:r>
            <a:r>
              <a:rPr sz="700">
                <a:solidFill>
                  <a:srgbClr val="081A30"/>
                </a:solidFill>
                <a:latin typeface="Calibri"/>
              </a:rPr>
              <a:t>Load &amp; validate DSL policies</a:t>
            </a:r>
          </a:p>
          <a:p>
            <a:pPr algn="l"/>
            <a:r>
              <a:rPr sz="700">
                <a:solidFill>
                  <a:srgbClr val="00897B"/>
                </a:solidFill>
                <a:latin typeface="Calibri"/>
              </a:rPr>
              <a:t>• </a:t>
            </a:r>
            <a:r>
              <a:rPr sz="700">
                <a:solidFill>
                  <a:srgbClr val="081A30"/>
                </a:solidFill>
                <a:latin typeface="Calibri"/>
              </a:rPr>
              <a:t>Init webhook; zero request-time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399032"/>
            <a:ext cx="301752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1399032"/>
            <a:ext cx="301752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424432"/>
            <a:ext cx="283464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Phase 2: Compilation (per policy change)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673352"/>
            <a:ext cx="2834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00897B"/>
                </a:solidFill>
                <a:latin typeface="Calibri"/>
              </a:rPr>
              <a:t>• </a:t>
            </a:r>
            <a:r>
              <a:rPr sz="700">
                <a:solidFill>
                  <a:srgbClr val="081A30"/>
                </a:solidFill>
                <a:latin typeface="Calibri"/>
              </a:rPr>
              <a:t>Parse DSL → hash-consed DAG</a:t>
            </a:r>
          </a:p>
          <a:p>
            <a:pPr algn="l"/>
            <a:r>
              <a:rPr sz="700">
                <a:solidFill>
                  <a:srgbClr val="00897B"/>
                </a:solidFill>
                <a:latin typeface="Calibri"/>
              </a:rPr>
              <a:t>• </a:t>
            </a:r>
            <a:r>
              <a:rPr sz="700">
                <a:solidFill>
                  <a:srgbClr val="081A30"/>
                </a:solidFill>
                <a:latin typeface="Calibri"/>
              </a:rPr>
              <a:t>Compile C(n,r,a) indices per triple</a:t>
            </a:r>
          </a:p>
          <a:p>
            <a:pPr algn="l"/>
            <a:r>
              <a:rPr sz="700">
                <a:solidFill>
                  <a:srgbClr val="00897B"/>
                </a:solidFill>
                <a:latin typeface="Calibri"/>
              </a:rPr>
              <a:t>• </a:t>
            </a:r>
            <a:r>
              <a:rPr sz="700">
                <a:solidFill>
                  <a:srgbClr val="081A30"/>
                </a:solidFill>
                <a:latin typeface="Calibri"/>
              </a:rPr>
              <a:t>Store artifacts in registry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2377440"/>
            <a:ext cx="301752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52160" y="2377440"/>
            <a:ext cx="301752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402840"/>
            <a:ext cx="283464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Phase 3: Request-time (every SAR)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651760"/>
            <a:ext cx="28346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00897B"/>
                </a:solidFill>
                <a:latin typeface="Calibri"/>
              </a:rPr>
              <a:t>• </a:t>
            </a:r>
            <a:r>
              <a:rPr sz="700">
                <a:solidFill>
                  <a:srgbClr val="081A30"/>
                </a:solidFill>
                <a:latin typeface="Calibri"/>
              </a:rPr>
              <a:t>O(1) lookup on (n,r,a)</a:t>
            </a:r>
          </a:p>
          <a:p>
            <a:pPr algn="l"/>
            <a:r>
              <a:rPr sz="700">
                <a:solidFill>
                  <a:srgbClr val="00897B"/>
                </a:solidFill>
                <a:latin typeface="Calibri"/>
              </a:rPr>
              <a:t>• </a:t>
            </a:r>
            <a:r>
              <a:rPr sz="700">
                <a:solidFill>
                  <a:srgbClr val="081A30"/>
                </a:solidFill>
                <a:latin typeface="Calibri"/>
              </a:rPr>
              <a:t>Two-level pruning skips inactive models</a:t>
            </a:r>
          </a:p>
          <a:p>
            <a:pPr algn="l"/>
            <a:r>
              <a:rPr sz="700">
                <a:solidFill>
                  <a:srgbClr val="00897B"/>
                </a:solidFill>
                <a:latin typeface="Calibri"/>
              </a:rPr>
              <a:t>• </a:t>
            </a:r>
            <a:r>
              <a:rPr sz="700">
                <a:solidFill>
                  <a:srgbClr val="081A30"/>
                </a:solidFill>
                <a:latin typeface="Calibri"/>
              </a:rPr>
              <a:t>Eval: hash set / bit-vector / gates</a:t>
            </a:r>
          </a:p>
          <a:p>
            <a:pPr algn="l"/>
            <a:r>
              <a:rPr sz="700">
                <a:solidFill>
                  <a:srgbClr val="00897B"/>
                </a:solidFill>
                <a:latin typeface="Calibri"/>
              </a:rPr>
              <a:t>• </a:t>
            </a:r>
            <a:r>
              <a:rPr sz="700">
                <a:solidFill>
                  <a:srgbClr val="081A30"/>
                </a:solidFill>
                <a:latin typeface="Calibri"/>
              </a:rPr>
              <a:t>Return ALLOW/DENY + audit 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Compilation: Hash Consing and Indexed Artifacts</a:t>
            </a:r>
          </a:p>
        </p:txBody>
      </p:sp>
      <p:sp>
        <p:nvSpPr>
          <p:cNvPr id="4" name="FooterBar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887468"/>
            <a:ext cx="6400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FFFFFF"/>
                </a:solidFill>
                <a:latin typeface="Calibri"/>
              </a:rPr>
              <a:t>U-HAP: Unified Authorization over Heterogeneous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887468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6/13</a:t>
            </a:r>
          </a:p>
        </p:txBody>
      </p:sp>
      <p:pic>
        <p:nvPicPr>
          <p:cNvPr id="7" name="Picture 6" descr="hash_diagram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594360"/>
            <a:ext cx="3768695" cy="3840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80560" y="594360"/>
            <a:ext cx="4389120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594360"/>
            <a:ext cx="438912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619760"/>
            <a:ext cx="420624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What Hash Consing Gives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868680"/>
            <a:ext cx="420624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00897B"/>
                </a:solidFill>
                <a:latin typeface="Calibri"/>
              </a:rPr>
              <a:t>• </a:t>
            </a:r>
            <a:r>
              <a:rPr sz="700">
                <a:solidFill>
                  <a:srgbClr val="081A30"/>
                </a:solidFill>
                <a:latin typeface="Calibri"/>
              </a:rPr>
              <a:t>Identical sub-expressions across policies share one DAG node</a:t>
            </a:r>
          </a:p>
          <a:p>
            <a:pPr algn="l"/>
            <a:r>
              <a:rPr sz="700">
                <a:solidFill>
                  <a:srgbClr val="00897B"/>
                </a:solidFill>
                <a:latin typeface="Calibri"/>
              </a:rPr>
              <a:t>• </a:t>
            </a:r>
            <a:r>
              <a:rPr sz="700">
                <a:solidFill>
                  <a:srgbClr val="081A30"/>
                </a:solidFill>
                <a:latin typeface="Calibri"/>
              </a:rPr>
              <a:t>Each node evaluated at most once per request (memoized)</a:t>
            </a:r>
          </a:p>
          <a:p>
            <a:pPr algn="l"/>
            <a:r>
              <a:rPr sz="700">
                <a:solidFill>
                  <a:srgbClr val="00897B"/>
                </a:solidFill>
                <a:latin typeface="Calibri"/>
              </a:rPr>
              <a:t>• </a:t>
            </a:r>
            <a:r>
              <a:rPr sz="700">
                <a:solidFill>
                  <a:srgbClr val="081A30"/>
                </a:solidFill>
                <a:latin typeface="Calibri"/>
              </a:rPr>
              <a:t>Structural equality check — not string comparison</a:t>
            </a:r>
          </a:p>
          <a:p>
            <a:pPr algn="l"/>
            <a:r>
              <a:rPr sz="700">
                <a:solidFill>
                  <a:srgbClr val="00897B"/>
                </a:solidFill>
                <a:latin typeface="Calibri"/>
              </a:rPr>
              <a:t>• </a:t>
            </a:r>
            <a:r>
              <a:rPr sz="700">
                <a:solidFill>
                  <a:srgbClr val="081A30"/>
                </a:solidFill>
                <a:latin typeface="Calibri"/>
              </a:rPr>
              <a:t>Cost grows sub-linearly as policies share predicates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029968"/>
            <a:ext cx="4389120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2029968"/>
            <a:ext cx="438912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55368"/>
            <a:ext cx="420624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Calibri"/>
              </a:rPr>
              <a:t>Compiled Indexed Artifacts C(n,r,a)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04288"/>
            <a:ext cx="420624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081A30"/>
                </a:solidFill>
                <a:latin typeface="Calibri"/>
              </a:rPr>
              <a:t/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480560" y="2286000"/>
          <a:ext cx="4343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611880"/>
              </a:tblGrid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I_deny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deny candidate set (token-pruned hash set)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I_acl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ACL user/group hash set (O(1) membership)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b_rbac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RBAC bit-vector (one AND with b_user)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I_abac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ABAC gate list, cost-sorted, key-pruned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480560" y="336499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1A30"/>
                </a:solidFill>
                <a:latin typeface="Calibri"/>
              </a:rPr>
              <a:t>Runtime order: Cache → Deny → ACL → RBAC → ABAC → Default Deny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3621024"/>
            <a:ext cx="438912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3621024"/>
            <a:ext cx="36576" cy="2926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657600"/>
            <a:ext cx="4261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1A30"/>
                </a:solidFill>
                <a:latin typeface="Calibri"/>
              </a:rPr>
              <a:t>The DAG is a compile-time artifact only. No graph traversal at runtime — pure index lookup.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Two-Level Pruning Strategy</a:t>
            </a:r>
          </a:p>
        </p:txBody>
      </p:sp>
      <p:sp>
        <p:nvSpPr>
          <p:cNvPr id="4" name="FooterBar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887468"/>
            <a:ext cx="6400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FFFFFF"/>
                </a:solidFill>
                <a:latin typeface="Calibri"/>
              </a:rPr>
              <a:t>U-HAP: Unified Authorization over Heterogeneous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887468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7/13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594360"/>
            <a:ext cx="4114800" cy="123444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594360"/>
            <a:ext cx="411480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19760"/>
            <a:ext cx="393192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Level 1 — Policy-Type Pruning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868680"/>
            <a:ext cx="393192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081A30"/>
                </a:solidFill>
                <a:latin typeface="Calibri"/>
              </a:rPr>
              <a:t>Skip entire model classes that cannot produce a decision for this request.</a:t>
            </a:r>
          </a:p>
          <a:p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If no deny rules exist for (n,r,a): skip deny phase</a:t>
            </a:r>
          </a:p>
          <a:p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If no RBAC policies apply: skip bit-vector AND</a:t>
            </a:r>
          </a:p>
          <a:p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If caller has no attributes: skip ABAC gate 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892808"/>
            <a:ext cx="4114800" cy="1261872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892808"/>
            <a:ext cx="411480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918208"/>
            <a:ext cx="393192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Level 2 — Token-Driven Pruning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167128"/>
            <a:ext cx="393192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081A30"/>
                </a:solidFill>
                <a:latin typeface="Calibri"/>
              </a:rPr>
              <a:t>Restrict evaluation to rules matching the caller's token.</a:t>
            </a:r>
          </a:p>
          <a:p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Hash the request token; filter I_deny and I_abac to matching entries only</a:t>
            </a:r>
          </a:p>
          <a:p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Pruning happens before evaluation — zero cost for non-matching rules</a:t>
            </a:r>
          </a:p>
          <a:p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Compound benefit: both levels apply independently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594360"/>
            <a:ext cx="4315968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594360"/>
            <a:ext cx="4315968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619760"/>
            <a:ext cx="4133088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Deny-Overrides-All Invariant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868680"/>
            <a:ext cx="41330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81A30"/>
                </a:solidFill>
                <a:latin typeface="Calibri"/>
              </a:rPr>
              <a:t>Any deny match terminates evaluation immediately and returns DENY — regardless of any allow rules in RBAC, ABAC, or ACL. This invariant is checked first, always.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664208"/>
            <a:ext cx="4315968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1664208"/>
            <a:ext cx="4315968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1689608"/>
            <a:ext cx="4133088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Result: O(1) Effective Complexity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1938528"/>
            <a:ext cx="413308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Cache hit: 1 hash lookup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ACL: 1 hash-set membership check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RBAC: 1 bitwise AND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ABAC: pruned gate list, cost-sorted, memoized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No policy scan. No BFS. No interpreter overhead.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Evaluation Setup</a:t>
            </a:r>
          </a:p>
        </p:txBody>
      </p:sp>
      <p:sp>
        <p:nvSpPr>
          <p:cNvPr id="4" name="FooterBar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887468"/>
            <a:ext cx="6400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FFFFFF"/>
                </a:solidFill>
                <a:latin typeface="Calibri"/>
              </a:rPr>
              <a:t>U-HAP: Unified Authorization over Heterogeneous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887468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8/13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594360"/>
            <a:ext cx="411480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594360"/>
            <a:ext cx="411480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19760"/>
            <a:ext cx="393192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Hardware and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868680"/>
            <a:ext cx="3931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AMD Ryzen 9 7945HX (16C/32T), 32 GB DDR5-4800, CachyOS Linux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U-HAP: Python 3.11 (in-memory evaluation)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Baseline: conventional SSO-based system — sequential policy scanning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664208"/>
            <a:ext cx="4114800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664208"/>
            <a:ext cx="411480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689608"/>
            <a:ext cx="393192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Measurement 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1938528"/>
            <a:ext cx="39319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Median of 1,000 iterations after 50 warm-up runs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In-memory policy lookup only — no network, no auth overhead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Each namespace: 46 rules (10 RBAC, 20 ABAC, 10 ACL, 1 deny, 5 hierarchy edges)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ABAC gates: AND/OR/ATLEAST with ~50% atom sharing across rules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594360"/>
            <a:ext cx="4315968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594360"/>
            <a:ext cx="4315968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619760"/>
            <a:ext cx="4133088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Why In-Memory Benchmarks?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868680"/>
            <a:ext cx="41330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Isolates pure algorithm cost from network and framework overhead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Reveals true compilation gains: hash-consed DAG vs. sequential scan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Caching effect visible directly without HTTP round-trip noise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572768"/>
            <a:ext cx="4315968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1572768"/>
            <a:ext cx="4315968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1598168"/>
            <a:ext cx="4133088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Baseline: SSO-Based Sequential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1847088"/>
            <a:ext cx="41330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Iterates over all policy rules per request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RBAC: repeated role resolution + hierarchy traversal at runtime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Represents conventional authorization without compile-time indexing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Experiment 1: Policy Verification Efficiency</a:t>
            </a:r>
          </a:p>
        </p:txBody>
      </p:sp>
      <p:sp>
        <p:nvSpPr>
          <p:cNvPr id="4" name="FooterBar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887468"/>
            <a:ext cx="6400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FFFFFF"/>
                </a:solidFill>
                <a:latin typeface="Calibri"/>
              </a:rPr>
              <a:t>U-HAP: Unified Authorization over Heterogeneous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887468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9/13</a:t>
            </a:r>
          </a:p>
        </p:txBody>
      </p:sp>
      <p:pic>
        <p:nvPicPr>
          <p:cNvPr id="7" name="Picture 6" descr="fig2_namespace_is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594360"/>
            <a:ext cx="4335062" cy="2560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6032" y="3227832"/>
            <a:ext cx="4846320" cy="105156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3227832"/>
            <a:ext cx="484632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3253232"/>
            <a:ext cx="466344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Key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502152"/>
            <a:ext cx="46634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Isolation: curves flat as N:10→1,000 — adding namespaces has zero cost</a:t>
            </a:r>
          </a:p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U-HAP: ≈15.5 μs — O(1) lookup, constant vs. N</a:t>
            </a:r>
          </a:p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+Cache: ≈1.8 μs — 14–15× speedup over SSO</a:t>
            </a:r>
          </a:p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SSO: ≈26 μs — 1.6–1.7× slower than U-HAP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5943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1A30"/>
                </a:solidFill>
                <a:latin typeface="Calibri"/>
              </a:rPr>
              <a:t>Latency (μs, median, 1,000 iters)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85039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46E7A"/>
                </a:solidFill>
                <a:latin typeface="Calibri"/>
              </a:rPr>
              <a:t>46 rules each: 10 RBAC + 20 ABAC + 10 ACL + 1 deny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03520" y="1088136"/>
          <a:ext cx="352044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914400"/>
                <a:gridCol w="1051560"/>
              </a:tblGrid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U-HAP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+Cache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SSO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15.6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26.9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15.4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26.0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15.5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25.8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15.6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25.2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15.4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26.4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15.6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26.0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750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15.7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25.4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1000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15.4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25.3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Experiment 2: Policy Size Impact</a:t>
            </a:r>
          </a:p>
        </p:txBody>
      </p:sp>
      <p:sp>
        <p:nvSpPr>
          <p:cNvPr id="4" name="FooterBar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887468"/>
            <a:ext cx="6400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FFFFFF"/>
                </a:solidFill>
                <a:latin typeface="Calibri"/>
              </a:rPr>
              <a:t>U-HAP: Unified Authorization over Heterogeneous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887468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10/13</a:t>
            </a:r>
          </a:p>
        </p:txBody>
      </p:sp>
      <p:pic>
        <p:nvPicPr>
          <p:cNvPr id="7" name="Picture 6" descr="fig3_permodel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594360"/>
            <a:ext cx="4355436" cy="2560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6032" y="3227832"/>
            <a:ext cx="4846320" cy="105156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3227832"/>
            <a:ext cx="484632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3253232"/>
            <a:ext cx="466344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Key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502152"/>
            <a:ext cx="46634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ABAC: hash-consed DAG → 16.9× at k=320; crossover k≈18</a:t>
            </a:r>
          </a:p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RBAC: bit-vector AND → 5.6× at k=320; crossover k≈15</a:t>
            </a:r>
          </a:p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ACL: hash-set → 5.0× at k=320; crossover k≈35</a:t>
            </a:r>
          </a:p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&lt;1× at small k: compilation overhead not yet amortized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5943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1A30"/>
                </a:solidFill>
                <a:latin typeface="Calibri"/>
              </a:rPr>
              <a:t>Speedup vs. SSO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85039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46E7A"/>
                </a:solidFill>
                <a:latin typeface="Calibri"/>
              </a:rPr>
              <a:t>&lt;1× = compilation cost not yet amortized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03520" y="1088136"/>
          <a:ext cx="352044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005840"/>
                <a:gridCol w="1005840"/>
                <a:gridCol w="1005840"/>
              </a:tblGrid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ABAC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RBAC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ACL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0.66×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0.96×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0.54×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0.92×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0.80×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0.66×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1.64×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1.01×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0.85×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3.44×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1.25×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1.27×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6.00×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1.83×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2.05×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9.83×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3.20×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81A30"/>
                          </a:solidFill>
                          <a:latin typeface="Calibri"/>
                        </a:rPr>
                        <a:t>3.58×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81A30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81A30"/>
                          </a:solidFill>
                          <a:latin typeface="Calibri"/>
                        </a:rPr>
                        <a:t>16.9×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81A30"/>
                          </a:solidFill>
                          <a:latin typeface="Calibri"/>
                        </a:rPr>
                        <a:t>5.6×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81A30"/>
                          </a:solidFill>
                          <a:latin typeface="Calibri"/>
                        </a:rPr>
                        <a:t>5.0×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Experiment 3: Policy Update Latency vs. OPA</a:t>
            </a:r>
          </a:p>
        </p:txBody>
      </p:sp>
      <p:sp>
        <p:nvSpPr>
          <p:cNvPr id="4" name="FooterBar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887468"/>
            <a:ext cx="6400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FFFFFF"/>
                </a:solidFill>
                <a:latin typeface="Calibri"/>
              </a:rPr>
              <a:t>U-HAP: Unified Authorization over Heterogeneous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887468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11/13</a:t>
            </a:r>
          </a:p>
        </p:txBody>
      </p:sp>
      <p:pic>
        <p:nvPicPr>
          <p:cNvPr id="7" name="Picture 6" descr="fig5_update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594360"/>
            <a:ext cx="4321644" cy="2560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6032" y="3227832"/>
            <a:ext cx="4846320" cy="105156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3227832"/>
            <a:ext cx="484632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3253232"/>
            <a:ext cx="466344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Key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502152"/>
            <a:ext cx="46634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2.73× faster total update at n=2,000 (223 ms vs. 611 ms)</a:t>
            </a:r>
          </a:p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19.5× faster post-parse engine path at n=2,000</a:t>
            </a:r>
          </a:p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U-HAP grows linearly; OPA grows super-linearly</a:t>
            </a:r>
          </a:p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100/100 decisions verified identical (equivalence gate)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5943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1A30"/>
                </a:solidFill>
                <a:latin typeface="Calibri"/>
              </a:rPr>
              <a:t>Edit-to-first-decision latency (ms)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303520" y="868680"/>
          <a:ext cx="352044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548640"/>
                <a:gridCol w="548640"/>
                <a:gridCol w="457200"/>
                <a:gridCol w="777240"/>
                <a:gridCol w="731520"/>
              </a:tblGrid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U-HAP
Total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OPA
Total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×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U-HAP
Post-parse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OPA
Post-parse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1.75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2.85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1.63×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0.14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2.85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14.76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26.60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1.80×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2.03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26.60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57.35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119.40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2.08×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7.87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119.40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1000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109.99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277.32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2.52×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16.27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081A30"/>
                          </a:solidFill>
                          <a:latin typeface="Calibri"/>
                        </a:rPr>
                        <a:t>277.32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081A30"/>
                          </a:solidFill>
                          <a:latin typeface="Calibri"/>
                        </a:rPr>
                        <a:t>2000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081A30"/>
                          </a:solidFill>
                          <a:latin typeface="Calibri"/>
                        </a:rPr>
                        <a:t>223.41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081A30"/>
                          </a:solidFill>
                          <a:latin typeface="Calibri"/>
                        </a:rPr>
                        <a:t>610.54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081A30"/>
                          </a:solidFill>
                          <a:latin typeface="Calibri"/>
                        </a:rPr>
                        <a:t>2.73×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081A30"/>
                          </a:solidFill>
                          <a:latin typeface="Calibri"/>
                        </a:rPr>
                        <a:t>31.31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081A30"/>
                          </a:solidFill>
                          <a:latin typeface="Calibri"/>
                        </a:rPr>
                        <a:t>610.54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FooterBar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887468"/>
            <a:ext cx="6400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FFFFFF"/>
                </a:solidFill>
                <a:latin typeface="Calibri"/>
              </a:rPr>
              <a:t>U-HAP: Unified Authorization over Heterogeneous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887468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12/13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594360"/>
            <a:ext cx="4114800" cy="96012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594360"/>
            <a:ext cx="411480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19760"/>
            <a:ext cx="393192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What We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868680"/>
            <a:ext cx="393192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081A30"/>
                </a:solidFill>
                <a:latin typeface="Calibri"/>
              </a:rPr>
              <a:t>U-HAP is a compilation-driven, index-based Kubernetes webhook authorizer unifying RBAC, ABAC, and ACL under a single semantic DAG with deterministic deny-override conflict resolution.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618488"/>
            <a:ext cx="4114800" cy="146304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618488"/>
            <a:ext cx="411480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643888"/>
            <a:ext cx="393192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Key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1892808"/>
            <a:ext cx="393192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Near-constant latency: ≈1.7× vs. SSO baseline; flat to N=1,000 namespaces</a:t>
            </a:r>
          </a:p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~14× caching speedup on repeated requests</a:t>
            </a:r>
          </a:p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16.9× ABAC speedup at k=320; RBAC 5.6×, ACL 5.0×</a:t>
            </a:r>
          </a:p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2.73× faster policy-update vs. OPA at n=2,000</a:t>
            </a:r>
          </a:p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19.5× faster post-parse path vs. OPA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594360"/>
            <a:ext cx="4315968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594360"/>
            <a:ext cx="4315968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619760"/>
            <a:ext cx="4133088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Why It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868680"/>
            <a:ext cx="413308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Compile, don’t scan — all complexity offline; runtime is index lookup + bitwise ops only</a:t>
            </a:r>
          </a:p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Share, don’t repeat — hash consing eliminates redundant sub-expression evaluation</a:t>
            </a:r>
          </a:p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Prune early, prune deep — two-level pruning skips entire model classes before eval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755648"/>
            <a:ext cx="4315968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1755648"/>
            <a:ext cx="4315968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1781048"/>
            <a:ext cx="4133088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029968"/>
            <a:ext cx="413308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Reimplement in Go/Rust to eliminate Python/Gunicorn HTTP overhead</a:t>
            </a:r>
          </a:p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Cross-namespace policy composition</a:t>
            </a:r>
          </a:p>
          <a:p>
            <a:pPr algn="l"/>
            <a:r>
              <a:rPr sz="900">
                <a:solidFill>
                  <a:srgbClr val="00897B"/>
                </a:solidFill>
                <a:latin typeface="Calibri"/>
              </a:rPr>
              <a:t>• </a:t>
            </a:r>
            <a:r>
              <a:rPr sz="900">
                <a:solidFill>
                  <a:srgbClr val="081A30"/>
                </a:solidFill>
                <a:latin typeface="Calibri"/>
              </a:rPr>
              <a:t>Dynamic policy reload without restart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4" name="FooterBar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887468"/>
            <a:ext cx="6400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FFFFFF"/>
                </a:solidFill>
                <a:latin typeface="Calibri"/>
              </a:rPr>
              <a:t>U-HAP: Unified Authorization over Heterogeneous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887468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13/13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640080"/>
            <a:ext cx="411480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81A30"/>
                </a:solidFill>
                <a:latin typeface="Calibri"/>
              </a:rPr>
              <a:t>[1] NSA &amp; CISA, "Kubernetes Hardening Guidance," NSA Cybersec. Tech. Report, ver. 1.2, 2022.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818388"/>
            <a:ext cx="411480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81A30"/>
                </a:solidFill>
                <a:latin typeface="Calibri"/>
              </a:rPr>
              <a:t>[2] A. Rahman et al., "Security Misconfigurations in Open Source Kubernetes Manifests," ACM TOSEM, 32(4), 2023.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96696"/>
            <a:ext cx="411480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81A30"/>
                </a:solidFill>
                <a:latin typeface="Calibri"/>
              </a:rPr>
              <a:t>[3] N. Yang et al., "Take Over the Whole Cluster: Attacking Kubernetes via Excessive Permissions," ACM CCS, 2023.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175004"/>
            <a:ext cx="411480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81A30"/>
                </a:solidFill>
                <a:latin typeface="Calibri"/>
              </a:rPr>
              <a:t>[4] G. Rostami, "RBAC Authorization in Kubernetes," J. ICT Standardization, 11(3), 2023.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1353312"/>
            <a:ext cx="411480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81A30"/>
                </a:solidFill>
                <a:latin typeface="Calibri"/>
              </a:rPr>
              <a:t>[5] N. Farhadighalati et al., "A Systematic Review of Access Control Models," IEEE Access, 13, 2025.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1531620"/>
            <a:ext cx="411480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81A30"/>
                </a:solidFill>
                <a:latin typeface="Calibri"/>
              </a:rPr>
              <a:t>[6] M. S. Rahaman et al., "Access Control in Cloud-Native Architecture: A Mapping Study," Sensors, 23(7), 2023.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1709928"/>
            <a:ext cx="411480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81A30"/>
                </a:solidFill>
                <a:latin typeface="Calibri"/>
              </a:rPr>
              <a:t>[7] OASIS, "XACML Version 3.0 Plus Errata 01," OASIS Standard, 2017.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1888236"/>
            <a:ext cx="411480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81A30"/>
                </a:solidFill>
                <a:latin typeface="Calibri"/>
              </a:rPr>
              <a:t>[8] M. Yang et al., "A Graph-Based Framework for ABAC Policy Enforcement," DBSec, 2024.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2066544"/>
            <a:ext cx="411480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81A30"/>
                </a:solidFill>
                <a:latin typeface="Calibri"/>
              </a:rPr>
              <a:t>[9] Z. Moric et al., "Security Hardening and Compliance Assessment of Kubernetes," J. Cybersec. Privacy, 5(2), 2025.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0080"/>
            <a:ext cx="4315968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81A30"/>
                </a:solidFill>
                <a:latin typeface="Calibri"/>
              </a:rPr>
              <a:t>[10] Y. Gu et al., "EPScan: Automated Detection of Excessive RBAC Permissions," IEEE S&amp;P, 2025.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818388"/>
            <a:ext cx="4315968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81A30"/>
                </a:solidFill>
                <a:latin typeface="Calibri"/>
              </a:rPr>
              <a:t>[11] A. Sissodiya et al., "Formal Verification for Preventing Misconfigured Access Policies," IEEE Access, 13, 2025.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996696"/>
            <a:ext cx="4315968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81A30"/>
                </a:solidFill>
                <a:latin typeface="Calibri"/>
              </a:rPr>
              <a:t>[12] R. Chandramouli &amp; Z. Butcher, "A Zero Trust Architecture Model for Cloud-Native Apps," NIST SP 800-207A, 2023.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175004"/>
            <a:ext cx="4315968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81A30"/>
                </a:solidFill>
                <a:latin typeface="Calibri"/>
              </a:rPr>
              <a:t>[13] H. Nguyen et al., "PerfSPEC: Profiling-Based Proactive Security Policy Enforcement," IEEE Computer, 2025.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353312"/>
            <a:ext cx="4315968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81A30"/>
                </a:solidFill>
                <a:latin typeface="Calibri"/>
              </a:rPr>
              <a:t>[14] S. Kern et al., "Optimization of Access Control Policies," J. Inf. Secur. Appl., 70, 2022.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531620"/>
            <a:ext cx="4315968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81A30"/>
                </a:solidFill>
                <a:latin typeface="Calibri"/>
              </a:rPr>
              <a:t>[15] A. X. Liu et al., "Designing Fast and Scalable XACML Policy Evaluation Engines," IEEE Trans. Computers, 60(12), 2011.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709928"/>
            <a:ext cx="4315968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81A30"/>
                </a:solidFill>
                <a:latin typeface="Calibri"/>
              </a:rPr>
              <a:t>[16] L. Ma et al., "Authorization Model of Attribute Access Control Based on Knowledge Graph," UbiSec, 2024.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888236"/>
            <a:ext cx="4315968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81A30"/>
                </a:solidFill>
                <a:latin typeface="Calibri"/>
              </a:rPr>
              <a:t>[17] R. Pang et al., "Zanzibar: Google's Consistent, Global Authorization System," USENIX ATC, 2019.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066544"/>
            <a:ext cx="4315968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81A30"/>
                </a:solidFill>
                <a:latin typeface="Calibri"/>
              </a:rPr>
              <a:t>[18] M. Davari &amp; M. Zulkernine, "Automatic Conversion of ABAC Policies for RBAC Systems," IEEE DSC, 2023.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00897B"/>
                </a:solidFill>
                <a:latin typeface="Calibri"/>
              </a:rPr>
              <a:t>Questions are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0897B"/>
                </a:solidFill>
                <a:latin typeface="Calibri"/>
              </a:rPr>
              <a:t>Singha Junchan — 6622770350@g.siit.tu.ac.th</a:t>
            </a:r>
          </a:p>
          <a:p>
            <a:pPr algn="ctr"/>
            <a:r>
              <a:rPr sz="1200">
                <a:solidFill>
                  <a:srgbClr val="00897B"/>
                </a:solidFill>
                <a:latin typeface="Calibri"/>
              </a:rPr>
              <a:t>School of ICT, SIIT, Thammasat University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Runtime Evaluation Order (Phase 3) (Backup)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594360"/>
            <a:ext cx="4572000" cy="201168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594360"/>
            <a:ext cx="457200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619760"/>
            <a:ext cx="438912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Evaluation Pipeline for each 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868680"/>
            <a:ext cx="438912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1. Cache hit? Return cached decision immediately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2. Deny check: token-pruned candidates from I_deny; any match → DENY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3. ACL: uid ∈ I_acl or groups ∩ I_acl ≠ ∅ (hash set, O(1))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4. RBAC: b_user &amp; b_rbac ≠ 0 (one bitwise AND)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5. ABAC: attribute-key pruned → cost-sorted → hash-consed gate eval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6. Default Deny: no rule matched → DENY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594360"/>
            <a:ext cx="3840480" cy="201168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594360"/>
            <a:ext cx="384048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619760"/>
            <a:ext cx="365760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Correctness Invariants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868680"/>
            <a:ext cx="365760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Deny-overrides-all checked first, always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DAG acyclicity verified at compile time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Resource-action isolation: eval of (n,r,a) touches only C(n,r,a)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Deterministic: same input → same output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Memoization: each DAG node evaluated at most once per request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Cache consistency: invalidated on any policy change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Correctness Scenarios S1–S7 (Backup)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6032" y="594360"/>
          <a:ext cx="8586216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"/>
                <a:gridCol w="868680"/>
                <a:gridCol w="1554480"/>
                <a:gridCol w="2194560"/>
                <a:gridCol w="2871216"/>
              </a:tblGrid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Subject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Resource/Verb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Context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Expected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alice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ABAC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pods/prod / get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on-premise + business-hours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E7D32"/>
                          </a:solidFill>
                          <a:latin typeface="Calibri"/>
                        </a:rPr>
                        <a:t>ALLOW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alice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ABAC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pods/prod / get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remote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62828"/>
                          </a:solidFill>
                          <a:latin typeface="Calibri"/>
                        </a:rPr>
                        <a:t>DENY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alice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RBAC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pods/dev / get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any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E7D32"/>
                          </a:solidFill>
                          <a:latin typeface="Calibri"/>
                        </a:rPr>
                        <a:t>ALLOW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S4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bob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ABAC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pods/prod / delete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after-hours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62828"/>
                          </a:solidFill>
                          <a:latin typeface="Calibri"/>
                        </a:rPr>
                        <a:t>DENY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S5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*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Deny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secrets / delete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any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62828"/>
                          </a:solidFill>
                          <a:latin typeface="Calibri"/>
                        </a:rPr>
                        <a:t>DENY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S6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charlie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ACL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pods/dev / get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any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E7D32"/>
                          </a:solidFill>
                          <a:latin typeface="Calibri"/>
                        </a:rPr>
                        <a:t>ALLOW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S7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dave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Hierarchy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pods/prod / get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any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E7D32"/>
                          </a:solidFill>
                          <a:latin typeface="Calibri"/>
                        </a:rPr>
                        <a:t>ALLOW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56032" y="2340864"/>
            <a:ext cx="8631936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2340864"/>
            <a:ext cx="36576" cy="2926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2377440"/>
            <a:ext cx="8503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1A30"/>
                </a:solidFill>
                <a:latin typeface="Calibri"/>
              </a:rPr>
              <a:t>S7: dave is a Senior Developer. RBAC bit-vector encodes full transitive role closure at compile time — no runtime BFS needed.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Hash Consing — Worked Example (P1–P4) (Backup)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594360"/>
            <a:ext cx="4114800" cy="164592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594360"/>
            <a:ext cx="411480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619760"/>
            <a:ext cx="393192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Without Hash Consing (Naïve Tree)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868680"/>
            <a:ext cx="393192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81A30"/>
                </a:solidFill>
                <a:latin typeface="Calibri"/>
              </a:rPr>
              <a:t>Four policies P1–P4 share the predicate time.hour ∈ [9,18] and location = ‘on-premise’, but each expands them independently. Naïve tree: 11 nodes. The shared predicates are evaluated redundantly for each policy, even within the same request.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594360"/>
            <a:ext cx="4315968" cy="164592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594360"/>
            <a:ext cx="4315968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619760"/>
            <a:ext cx="4133088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With Hash Consing (DAG)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868680"/>
            <a:ext cx="4133088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81A30"/>
                </a:solidFill>
                <a:latin typeface="Calibri"/>
              </a:rPr>
              <a:t>Structural equality check at compile time identifies shared sub-expressions. One canonical node per unique predicate. Hash-consed DAG: 8 nodes. At request time, each node is evaluated at most once and its result memoized. Policies referencing the same predicate re-use the cached result — zero redundant computation.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304288"/>
            <a:ext cx="8631936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304288"/>
            <a:ext cx="36576" cy="2926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340864"/>
            <a:ext cx="8503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1A30"/>
                </a:solidFill>
                <a:latin typeface="Calibri"/>
              </a:rPr>
              <a:t>As policy sets grow and predicates are reused across rules, hash consing provides sub-linear growth in both DAG size and evaluation cost.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RBAC Bit-Vector Role Hierarchy (Backup)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594360"/>
            <a:ext cx="4114800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594360"/>
            <a:ext cx="411480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619760"/>
            <a:ext cx="393192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Bit-Vector Construction (Compile Time)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868680"/>
            <a:ext cx="393192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Enumerate all roles: assign each a unique bit position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For each role: compute transitive ancestors via BFS on role hierarchy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Set bits for all ancestors in that role’s bit-vector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Store in compiled registry — no BFS at runtime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594360"/>
            <a:ext cx="4315968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594360"/>
            <a:ext cx="4315968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619760"/>
            <a:ext cx="4133088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Runtime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868680"/>
            <a:ext cx="4133088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b_user = bit-vector of all roles the requesting user holds (transitively)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b_rbac = bit-vector of roles allowed by the RBAC policy for (n,r,a)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Decision: b_user AND b_rbac ≠ 0 → ALLOW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One bitwise AND operation. O(1) regardless of role hierarchy depth.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029968"/>
            <a:ext cx="8631936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029968"/>
            <a:ext cx="36576" cy="2926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066544"/>
            <a:ext cx="8503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1A30"/>
                </a:solidFill>
                <a:latin typeface="Calibri"/>
              </a:rPr>
              <a:t>For S7 (dave, Senior Developer): Senior Dev bit is set in b_rbac; dave’s b_user includes Senior Dev bit → single AND returns ALLOW. No traversal.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Memory Footprint (Backup)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594360"/>
            <a:ext cx="4114800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594360"/>
            <a:ext cx="411480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619760"/>
            <a:ext cx="393192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Measured Footprint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868680"/>
            <a:ext cx="393192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Total registry size: ≤ 2.7 MiB for N=1,000 namespaces, 46 rules each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Per-namespace: ≈2.7 KiB average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Hash consing reduces DAG size: 11 → 8 nodes in P1–P4 example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Bit-vectors: 1 word per role (64-bit CPU: up to 64 roles per word)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594360"/>
            <a:ext cx="4315968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594360"/>
            <a:ext cx="4315968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619760"/>
            <a:ext cx="4133088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Why It Stays Small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868680"/>
            <a:ext cx="4133088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Compiled indices are dense hash sets and bit-vectors — no redundant policy text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Hash consing eliminates duplicate predicate storage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Registry is keyed by (n,r,a) — only policies relevant to each triple are stored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029968"/>
            <a:ext cx="8631936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029968"/>
            <a:ext cx="36576" cy="2926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066544"/>
            <a:ext cx="8503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1A30"/>
                </a:solidFill>
                <a:latin typeface="Calibri"/>
              </a:rPr>
              <a:t>≤ 2.7 MiB for the full N=1,000 test scenario — well within typical container memory budgets.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Cache Impact (Backup)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594360"/>
            <a:ext cx="4114800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594360"/>
            <a:ext cx="411480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619760"/>
            <a:ext cx="393192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Measured Cache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868680"/>
            <a:ext cx="393192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81A30"/>
                </a:solidFill>
                <a:latin typeface="Calibri"/>
              </a:rPr>
              <a:t>In-memory benchmark (1,000 iterations, 50 warm-ups): ≈14× speedup on repeated requests — cache bypasses all evaluation, returning the stored decision in one hash-table lookup. Benefit compounds at scale: Exp1 shows the 14× factor holds across N=1,000 namespaces.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594360"/>
            <a:ext cx="4315968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594360"/>
            <a:ext cx="4315968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619760"/>
            <a:ext cx="4133088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Cache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868680"/>
            <a:ext cx="4133088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Key: (namespace, resource, action, uid, groups-hash) → Decision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Invalidated on any policy change (write-through invalidation)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No stale decisions possible — consistency guaranteed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TTL not needed: policy changes are the only invalidation trigger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029968"/>
            <a:ext cx="8631936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029968"/>
            <a:ext cx="36576" cy="2926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066544"/>
            <a:ext cx="8503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1A30"/>
                </a:solidFill>
                <a:latin typeface="Calibri"/>
              </a:rPr>
              <a:t>The 14× cache speedup means repeated authorization for the same subject/resource pair is essentially free.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Comparison with OPA (Backup)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6032" y="594360"/>
          <a:ext cx="8631936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383280"/>
                <a:gridCol w="3419856"/>
              </a:tblGrid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U-HAP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OPA</a:t>
                      </a:r>
                    </a:p>
                  </a:txBody>
                  <a:tcPr>
                    <a:solidFill>
                      <a:srgbClr val="0E2A4A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Policy language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Custom DSL (RBAC/ABAC/ACL unified)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Rego (general-purpose)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Evaluation model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Compiled indices + O(1) lookup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Interpreter / Rego evaluation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Multi-model support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Native (unified DAG)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Via Rego rules (manual)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Conflict resolution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Deterministic deny-override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Policy-author responsibility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Update latency n=2000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223 ms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611 ms (2.73× slower)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Post-parse n=2000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31 ms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611 ms (19.5× slower)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Memory (N=1000)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≤ 2.7 MiB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81A30"/>
                          </a:solidFill>
                          <a:latin typeface="Calibri"/>
                        </a:rPr>
                        <a:t>Not measured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>
                      <a:solidFill>
                        <a:srgbClr val="0E2A4A"/>
                      </a:solidFill>
                    </a:lnL>
                    <a:lnR w="6350" cap="flat">
                      <a:solidFill>
                        <a:srgbClr val="0E2A4A"/>
                      </a:solidFill>
                    </a:lnR>
                    <a:lnT w="6350" cap="flat">
                      <a:solidFill>
                        <a:srgbClr val="0E2A4A"/>
                      </a:solidFill>
                    </a:lnT>
                    <a:lnB w="6350" cap="flat">
                      <a:solidFill>
                        <a:srgbClr val="0E2A4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DSL Policy Format (Backup)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594360"/>
            <a:ext cx="411480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9184" y="619760"/>
            <a:ext cx="3968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DSL Example — RBAC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832104"/>
            <a:ext cx="4114800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86868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81A30"/>
                </a:solidFill>
                <a:latin typeface="Courier New"/>
              </a:rPr>
              <a:t>namespace: production
resource: pods
action: get
model: rbac
roles:
  - developer
  - senior_developer
hierarchy:
  senior_developer: [developer]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594360"/>
            <a:ext cx="4315968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619760"/>
            <a:ext cx="41696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DSL Example — ABAC Policy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832104"/>
            <a:ext cx="4315968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868680"/>
            <a:ext cx="413308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81A30"/>
                </a:solidFill>
                <a:latin typeface="Courier New"/>
              </a:rPr>
              <a:t>namespace: production
resource: pods
action: get
model: abac
condition:
  AND:
    - location: on-premise
    - time.hour: [9, 18]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295144"/>
            <a:ext cx="8631936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295144"/>
            <a:ext cx="36576" cy="2926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331720"/>
            <a:ext cx="8503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1A30"/>
                </a:solidFill>
                <a:latin typeface="Calibri"/>
              </a:rPr>
              <a:t>The DSL is compiled once at policy-change time. No DSL parsing at request time.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Implementation Details (Backup)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594360"/>
            <a:ext cx="411480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594360"/>
            <a:ext cx="411480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619760"/>
            <a:ext cx="393192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Implementation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868680"/>
            <a:ext cx="39319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Language: Python 3.11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Webhook: Flask + Gunicorn (HTTP server)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Hash consing: Python dict keyed by structural hash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Bit-vectors: Python int (arbitrary precision)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Cache: Python dict (in-process, invalidated on reload)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755648"/>
            <a:ext cx="411480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755648"/>
            <a:ext cx="4114800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781048"/>
            <a:ext cx="3931920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029968"/>
            <a:ext cx="3931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Python/Gunicorn adds ~0.5–1 ms HTTP overhead per request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No cross-namespace policy composition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No dynamic reload (restart required)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No JWT validation (authentication assumed pre-handled)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594360"/>
            <a:ext cx="4315968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594360"/>
            <a:ext cx="4315968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619760"/>
            <a:ext cx="4133088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Test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868680"/>
            <a:ext cx="41330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S1–S7: 7 correctness scenarios (all pass)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Hash consing: P1–P4 example = 8 DAG nodes (verified)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3 experiments: N=10–2000, k=5–320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100/100 equivalence checks vs. OPA (Exp3)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664208"/>
            <a:ext cx="4315968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664208"/>
            <a:ext cx="4315968" cy="237744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689608"/>
            <a:ext cx="4133088" cy="18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938528"/>
            <a:ext cx="41330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Kubernetes ValidatingWebhookConfiguration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HTTPS endpoint: /authorize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Health check: /healthz</a:t>
            </a:r>
          </a:p>
          <a:p>
            <a:pPr algn="l"/>
            <a:r>
              <a:rPr sz="800">
                <a:solidFill>
                  <a:srgbClr val="00897B"/>
                </a:solidFill>
                <a:latin typeface="Calibri"/>
              </a:rPr>
              <a:t>• </a:t>
            </a:r>
            <a:r>
              <a:rPr sz="800">
                <a:solidFill>
                  <a:srgbClr val="081A30"/>
                </a:solidFill>
                <a:latin typeface="Calibri"/>
              </a:rPr>
              <a:t>Container: standard Python image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